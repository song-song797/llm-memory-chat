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大家好，今天我汇报的项目是 LLM 加永久记忆聊天系统。这个项目的核心目标是让 AI 聊天具备跨会话的永久记忆能力，解决传统对话系统每次从零开始的问题。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本次汇报将围绕七个部分展开：从项目背景出发，依次介绍系统架构、核心记忆功能、企业级特性、数据模型设计和项目成果，最后展望未来演进方向。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来看项目背景。传统大语言模型聊天应用是无状态的，用户每次对话都需要重新提供背景信息，体验割裂且低效。我们的目标是构建一个具备跨会话永久记忆能力的对话系统，能够自动识别值得记住的信息，按项目隔离上下文，并支持多种主流模型接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在系统架构上，我们采用经典的三层架构。前端使用 React 十九加 TypeScript 构建单页应用；后端基于 Python 三点十三和 FastAPI，通过 OpenAI 兼容接口对接多种模型；数据层支持 SQLite 开发环境和 PostgreSQL 加 pgvector 生产环境，实现关系存储和向量检索的双重能力。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系统的核心——记忆系统。它支持三级作用域：全局、项目和会话级别，优先级由内到外递增。自动提取流水线会检测用户意图、通过大模型评估生成候选、过滤敏感信息并去重。每条记忆包含内容、类型、作用域、置信度和重要度等维度，并通过上下文注入策略在对话中自动生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在企业级特性方面，系统提供了四个关键能力：记忆版本追踪，通过链表结构实现完整变更历史回溯；操作审计合规，记录所有变更的前后状态和操作来源；认证安全采用 scrypt 哈希和 Bearer Token，强制用户级数据隔离；以及覆盖完整业务场景的 RESTful API 设计，包含内置 API Explorer 调试工具。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模型方面，系统共设计了十二张数据表，分为四大分组：用户系统、对话系统、记忆系统和记忆治理。实体间通过外键关联形成清晰的层级关系，记忆表同时关联向量嵌入、版本历史和审计日志，支撑完整的记忆生命周期管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总结项目成果，我们交付了十二张数据表、十三个路由模块、十三个服务模块、三十余个 API 端点、二十余个前端组件，并支持六种大语言模型接入。核心技术亮点包括记忆优先架构设计、人工审核机制、语义与时间双模式检索、全链路优雅降级，以及 SSE 流式和后台异步处理能力。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展望未来，我们将从三个方向持续演进。记忆系统方面计划引入知识图谱、时效过期和跨用户共享；多模态交互将支持图片语音、实时协作和移动端适配；平台化演进将构建插件系统、RAG 知识库、Agent 多步编排和多租户权限管理，将系统从工具升级为平台。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以上就是我今天的全部汇报内容，感谢各位的聆听，欢迎大家提问交流。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bcf9a907bf795cb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af275e5e437ed77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af275e5e437ed77.jp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b8955a08faf6e51.jp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bcf9a907bf795cb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6fe62e3f9d30d1c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b8955a08faf6e51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af275e5e437ed77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bcf9a907bf795cb.jp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bcf9a907bf795cb.jpg"/>
  <Relationship Id="rId3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4612" r="0" b="146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7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2970" y="2436495"/>
            <a:ext cx="6105811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+ 永久记忆聊天系统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" y="3234690"/>
            <a:ext cx="40302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CHAT A.I+ — 跨会话智能记忆对话系统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37147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52500" y="40957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91351" y="421100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三级记忆作用域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476500" y="40957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88860" y="42110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语义向量检索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000500" y="40957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286369" y="42110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多模型接入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5355" y="4997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项目汇报 · 2026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812" r="0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>
              <a:alpha val="82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5330" y="440055"/>
            <a:ext cx="1405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49855" y="52101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汇报目录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6280" y="1230630"/>
            <a:ext cx="51989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1854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618" y="21616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痛点分析、核心目标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3521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64795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381375" y="104775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26155" y="123063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54730" y="18545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59492" y="21616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整体架构、技术栈选型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59492" y="23521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分层设计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571875" y="264795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191250" y="104775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36030" y="123063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4605" y="185451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核心功能：记忆系统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1616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三级作用域、提取流水线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3521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候选生命周期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381750" y="264795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9001125" y="104775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145905" y="123063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74480" y="18545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79242" y="21616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版本追踪、审计合规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79242" y="23521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向量检索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191625" y="264795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32385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16280" y="34213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4855" y="40452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数据模型设计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435244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45429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实体关系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483870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381375" y="32385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526155" y="34213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54730" y="40452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项目成果总结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559492" y="43524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功能交付、代码规模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559492" y="45429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71875" y="483870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191250" y="32385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36030" y="34213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BCD4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4605" y="4045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69368" y="43524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演进方向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69368" y="45429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优化计划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381750" y="4838700"/>
            <a:ext cx="381000" cy="28575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812" r="0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7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952500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952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219200"/>
            <a:ext cx="5334000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10977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核心痛点</a:t>
            </a:r>
          </a:p>
        </p:txBody>
      </p:sp>
      <p:sp>
        <p:nvSpPr>
          <p:cNvPr id="11" name="Ellipse 11"/>
          <p:cNvSpPr/>
          <p:nvPr/>
        </p:nvSpPr>
        <p:spPr>
          <a:xfrm>
            <a:off x="809625" y="1571625"/>
            <a:ext cx="57150" cy="5715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38212" y="1526381"/>
            <a:ext cx="24963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传统 LLM 无状态，每次对话从零开始</a:t>
            </a:r>
          </a:p>
        </p:txBody>
      </p:sp>
      <p:sp>
        <p:nvSpPr>
          <p:cNvPr id="13" name="Ellipse 13"/>
          <p:cNvSpPr/>
          <p:nvPr/>
        </p:nvSpPr>
        <p:spPr>
          <a:xfrm>
            <a:off x="809625" y="1876425"/>
            <a:ext cx="57150" cy="5715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8212" y="1831181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用户反复提供相同背景信息，体验割裂</a:t>
            </a:r>
          </a:p>
        </p:txBody>
      </p:sp>
      <p:sp>
        <p:nvSpPr>
          <p:cNvPr id="15" name="Ellipse 15"/>
          <p:cNvSpPr/>
          <p:nvPr/>
        </p:nvSpPr>
        <p:spPr>
          <a:xfrm>
            <a:off x="809625" y="2181225"/>
            <a:ext cx="57150" cy="5715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2135981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无法积累用户偏好、项目上下文</a:t>
            </a:r>
          </a:p>
        </p:txBody>
      </p:sp>
      <p:sp>
        <p:nvSpPr>
          <p:cNvPr id="17" name="Ellipse 17"/>
          <p:cNvSpPr/>
          <p:nvPr/>
        </p:nvSpPr>
        <p:spPr>
          <a:xfrm>
            <a:off x="809625" y="2486025"/>
            <a:ext cx="57150" cy="5715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38212" y="2440781"/>
            <a:ext cx="29014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跨会话知识无法沉淀，AI 无法「了解」用户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952500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952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1219200"/>
            <a:ext cx="533400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62712" y="10977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项目目标</a:t>
            </a:r>
          </a:p>
        </p:txBody>
      </p:sp>
      <p:sp>
        <p:nvSpPr>
          <p:cNvPr id="23" name="Ellipse 23"/>
          <p:cNvSpPr/>
          <p:nvPr/>
        </p:nvSpPr>
        <p:spPr>
          <a:xfrm>
            <a:off x="6524625" y="1571625"/>
            <a:ext cx="57150" cy="5715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53212" y="1526381"/>
            <a:ext cx="27964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构建跨会话永久记忆能力的 LLM 对话系统</a:t>
            </a:r>
          </a:p>
        </p:txBody>
      </p:sp>
      <p:sp>
        <p:nvSpPr>
          <p:cNvPr id="25" name="Ellipse 25"/>
          <p:cNvSpPr/>
          <p:nvPr/>
        </p:nvSpPr>
        <p:spPr>
          <a:xfrm>
            <a:off x="6524625" y="1876425"/>
            <a:ext cx="57150" cy="5715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53212" y="183118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跨对话记住用户偏好和习惯</a:t>
            </a:r>
          </a:p>
        </p:txBody>
      </p:sp>
      <p:sp>
        <p:nvSpPr>
          <p:cNvPr id="27" name="Ellipse 27"/>
          <p:cNvSpPr/>
          <p:nvPr/>
        </p:nvSpPr>
        <p:spPr>
          <a:xfrm>
            <a:off x="6524625" y="2181225"/>
            <a:ext cx="57150" cy="5715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53212" y="2135981"/>
            <a:ext cx="2728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按项目组织对话和记忆，隔离工作上下文</a:t>
            </a:r>
          </a:p>
        </p:txBody>
      </p:sp>
      <p:sp>
        <p:nvSpPr>
          <p:cNvPr id="29" name="Ellipse 29"/>
          <p:cNvSpPr/>
          <p:nvPr/>
        </p:nvSpPr>
        <p:spPr>
          <a:xfrm>
            <a:off x="6524625" y="2486025"/>
            <a:ext cx="57150" cy="5715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53212" y="2440781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自动识别值得记住的信息，经确认后持久化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810000"/>
            <a:ext cx="11049000" cy="1524000"/>
          </a:xfrm>
          <a:prstGeom prst="roundRect">
            <a:avLst>
              <a:gd name="adj" fmla="val 75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71500" y="3810000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4076700"/>
            <a:ext cx="11049000" cy="114300"/>
          </a:xfrm>
          <a:prstGeom prst="rect">
            <a:avLst/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7712" y="39552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7712" y="4374356"/>
            <a:ext cx="3824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面向对象：</a:t>
            </a:r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个人开发者和小型技术团队的知识型对话助手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7712" y="4641056"/>
            <a:ext cx="4274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适用场景：</a:t>
            </a:r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长期项目上下文维护、技术决策记录、个人偏好管理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7712" y="4907756"/>
            <a:ext cx="43566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多模型接入：</a:t>
            </a:r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Qwen / Kimi / MiniMax / GLM，适配不同推理需求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6534" r="0" b="65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8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11049000" cy="1238250"/>
          </a:xfrm>
          <a:prstGeom prst="roundRect">
            <a:avLst>
              <a:gd name="adj" fmla="val 769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11049000" cy="342900"/>
          </a:xfrm>
          <a:prstGeom prst="roundRect">
            <a:avLst>
              <a:gd name="adj" fmla="val 27778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085850"/>
            <a:ext cx="1104900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8665" y="991552"/>
            <a:ext cx="12836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前端层 · Frontend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333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39270" y="1505902"/>
            <a:ext cx="15409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React 19 + TypeScript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0247" y="1712595"/>
            <a:ext cx="1199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Vite 8 · Ant Design 6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048000" y="1333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200305" y="1505902"/>
            <a:ext cx="17908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react-markdown + KaTeX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38252" y="1712595"/>
            <a:ext cx="1114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Markdown 渲染引擎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334000" y="1333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86930" y="1505902"/>
            <a:ext cx="9896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Shiki 代码高亮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50267" y="1712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多语言语法着色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0" y="1333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17035" y="1505902"/>
            <a:ext cx="9014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SSE 实时流式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77248" y="1712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Server-Sent Events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286000"/>
            <a:ext cx="11049000" cy="1238250"/>
          </a:xfrm>
          <a:prstGeom prst="roundRect">
            <a:avLst>
              <a:gd name="adj" fmla="val 769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2286000"/>
            <a:ext cx="11049000" cy="342900"/>
          </a:xfrm>
          <a:prstGeom prst="roundRect">
            <a:avLst>
              <a:gd name="adj" fmla="val 27778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2514600"/>
            <a:ext cx="11049000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8665" y="24203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后端层 · Backend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2762250"/>
            <a:ext cx="2476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229770" y="2934652"/>
            <a:ext cx="15409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Python 3.13 + FastAPI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1772" y="3141345"/>
            <a:ext cx="7969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异步 Web 框架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429000" y="2762250"/>
            <a:ext cx="2476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49752" y="2934652"/>
            <a:ext cx="18349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SQLAlchemy 2.0 + Alembic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63758" y="3141345"/>
            <a:ext cx="1006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ORM · 数据库迁移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0" y="2762250"/>
            <a:ext cx="2476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69596" y="2934652"/>
            <a:ext cx="11293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OpenAI 兼容 SDK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35772" y="3141345"/>
            <a:ext cx="7969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统一 LLM 接入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763000" y="2762250"/>
            <a:ext cx="26670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241485" y="2934652"/>
            <a:ext cx="1710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 路由模块 · 13 服务模块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45040" y="31413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分层架构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3714750"/>
            <a:ext cx="11049000" cy="1238250"/>
          </a:xfrm>
          <a:prstGeom prst="roundRect">
            <a:avLst>
              <a:gd name="adj" fmla="val 769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714750"/>
            <a:ext cx="11049000" cy="342900"/>
          </a:xfrm>
          <a:prstGeom prst="roundRect">
            <a:avLst>
              <a:gd name="adj" fmla="val 27778"/>
            </a:avLst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71500" y="3943350"/>
            <a:ext cx="11049000" cy="114300"/>
          </a:xfrm>
          <a:prstGeom prst="rect">
            <a:avLst/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48665" y="3849052"/>
            <a:ext cx="960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数据层 · Data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62000" y="4191000"/>
            <a:ext cx="2476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523807" y="4363402"/>
            <a:ext cx="952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SQLite (Dev)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99759" y="4570095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开发环境 · 零配置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429000" y="4191000"/>
            <a:ext cx="2476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826937" y="4363402"/>
            <a:ext cx="16806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PostgreSQL + pgvector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106751" y="4570095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生产环境 · 向量检索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4191000"/>
            <a:ext cx="24765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934992" y="4363402"/>
            <a:ext cx="7985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1536 维向量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62775" y="457009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语义嵌入维度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763000" y="4191000"/>
            <a:ext cx="2667000" cy="619125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704593" y="436340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725025" y="457009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完整数据模型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5191125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000000">
              <a:alpha val="25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845433" y="53554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请求流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696492" y="5649278"/>
            <a:ext cx="27990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SPA → API 路由层 → 业务服务层 → 数据访问层</a:t>
            </a:r>
          </a:p>
        </p:txBody>
      </p:sp>
      <p:sp>
        <p:nvSpPr>
          <p:cNvPr id="58" name="Rectangle 5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4612" r="0" b="146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7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核心功能：记忆系统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09625"/>
            <a:ext cx="3524250" cy="1095375"/>
          </a:xfrm>
          <a:prstGeom prst="roundRect">
            <a:avLst>
              <a:gd name="adj" fmla="val 8696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09625"/>
            <a:ext cx="3524250" cy="304800"/>
          </a:xfrm>
          <a:prstGeom prst="roundRect">
            <a:avLst>
              <a:gd name="adj" fmla="val 31250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000125"/>
            <a:ext cx="352425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9618" y="9234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三级作用域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42950" y="12192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25163" y="1285875"/>
            <a:ext cx="6261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Global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7731" y="1568291"/>
            <a:ext cx="681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跨项目 ≤ 4 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38325" y="12192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936528" y="1285875"/>
            <a:ext cx="794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Project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93106" y="1568291"/>
            <a:ext cx="681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项目级 ≤ 6 条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933700" y="12192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071612" y="1302068"/>
            <a:ext cx="7147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Session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88481" y="1568291"/>
            <a:ext cx="681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会话级 ≤ 6 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33875" y="809625"/>
            <a:ext cx="7286625" cy="1095375"/>
          </a:xfrm>
          <a:prstGeom prst="roundRect">
            <a:avLst>
              <a:gd name="adj" fmla="val 8696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333875" y="809625"/>
            <a:ext cx="7286625" cy="304800"/>
          </a:xfrm>
          <a:prstGeom prst="roundRect">
            <a:avLst>
              <a:gd name="adj" fmla="val 31250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1000125"/>
            <a:ext cx="7286625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1992" y="9234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记忆提取流水线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24375" y="1238250"/>
            <a:ext cx="123825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858083" y="13520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检测意图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02981" y="1558766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用户消息分析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40730" y="13782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00750" y="1238250"/>
            <a:ext cx="123825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324220" y="1352074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评估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89370" y="15587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智能判断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7105" y="13782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477125" y="1238250"/>
            <a:ext cx="123825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694794" y="1352074"/>
            <a:ext cx="8029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结构化 JSON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65745" y="15587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标准输出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93480" y="13782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953500" y="1238250"/>
            <a:ext cx="123825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287208" y="13520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敏感过滤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42120" y="15587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隐私保护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69855" y="13782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0429875" y="1238250"/>
            <a:ext cx="1000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776275" y="1352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去重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39663" y="15587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相似度检查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2047875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2047875"/>
            <a:ext cx="5334000" cy="304800"/>
          </a:xfrm>
          <a:prstGeom prst="roundRect">
            <a:avLst>
              <a:gd name="adj" fmla="val 31250"/>
            </a:avLst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71500" y="2238375"/>
            <a:ext cx="5334000" cy="114300"/>
          </a:xfrm>
          <a:prstGeom prst="rect">
            <a:avLst/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49618" y="21616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候选生命周期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62000" y="2495550"/>
            <a:ext cx="15240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238583" y="26093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高置信度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73468" y="2816066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内联卡片直接展示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476500" y="2495550"/>
            <a:ext cx="15240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953083" y="26093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普通候选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842974" y="28160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待用户审核确认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191000" y="2495550"/>
            <a:ext cx="15240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599325" y="260937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会话级记忆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667488" y="2816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E676"/>
                </a:solidFill>
                <a:latin typeface="Arial"/>
                <a:ea typeface="Microsoft YaHei"/>
                <a:cs typeface="Arial"/>
              </a:rPr>
              <a:t>可自动接受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9618" y="318087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记忆分类：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11618" y="3180874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fact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892618" y="3180874"/>
            <a:ext cx="63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083118" y="3180874"/>
            <a:ext cx="7398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preference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845118" y="3180874"/>
            <a:ext cx="63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035618" y="3180874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project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07118" y="3180874"/>
            <a:ext cx="63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797618" y="3180874"/>
            <a:ext cx="2782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tool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83368" y="3180874"/>
            <a:ext cx="63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273868" y="3180874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decision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50570" y="3522345"/>
            <a:ext cx="31312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Human-in-the-loop: 用户确认后才持久化，保证记忆质量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096000" y="2047875"/>
            <a:ext cx="5524500" cy="1905000"/>
          </a:xfrm>
          <a:prstGeom prst="roundRect">
            <a:avLst>
              <a:gd name="adj" fmla="val 5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6096000" y="2047875"/>
            <a:ext cx="5524500" cy="304800"/>
          </a:xfrm>
          <a:prstGeom prst="roundRect">
            <a:avLst>
              <a:gd name="adj" fmla="val 31250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6096000" y="2238375"/>
            <a:ext cx="552450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274118" y="216169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上下文注入策略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86500" y="2495550"/>
            <a:ext cx="24765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7102816" y="25807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系统消息注入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931200" y="2806541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System Prompt 记忆段</a:t>
            </a:r>
          </a:p>
        </p:txBody>
      </p:sp>
      <p:sp>
        <p:nvSpPr>
          <p:cNvPr id="74" name="Rectangle 74"/>
          <p:cNvSpPr/>
          <p:nvPr/>
        </p:nvSpPr>
        <p:spPr>
          <a:xfrm>
            <a:off x="8953500" y="2495550"/>
            <a:ext cx="24765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9769816" y="25807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优先记忆文档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37692" y="2806541"/>
            <a:ext cx="13081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memory_documents 检索</a:t>
            </a:r>
          </a:p>
        </p:txBody>
      </p:sp>
      <p:sp>
        <p:nvSpPr>
          <p:cNvPr id="77" name="Rectangle 77"/>
          <p:cNvSpPr/>
          <p:nvPr/>
        </p:nvSpPr>
        <p:spPr>
          <a:xfrm>
            <a:off x="6286500" y="3190875"/>
            <a:ext cx="24765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7003841" y="3276124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pgvector Top-K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129224" y="35018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语义相似度检索</a:t>
            </a:r>
          </a:p>
        </p:txBody>
      </p:sp>
      <p:sp>
        <p:nvSpPr>
          <p:cNvPr id="80" name="Rectangle 80"/>
          <p:cNvSpPr/>
          <p:nvPr/>
        </p:nvSpPr>
        <p:spPr>
          <a:xfrm>
            <a:off x="8953500" y="3190875"/>
            <a:ext cx="2476500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664016" y="3276124"/>
            <a:ext cx="1055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SQLite 时间排序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851231" y="3501866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最近访问优先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4143375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000000">
              <a:alpha val="25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3898392" y="4287202"/>
            <a:ext cx="4395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记忆优先架构</a:t>
            </a:r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— </a:t>
            </a:r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每次对话自动注入相关记忆，让 AI 真正「了解」用户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524375" y="4512945"/>
            <a:ext cx="31432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全链路优雅降级：向量服务不可用时自动回退到关键词检索</a:t>
            </a:r>
          </a:p>
        </p:txBody>
      </p:sp>
      <p:sp>
        <p:nvSpPr>
          <p:cNvPr id="86" name="Rectangle 8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833" r="0" b="78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82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5334000" cy="361950"/>
          </a:xfrm>
          <a:prstGeom prst="roundRect">
            <a:avLst>
              <a:gd name="adj" fmla="val 31579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04900"/>
            <a:ext cx="533400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42950" y="91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00012" y="42862"/>
                </a:moveTo>
                <a:lnTo>
                  <a:pt x="100012" y="120218"/>
                </a:lnTo>
                <a:lnTo>
                  <a:pt x="147060" y="167265"/>
                </a:lnTo>
                <a:lnTo>
                  <a:pt x="167265" y="147060"/>
                </a:lnTo>
                <a:lnTo>
                  <a:pt x="128588" y="108382"/>
                </a:lnTo>
                <a:lnTo>
                  <a:pt x="128588" y="42862"/>
                </a:lnTo>
                <a:lnTo>
                  <a:pt x="100012" y="428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52512" y="9644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版本追踪</a:t>
            </a:r>
          </a:p>
        </p:txBody>
      </p:sp>
      <p:sp>
        <p:nvSpPr>
          <p:cNvPr id="12" name="Ellipse 12"/>
          <p:cNvSpPr/>
          <p:nvPr/>
        </p:nvSpPr>
        <p:spPr>
          <a:xfrm>
            <a:off x="800100" y="1438275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57262" y="1402556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链表快照：每次修改生成独立版本快照</a:t>
            </a:r>
          </a:p>
        </p:txBody>
      </p:sp>
      <p:sp>
        <p:nvSpPr>
          <p:cNvPr id="14" name="Ellipse 14"/>
          <p:cNvSpPr/>
          <p:nvPr/>
        </p:nvSpPr>
        <p:spPr>
          <a:xfrm>
            <a:off x="800100" y="1771650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57262" y="1735931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版本号递增：自动维护版本序号链</a:t>
            </a:r>
          </a:p>
        </p:txBody>
      </p:sp>
      <p:sp>
        <p:nvSpPr>
          <p:cNvPr id="16" name="Ellipse 16"/>
          <p:cNvSpPr/>
          <p:nvPr/>
        </p:nvSpPr>
        <p:spPr>
          <a:xfrm>
            <a:off x="800100" y="2105025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57262" y="206930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完整回溯：任意版本间切换和对比</a:t>
            </a:r>
          </a:p>
        </p:txBody>
      </p:sp>
      <p:sp>
        <p:nvSpPr>
          <p:cNvPr id="18" name="Ellipse 18"/>
          <p:cNvSpPr/>
          <p:nvPr/>
        </p:nvSpPr>
        <p:spPr>
          <a:xfrm>
            <a:off x="800100" y="2438400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57262" y="2402681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变更前后状态完整记录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857250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857250"/>
            <a:ext cx="5334000" cy="361950"/>
          </a:xfrm>
          <a:prstGeom prst="roundRect">
            <a:avLst>
              <a:gd name="adj" fmla="val 31579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86500" y="1104900"/>
            <a:ext cx="5334000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472238" y="914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2" y="228600"/>
                </a:moveTo>
                <a:lnTo>
                  <a:pt x="47864" y="191351"/>
                </a:lnTo>
                <a:cubicBezTo>
                  <a:pt x="17827" y="169896"/>
                  <a:pt x="0" y="135255"/>
                  <a:pt x="0" y="98342"/>
                </a:cubicBezTo>
                <a:lnTo>
                  <a:pt x="0" y="42862"/>
                </a:lnTo>
                <a:lnTo>
                  <a:pt x="100012" y="0"/>
                </a:lnTo>
                <a:lnTo>
                  <a:pt x="200025" y="42862"/>
                </a:lnTo>
                <a:lnTo>
                  <a:pt x="200025" y="98342"/>
                </a:lnTo>
                <a:cubicBezTo>
                  <a:pt x="200025" y="135255"/>
                  <a:pt x="182198" y="169896"/>
                  <a:pt x="152160" y="191351"/>
                </a:cubicBezTo>
                <a:lnTo>
                  <a:pt x="100012" y="228600"/>
                </a:lnTo>
                <a:close/>
                <a:moveTo>
                  <a:pt x="160121" y="81540"/>
                </a:moveTo>
                <a:lnTo>
                  <a:pt x="139916" y="61335"/>
                </a:lnTo>
                <a:lnTo>
                  <a:pt x="85725" y="115526"/>
                </a:lnTo>
                <a:lnTo>
                  <a:pt x="60109" y="89910"/>
                </a:lnTo>
                <a:lnTo>
                  <a:pt x="39903" y="110115"/>
                </a:lnTo>
                <a:lnTo>
                  <a:pt x="85725" y="155937"/>
                </a:lnTo>
                <a:lnTo>
                  <a:pt x="160121" y="8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67512" y="9644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审计合规</a:t>
            </a:r>
          </a:p>
        </p:txBody>
      </p:sp>
      <p:sp>
        <p:nvSpPr>
          <p:cNvPr id="25" name="Ellipse 25"/>
          <p:cNvSpPr/>
          <p:nvPr/>
        </p:nvSpPr>
        <p:spPr>
          <a:xfrm>
            <a:off x="6515100" y="1438275"/>
            <a:ext cx="76200" cy="76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72262" y="140255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变更前后状态完整记录</a:t>
            </a:r>
          </a:p>
        </p:txBody>
      </p:sp>
      <p:sp>
        <p:nvSpPr>
          <p:cNvPr id="27" name="Ellipse 27"/>
          <p:cNvSpPr/>
          <p:nvPr/>
        </p:nvSpPr>
        <p:spPr>
          <a:xfrm>
            <a:off x="6515100" y="1771650"/>
            <a:ext cx="76200" cy="76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72262" y="1735931"/>
            <a:ext cx="23838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操作来源区分（用户 / 系统 / API）</a:t>
            </a:r>
          </a:p>
        </p:txBody>
      </p:sp>
      <p:sp>
        <p:nvSpPr>
          <p:cNvPr id="29" name="Ellipse 29"/>
          <p:cNvSpPr/>
          <p:nvPr/>
        </p:nvSpPr>
        <p:spPr>
          <a:xfrm>
            <a:off x="6515100" y="2105025"/>
            <a:ext cx="76200" cy="76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72262" y="2069306"/>
            <a:ext cx="15962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IP + 请求 ID 全链路追踪</a:t>
            </a:r>
          </a:p>
        </p:txBody>
      </p:sp>
      <p:sp>
        <p:nvSpPr>
          <p:cNvPr id="31" name="Ellipse 31"/>
          <p:cNvSpPr/>
          <p:nvPr/>
        </p:nvSpPr>
        <p:spPr>
          <a:xfrm>
            <a:off x="6515100" y="2438400"/>
            <a:ext cx="76200" cy="76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72262" y="2402681"/>
            <a:ext cx="20613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memory_audit_logs 不可篡改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67125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71500" y="3667125"/>
            <a:ext cx="5334000" cy="361950"/>
          </a:xfrm>
          <a:prstGeom prst="roundRect">
            <a:avLst>
              <a:gd name="adj" fmla="val 31579"/>
            </a:avLst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3914775"/>
            <a:ext cx="5334000" cy="114300"/>
          </a:xfrm>
          <a:prstGeom prst="rect">
            <a:avLst/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771525" y="37242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85725"/>
                </a:moveTo>
                <a:lnTo>
                  <a:pt x="28575" y="57150"/>
                </a:lnTo>
                <a:cubicBezTo>
                  <a:pt x="28575" y="25587"/>
                  <a:pt x="54162" y="0"/>
                  <a:pt x="85725" y="0"/>
                </a:cubicBezTo>
                <a:cubicBezTo>
                  <a:pt x="117288" y="0"/>
                  <a:pt x="142875" y="25587"/>
                  <a:pt x="142875" y="57150"/>
                </a:cubicBezTo>
                <a:lnTo>
                  <a:pt x="142875" y="85725"/>
                </a:lnTo>
                <a:lnTo>
                  <a:pt x="171450" y="85725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85725"/>
                </a:lnTo>
                <a:lnTo>
                  <a:pt x="28575" y="85725"/>
                </a:lnTo>
                <a:close/>
                <a:moveTo>
                  <a:pt x="57150" y="57150"/>
                </a:moveTo>
                <a:cubicBezTo>
                  <a:pt x="57150" y="41368"/>
                  <a:pt x="69943" y="28575"/>
                  <a:pt x="85725" y="28575"/>
                </a:cubicBezTo>
                <a:cubicBezTo>
                  <a:pt x="101507" y="28575"/>
                  <a:pt x="114300" y="41368"/>
                  <a:pt x="114300" y="57150"/>
                </a:cubicBezTo>
                <a:lnTo>
                  <a:pt x="114300" y="85725"/>
                </a:lnTo>
                <a:lnTo>
                  <a:pt x="57150" y="85725"/>
                </a:lnTo>
                <a:lnTo>
                  <a:pt x="57150" y="57150"/>
                </a:lnTo>
                <a:close/>
                <a:moveTo>
                  <a:pt x="71438" y="185738"/>
                </a:moveTo>
                <a:lnTo>
                  <a:pt x="71438" y="128588"/>
                </a:lnTo>
                <a:lnTo>
                  <a:pt x="100012" y="128588"/>
                </a:lnTo>
                <a:lnTo>
                  <a:pt x="100012" y="185738"/>
                </a:lnTo>
                <a:lnTo>
                  <a:pt x="71438" y="1857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52512" y="37742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认证安全</a:t>
            </a:r>
          </a:p>
        </p:txBody>
      </p:sp>
      <p:sp>
        <p:nvSpPr>
          <p:cNvPr id="38" name="Ellipse 38"/>
          <p:cNvSpPr/>
          <p:nvPr/>
        </p:nvSpPr>
        <p:spPr>
          <a:xfrm>
            <a:off x="800100" y="4248150"/>
            <a:ext cx="76200" cy="76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7262" y="4212431"/>
            <a:ext cx="2068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scrypt 密码哈希，抗暴力破解</a:t>
            </a:r>
          </a:p>
        </p:txBody>
      </p:sp>
      <p:sp>
        <p:nvSpPr>
          <p:cNvPr id="40" name="Ellipse 40"/>
          <p:cNvSpPr/>
          <p:nvPr/>
        </p:nvSpPr>
        <p:spPr>
          <a:xfrm>
            <a:off x="800100" y="4581525"/>
            <a:ext cx="76200" cy="76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57262" y="4545806"/>
            <a:ext cx="17762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Bearer Token 无状态认证</a:t>
            </a:r>
          </a:p>
        </p:txBody>
      </p:sp>
      <p:sp>
        <p:nvSpPr>
          <p:cNvPr id="42" name="Ellipse 42"/>
          <p:cNvSpPr/>
          <p:nvPr/>
        </p:nvSpPr>
        <p:spPr>
          <a:xfrm>
            <a:off x="800100" y="4914900"/>
            <a:ext cx="76200" cy="76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57262" y="4879181"/>
            <a:ext cx="22638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user_id 强制隔离，数据越权防护</a:t>
            </a:r>
          </a:p>
        </p:txBody>
      </p:sp>
      <p:sp>
        <p:nvSpPr>
          <p:cNvPr id="44" name="Ellipse 44"/>
          <p:cNvSpPr/>
          <p:nvPr/>
        </p:nvSpPr>
        <p:spPr>
          <a:xfrm>
            <a:off x="800100" y="5248275"/>
            <a:ext cx="76200" cy="762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57262" y="5212556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文件上传类型 + 大小双重限制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286500" y="3667125"/>
            <a:ext cx="5334000" cy="2571750"/>
          </a:xfrm>
          <a:prstGeom prst="roundRect">
            <a:avLst>
              <a:gd name="adj" fmla="val 444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286500" y="3667125"/>
            <a:ext cx="5334000" cy="361950"/>
          </a:xfrm>
          <a:prstGeom prst="roundRect">
            <a:avLst>
              <a:gd name="adj" fmla="val 31579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6286500" y="3914775"/>
            <a:ext cx="533400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72238" y="37242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0"/>
                </a:moveTo>
                <a:lnTo>
                  <a:pt x="71438" y="57150"/>
                </a:lnTo>
                <a:lnTo>
                  <a:pt x="128588" y="57150"/>
                </a:lnTo>
                <a:lnTo>
                  <a:pt x="128588" y="0"/>
                </a:lnTo>
                <a:lnTo>
                  <a:pt x="157162" y="0"/>
                </a:lnTo>
                <a:lnTo>
                  <a:pt x="157162" y="57150"/>
                </a:lnTo>
                <a:lnTo>
                  <a:pt x="200025" y="57150"/>
                </a:lnTo>
                <a:lnTo>
                  <a:pt x="200025" y="85725"/>
                </a:lnTo>
                <a:lnTo>
                  <a:pt x="171450" y="85725"/>
                </a:lnTo>
                <a:lnTo>
                  <a:pt x="171450" y="114300"/>
                </a:lnTo>
                <a:cubicBezTo>
                  <a:pt x="171450" y="148861"/>
                  <a:pt x="146907" y="177689"/>
                  <a:pt x="114300" y="184309"/>
                </a:cubicBezTo>
                <a:lnTo>
                  <a:pt x="114300" y="228600"/>
                </a:lnTo>
                <a:lnTo>
                  <a:pt x="85725" y="228600"/>
                </a:lnTo>
                <a:lnTo>
                  <a:pt x="85725" y="184309"/>
                </a:lnTo>
                <a:cubicBezTo>
                  <a:pt x="53117" y="177689"/>
                  <a:pt x="28575" y="148861"/>
                  <a:pt x="28575" y="114300"/>
                </a:cubicBezTo>
                <a:lnTo>
                  <a:pt x="28575" y="85725"/>
                </a:lnTo>
                <a:lnTo>
                  <a:pt x="0" y="85725"/>
                </a:lnTo>
                <a:lnTo>
                  <a:pt x="0" y="57150"/>
                </a:lnTo>
                <a:lnTo>
                  <a:pt x="42862" y="57150"/>
                </a:lnTo>
                <a:lnTo>
                  <a:pt x="42862" y="0"/>
                </a:lnTo>
                <a:lnTo>
                  <a:pt x="714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67512" y="3774281"/>
            <a:ext cx="8634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RESTful API</a:t>
            </a:r>
          </a:p>
        </p:txBody>
      </p:sp>
      <p:sp>
        <p:nvSpPr>
          <p:cNvPr id="51" name="Ellipse 51"/>
          <p:cNvSpPr/>
          <p:nvPr/>
        </p:nvSpPr>
        <p:spPr>
          <a:xfrm>
            <a:off x="6515100" y="4248150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72262" y="4212431"/>
            <a:ext cx="18738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 路由模块，V1 开发者端点</a:t>
            </a:r>
          </a:p>
        </p:txBody>
      </p:sp>
      <p:sp>
        <p:nvSpPr>
          <p:cNvPr id="53" name="Ellipse 53"/>
          <p:cNvSpPr/>
          <p:nvPr/>
        </p:nvSpPr>
        <p:spPr>
          <a:xfrm>
            <a:off x="6515100" y="4581525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72262" y="4545806"/>
            <a:ext cx="19938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SSE 流式 + 非流式双模式响应</a:t>
            </a:r>
          </a:p>
        </p:txBody>
      </p:sp>
      <p:sp>
        <p:nvSpPr>
          <p:cNvPr id="55" name="Ellipse 55"/>
          <p:cNvSpPr/>
          <p:nvPr/>
        </p:nvSpPr>
        <p:spPr>
          <a:xfrm>
            <a:off x="6515100" y="4914900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72262" y="4879181"/>
            <a:ext cx="17012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API Explorer 交互式文档</a:t>
            </a:r>
          </a:p>
        </p:txBody>
      </p:sp>
      <p:sp>
        <p:nvSpPr>
          <p:cNvPr id="57" name="Ellipse 57"/>
          <p:cNvSpPr/>
          <p:nvPr/>
        </p:nvSpPr>
        <p:spPr>
          <a:xfrm>
            <a:off x="6515100" y="5248275"/>
            <a:ext cx="76200" cy="76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672262" y="5212556"/>
            <a:ext cx="18212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30+ 端点覆盖完整业务场景</a:t>
            </a:r>
          </a:p>
        </p:txBody>
      </p:sp>
      <p:sp>
        <p:nvSpPr>
          <p:cNvPr id="59" name="Rectangle 5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6534" r="0" b="65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>
              <a:alpha val="8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数据模型设计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4667250" y="95250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92119" y="1111568"/>
            <a:ext cx="10077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1428750"/>
            <a:ext cx="3905250" cy="476250"/>
          </a:xfrm>
          <a:custGeom>
            <a:avLst/>
            <a:gdLst/>
            <a:ahLst/>
            <a:cxnLst/>
            <a:rect l="l" t="t" r="r" b="b"/>
            <a:pathLst>
              <a:path w="3905250" h="476250">
                <a:moveTo>
                  <a:pt x="390525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00BCD4">
                <a:alpha val="6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142875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FF6F00">
                <a:alpha val="6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6096000" y="1428750"/>
            <a:ext cx="2476500" cy="476250"/>
          </a:xfrm>
          <a:custGeom>
            <a:avLst/>
            <a:gdLst/>
            <a:ahLst/>
            <a:cxnLst/>
            <a:rect l="l" t="t" r="r" b="b"/>
            <a:pathLst>
              <a:path w="2476500" h="476250">
                <a:moveTo>
                  <a:pt x="0" y="0"/>
                </a:moveTo>
                <a:lnTo>
                  <a:pt x="2476500" y="476250"/>
                </a:lnTo>
              </a:path>
            </a:pathLst>
          </a:custGeom>
          <a:noFill/>
          <a:ln w="19050">
            <a:solidFill>
              <a:srgbClr val="1A237E">
                <a:alpha val="60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905000"/>
            <a:ext cx="3238500" cy="1905000"/>
          </a:xfrm>
          <a:prstGeom prst="roundRect">
            <a:avLst>
              <a:gd name="adj" fmla="val 5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1905000"/>
            <a:ext cx="3238500" cy="342900"/>
          </a:xfrm>
          <a:prstGeom prst="roundRect">
            <a:avLst>
              <a:gd name="adj" fmla="val 27778"/>
            </a:avLst>
          </a:prstGeom>
          <a:solidFill>
            <a:srgbClr val="00BCD4">
              <a:alpha val="85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133600"/>
            <a:ext cx="3238500" cy="114300"/>
          </a:xfrm>
          <a:prstGeom prst="rect">
            <a:avLst/>
          </a:prstGeom>
          <a:solidFill>
            <a:srgbClr val="00BCD4">
              <a:alpha val="8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8665" y="20393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用户系统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42950" y="2400300"/>
            <a:ext cx="1381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3265" y="2506028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users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3252" y="2720816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用户表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257425" y="2400300"/>
            <a:ext cx="1381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422677" y="2506028"/>
            <a:ext cx="1041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user_sessions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7727" y="2720816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会话表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504950" y="3095625"/>
            <a:ext cx="1381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872352" y="3201352"/>
            <a:ext cx="636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projects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15252" y="341614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项目表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000500" y="1905000"/>
            <a:ext cx="3238500" cy="1905000"/>
          </a:xfrm>
          <a:prstGeom prst="roundRect">
            <a:avLst>
              <a:gd name="adj" fmla="val 5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000500" y="1905000"/>
            <a:ext cx="3238500" cy="342900"/>
          </a:xfrm>
          <a:prstGeom prst="roundRect">
            <a:avLst>
              <a:gd name="adj" fmla="val 27778"/>
            </a:avLst>
          </a:prstGeom>
          <a:solidFill>
            <a:srgbClr val="FF6F00">
              <a:alpha val="85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000500" y="2133600"/>
            <a:ext cx="3238500" cy="114300"/>
          </a:xfrm>
          <a:prstGeom prst="rect">
            <a:avLst/>
          </a:prstGeom>
          <a:solidFill>
            <a:srgbClr val="FF6F00">
              <a:alpha val="8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177665" y="20393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对话系统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71950" y="2400300"/>
            <a:ext cx="1381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374384" y="2514124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conversations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82252" y="2720816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对话表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86425" y="2400300"/>
            <a:ext cx="1381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020748" y="2506028"/>
            <a:ext cx="702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messages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196727" y="2720816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消息表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933950" y="3095625"/>
            <a:ext cx="1381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46983" y="3201352"/>
            <a:ext cx="9455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attachments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44252" y="3416141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附件表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09575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571500" y="4095750"/>
            <a:ext cx="3524250" cy="342900"/>
          </a:xfrm>
          <a:prstGeom prst="roundRect">
            <a:avLst>
              <a:gd name="adj" fmla="val 27778"/>
            </a:avLst>
          </a:prstGeom>
          <a:solidFill>
            <a:srgbClr val="00BCD4">
              <a:alpha val="85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4324350"/>
            <a:ext cx="3524250" cy="114300"/>
          </a:xfrm>
          <a:prstGeom prst="rect">
            <a:avLst/>
          </a:prstGeom>
          <a:solidFill>
            <a:srgbClr val="00BCD4">
              <a:alpha val="8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8665" y="42300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记忆系统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42950" y="4591050"/>
            <a:ext cx="1000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90448" y="4696778"/>
            <a:ext cx="6956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62752" y="4911566"/>
            <a:ext cx="350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记忆表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838325" y="4591050"/>
            <a:ext cx="109537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102037" y="4712970"/>
            <a:ext cx="5584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memory_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081986" y="4911566"/>
            <a:ext cx="5985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candidates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028950" y="4591050"/>
            <a:ext cx="90487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197412" y="4712970"/>
            <a:ext cx="5584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memory_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182862" y="4911566"/>
            <a:ext cx="5875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documents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381500" y="4095750"/>
            <a:ext cx="3619500" cy="1905000"/>
          </a:xfrm>
          <a:prstGeom prst="roundRect">
            <a:avLst>
              <a:gd name="adj" fmla="val 5000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4381500" y="4095750"/>
            <a:ext cx="3619500" cy="342900"/>
          </a:xfrm>
          <a:prstGeom prst="roundRect">
            <a:avLst>
              <a:gd name="adj" fmla="val 27778"/>
            </a:avLst>
          </a:prstGeom>
          <a:solidFill>
            <a:srgbClr val="1A237E">
              <a:alpha val="85000"/>
            </a:srgbClr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4381500" y="4324350"/>
            <a:ext cx="3619500" cy="114300"/>
          </a:xfrm>
          <a:prstGeom prst="rect">
            <a:avLst/>
          </a:prstGeom>
          <a:solidFill>
            <a:srgbClr val="1A237E">
              <a:alpha val="85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558665" y="42300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记忆治理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552950" y="4591050"/>
            <a:ext cx="1000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769037" y="4712970"/>
            <a:ext cx="5584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memory_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792992" y="4911566"/>
            <a:ext cx="5105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histories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648325" y="4591050"/>
            <a:ext cx="109537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5912037" y="4712970"/>
            <a:ext cx="5584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memory_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905738" y="49115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audit_logs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838950" y="4591050"/>
            <a:ext cx="1000125" cy="523875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7055037" y="4712970"/>
            <a:ext cx="5584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memory_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23985" y="4911566"/>
            <a:ext cx="6205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embeddings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286750" y="1905000"/>
            <a:ext cx="3333750" cy="4095750"/>
          </a:xfrm>
          <a:prstGeom prst="roundRect">
            <a:avLst>
              <a:gd name="adj" fmla="val 2857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8286750" y="1905000"/>
            <a:ext cx="3333750" cy="342900"/>
          </a:xfrm>
          <a:prstGeom prst="roundRect">
            <a:avLst>
              <a:gd name="adj" fmla="val 27778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8286750" y="2133600"/>
            <a:ext cx="3333750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463915" y="20393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核心关系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64868" y="2447449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用户 → 对话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64868" y="2656999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users.id → conversations.user_id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464868" y="2961799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对话 → 消息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464868" y="3171349"/>
            <a:ext cx="2391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conversations.id → messages.conv_id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464868" y="3476149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记忆 → 向量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64868" y="3685699"/>
            <a:ext cx="22090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memories.id → memory_embeddings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464868" y="3990499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记忆 → 历史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464868" y="4200049"/>
            <a:ext cx="20790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memories.id → memory_histories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464868" y="4504849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候选 → 记忆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464868" y="471439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memory_candidates → memories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464868" y="5019199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用户 → 项目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464868" y="5228749"/>
            <a:ext cx="1792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users.id → projects.user_id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812" r="0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8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项目成果总结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1666875" cy="857250"/>
          </a:xfrm>
          <a:prstGeom prst="roundRect">
            <a:avLst>
              <a:gd name="adj" fmla="val 11111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05215" y="9277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BCD4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2768" y="137112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数据表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400300" y="857250"/>
            <a:ext cx="1666875" cy="857250"/>
          </a:xfrm>
          <a:prstGeom prst="roundRect">
            <a:avLst>
              <a:gd name="adj" fmla="val 11111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034015" y="9277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BCD4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6560" y="137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路由模块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29100" y="857250"/>
            <a:ext cx="1666875" cy="857250"/>
          </a:xfrm>
          <a:prstGeom prst="roundRect">
            <a:avLst>
              <a:gd name="adj" fmla="val 11111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862815" y="9277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BCD4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85360" y="137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服务模块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57900" y="857250"/>
            <a:ext cx="1666875" cy="857250"/>
          </a:xfrm>
          <a:prstGeom prst="roundRect">
            <a:avLst>
              <a:gd name="adj" fmla="val 11111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78860" y="960120"/>
            <a:ext cx="6154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6F00"/>
                </a:solidFill>
                <a:latin typeface="Georgia"/>
                <a:ea typeface="SimSun"/>
                <a:cs typeface="Georgia"/>
              </a:rPr>
              <a:t>30+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33662" y="1371124"/>
            <a:ext cx="5058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API 端点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886700" y="857250"/>
            <a:ext cx="1666875" cy="857250"/>
          </a:xfrm>
          <a:prstGeom prst="roundRect">
            <a:avLst>
              <a:gd name="adj" fmla="val 11111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407660" y="960120"/>
            <a:ext cx="6154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6F00"/>
                </a:solidFill>
                <a:latin typeface="Georgia"/>
                <a:ea typeface="SimSun"/>
                <a:cs typeface="Georgia"/>
              </a:rPr>
              <a:t>20+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42960" y="137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前端组件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715500" y="857250"/>
            <a:ext cx="1905000" cy="857250"/>
          </a:xfrm>
          <a:prstGeom prst="roundRect">
            <a:avLst>
              <a:gd name="adj" fmla="val 11111"/>
            </a:avLst>
          </a:prstGeom>
          <a:solidFill>
            <a:srgbClr val="000000">
              <a:alpha val="35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29747" y="927735"/>
            <a:ext cx="2765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BCD4"/>
                </a:solidFill>
                <a:latin typeface="Georgia"/>
                <a:ea typeface="SimSun"/>
                <a:cs typeface="Georgia"/>
              </a:rPr>
              <a:t>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55818" y="1371124"/>
            <a:ext cx="8243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LLM 模型接入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1952625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1952625"/>
            <a:ext cx="5334000" cy="361950"/>
          </a:xfrm>
          <a:prstGeom prst="roundRect">
            <a:avLst>
              <a:gd name="adj" fmla="val 31579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200275"/>
            <a:ext cx="533400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7712" y="20597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功能交付</a:t>
            </a:r>
          </a:p>
        </p:txBody>
      </p:sp>
      <p:sp>
        <p:nvSpPr>
          <p:cNvPr id="29" name="Ellipse 29"/>
          <p:cNvSpPr/>
          <p:nvPr/>
        </p:nvSpPr>
        <p:spPr>
          <a:xfrm>
            <a:off x="800100" y="253365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8215" y="250602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用户认证与权限管理</a:t>
            </a:r>
          </a:p>
        </p:txBody>
      </p:sp>
      <p:sp>
        <p:nvSpPr>
          <p:cNvPr id="31" name="Ellipse 31"/>
          <p:cNvSpPr/>
          <p:nvPr/>
        </p:nvSpPr>
        <p:spPr>
          <a:xfrm>
            <a:off x="800100" y="281940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58215" y="2791778"/>
            <a:ext cx="2904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多模型聊天（Qwen / Kimi / MiniMax / GLM）</a:t>
            </a:r>
          </a:p>
        </p:txBody>
      </p:sp>
      <p:sp>
        <p:nvSpPr>
          <p:cNvPr id="33" name="Ellipse 33"/>
          <p:cNvSpPr/>
          <p:nvPr/>
        </p:nvSpPr>
        <p:spPr>
          <a:xfrm>
            <a:off x="800100" y="310515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58215" y="3077528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消息版本管理与编辑历史</a:t>
            </a:r>
          </a:p>
        </p:txBody>
      </p:sp>
      <p:sp>
        <p:nvSpPr>
          <p:cNvPr id="35" name="Ellipse 35"/>
          <p:cNvSpPr/>
          <p:nvPr/>
        </p:nvSpPr>
        <p:spPr>
          <a:xfrm>
            <a:off x="800100" y="339090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58215" y="336327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三级记忆作用域系统</a:t>
            </a:r>
          </a:p>
        </p:txBody>
      </p:sp>
      <p:sp>
        <p:nvSpPr>
          <p:cNvPr id="37" name="Ellipse 37"/>
          <p:cNvSpPr/>
          <p:nvPr/>
        </p:nvSpPr>
        <p:spPr>
          <a:xfrm>
            <a:off x="800100" y="367665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8215" y="3649028"/>
            <a:ext cx="15878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语义向量检索 + 时间排序</a:t>
            </a:r>
          </a:p>
        </p:txBody>
      </p:sp>
      <p:sp>
        <p:nvSpPr>
          <p:cNvPr id="39" name="Ellipse 39"/>
          <p:cNvSpPr/>
          <p:nvPr/>
        </p:nvSpPr>
        <p:spPr>
          <a:xfrm>
            <a:off x="800100" y="396240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58215" y="39347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版本追踪 + 审计日志</a:t>
            </a:r>
          </a:p>
        </p:txBody>
      </p:sp>
      <p:sp>
        <p:nvSpPr>
          <p:cNvPr id="41" name="Ellipse 41"/>
          <p:cNvSpPr/>
          <p:nvPr/>
        </p:nvSpPr>
        <p:spPr>
          <a:xfrm>
            <a:off x="800100" y="4248150"/>
            <a:ext cx="76200" cy="76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58215" y="4220528"/>
            <a:ext cx="1125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V1 API 开发者端点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86500" y="1952625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286500" y="1952625"/>
            <a:ext cx="5334000" cy="361950"/>
          </a:xfrm>
          <a:prstGeom prst="roundRect">
            <a:avLst>
              <a:gd name="adj" fmla="val 31579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286500" y="2200275"/>
            <a:ext cx="5334000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462712" y="20597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477000" y="2476500"/>
            <a:ext cx="495300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4165" y="258222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记忆优先架构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6070" y="2788920"/>
            <a:ext cx="25611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系统消息自动注入记忆，AI 无需重复获取上下文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3067050"/>
            <a:ext cx="495300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654165" y="3172778"/>
            <a:ext cx="1357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Human-in-the-loop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56070" y="3379470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记忆创建需用户确认，保证准确性与可控性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477000" y="3657600"/>
            <a:ext cx="495300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54165" y="3763328"/>
            <a:ext cx="1224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语义 + 时间双检索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56070" y="3970020"/>
            <a:ext cx="27111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pgvector 语义相似度 + SQLite 时间排序混合策略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77000" y="4248150"/>
            <a:ext cx="49530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655118" y="4352449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全链路优雅降级 + SSE 异步流式响应</a:t>
            </a:r>
          </a:p>
        </p:txBody>
      </p:sp>
      <p:sp>
        <p:nvSpPr>
          <p:cNvPr id="58" name="Rectangle 5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4612" r="0" b="146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>
              <a:alpha val="82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80" y="344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524250" cy="5429250"/>
          </a:xfrm>
          <a:prstGeom prst="roundRect">
            <a:avLst>
              <a:gd name="adj" fmla="val 324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3524250" cy="381000"/>
          </a:xfrm>
          <a:prstGeom prst="roundRect">
            <a:avLst>
              <a:gd name="adj" fmla="val 30000"/>
            </a:avLst>
          </a:prstGeom>
          <a:solidFill>
            <a:srgbClr val="00BCD4">
              <a:alpha val="9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23950"/>
            <a:ext cx="3524250" cy="114300"/>
          </a:xfrm>
          <a:prstGeom prst="rect">
            <a:avLst/>
          </a:prstGeom>
          <a:solidFill>
            <a:srgbClr val="00BCD4">
              <a:alpha val="90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76288" y="914400"/>
            <a:ext cx="200025" cy="266700"/>
            <a:chOff x="776288" y="914400"/>
            <a:chExt cx="200025" cy="266700"/>
          </a:xfrm>
        </p:grpSpPr>
        <p:sp>
          <p:nvSpPr>
            <p:cNvPr id="10" name="Freeform 10"/>
            <p:cNvSpPr/>
            <p:nvPr/>
          </p:nvSpPr>
          <p:spPr>
            <a:xfrm>
              <a:off x="776288" y="102108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76288" y="110442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76288" y="91440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89660" y="9944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记忆系统增强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142875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15740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记忆关联图谱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0118" y="17997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构建知识图谱，建立记忆间关联关系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118" y="2009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支持复杂知识推理与联想检索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524125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8212" y="26693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记忆时效性自动过期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118" y="289512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基于时间衰减的自动归档机制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0118" y="31046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过期记忆平滑降级而非删除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1950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8212" y="3764756"/>
            <a:ext cx="11312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跨用户记忆共享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0118" y="39904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团队协作场景下的共享记忆池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0118" y="42000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项目级知识自动同步给团队成员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714875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38212" y="4860131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记忆质量评分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118" y="508587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自动评估记忆的使用频率和价值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0118" y="529542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低价值条目自动清洗优化存储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33875" y="857250"/>
            <a:ext cx="3524250" cy="5429250"/>
          </a:xfrm>
          <a:prstGeom prst="roundRect">
            <a:avLst>
              <a:gd name="adj" fmla="val 324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4333875" y="857250"/>
            <a:ext cx="3524250" cy="381000"/>
          </a:xfrm>
          <a:prstGeom prst="roundRect">
            <a:avLst>
              <a:gd name="adj" fmla="val 30000"/>
            </a:avLst>
          </a:prstGeom>
          <a:solidFill>
            <a:srgbClr val="FF6F00">
              <a:alpha val="9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333875" y="1123950"/>
            <a:ext cx="3524250" cy="114300"/>
          </a:xfrm>
          <a:prstGeom prst="rect">
            <a:avLst/>
          </a:prstGeom>
          <a:solidFill>
            <a:srgbClr val="FF6F00">
              <a:alpha val="90000"/>
            </a:srgbClr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4521994" y="914400"/>
            <a:ext cx="233362" cy="266700"/>
            <a:chOff x="4521994" y="914400"/>
            <a:chExt cx="233362" cy="266700"/>
          </a:xfrm>
        </p:grpSpPr>
        <p:sp>
          <p:nvSpPr>
            <p:cNvPr id="34" name="Freeform 34"/>
            <p:cNvSpPr/>
            <p:nvPr/>
          </p:nvSpPr>
          <p:spPr>
            <a:xfrm>
              <a:off x="4521994" y="914400"/>
              <a:ext cx="233362" cy="133350"/>
            </a:xfrm>
            <a:custGeom>
              <a:avLst/>
              <a:gdLst/>
              <a:ahLst/>
              <a:cxnLst/>
              <a:rect l="l" t="t" r="r" b="b"/>
              <a:pathLst>
                <a:path w="233362" h="133350">
                  <a:moveTo>
                    <a:pt x="0" y="83344"/>
                  </a:move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83344"/>
                  </a:lnTo>
                  <a:lnTo>
                    <a:pt x="116681" y="13335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521994" y="1097756"/>
              <a:ext cx="233362" cy="83344"/>
            </a:xfrm>
            <a:custGeom>
              <a:avLst/>
              <a:gdLst/>
              <a:ahLst/>
              <a:cxnLst/>
              <a:rect l="l" t="t" r="r" b="b"/>
              <a:pathLst>
                <a:path w="233362" h="83344">
                  <a:moveTo>
                    <a:pt x="116681" y="83344"/>
                  </a:moveTo>
                  <a:lnTo>
                    <a:pt x="0" y="33338"/>
                  </a:lnTo>
                  <a:lnTo>
                    <a:pt x="0" y="0"/>
                  </a:lnTo>
                  <a:lnTo>
                    <a:pt x="116681" y="50006"/>
                  </a:lnTo>
                  <a:lnTo>
                    <a:pt x="233362" y="0"/>
                  </a:lnTo>
                  <a:lnTo>
                    <a:pt x="233362" y="33338"/>
                  </a:lnTo>
                  <a:lnTo>
                    <a:pt x="116681" y="83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4521994" y="1031081"/>
              <a:ext cx="233362" cy="83344"/>
            </a:xfrm>
            <a:custGeom>
              <a:avLst/>
              <a:gdLst/>
              <a:ahLst/>
              <a:cxnLst/>
              <a:rect l="l" t="t" r="r" b="b"/>
              <a:pathLst>
                <a:path w="233362" h="83344">
                  <a:moveTo>
                    <a:pt x="0" y="33338"/>
                  </a:moveTo>
                  <a:lnTo>
                    <a:pt x="116681" y="83344"/>
                  </a:lnTo>
                  <a:lnTo>
                    <a:pt x="233362" y="33338"/>
                  </a:lnTo>
                  <a:lnTo>
                    <a:pt x="233362" y="0"/>
                  </a:lnTo>
                  <a:lnTo>
                    <a:pt x="116681" y="50006"/>
                  </a:lnTo>
                  <a:lnTo>
                    <a:pt x="0" y="0"/>
                  </a:lnTo>
                  <a:lnTo>
                    <a:pt x="0" y="333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4852035" y="994410"/>
            <a:ext cx="10638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多模态 &amp; 交互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524375" y="142875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700588" y="1574006"/>
            <a:ext cx="1154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图片 / 语音消息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02492" y="17997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多模态输入扩展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02492" y="200929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视觉理解 + 语音转文字能力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524375" y="2524125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700588" y="2669381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实时协作编辑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02492" y="2895124"/>
            <a:ext cx="15134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WebSocket 双向实时通信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702492" y="31046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多人同时编辑与对话共享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524375" y="361950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700588" y="37647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移动端响应式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702492" y="399049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手机 / 平板多端适配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02492" y="42000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触屏交互优化，随时随地访问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524375" y="4714875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700588" y="4860131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PWA 离线能力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702492" y="5085874"/>
            <a:ext cx="1545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Service Worker 本地缓存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702492" y="5295424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弱网/断网场景可用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096250" y="857250"/>
            <a:ext cx="3524250" cy="5429250"/>
          </a:xfrm>
          <a:prstGeom prst="roundRect">
            <a:avLst>
              <a:gd name="adj" fmla="val 324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8096250" y="857250"/>
            <a:ext cx="3524250" cy="381000"/>
          </a:xfrm>
          <a:prstGeom prst="roundRect">
            <a:avLst>
              <a:gd name="adj" fmla="val 30000"/>
            </a:avLst>
          </a:prstGeom>
          <a:solidFill>
            <a:srgbClr val="1A237E">
              <a:alpha val="90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8096250" y="1123950"/>
            <a:ext cx="3524250" cy="114300"/>
          </a:xfrm>
          <a:prstGeom prst="rect">
            <a:avLst/>
          </a:prstGeom>
          <a:solidFill>
            <a:srgbClr val="1A237E">
              <a:alpha val="90000"/>
            </a:srgbClr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8267700" y="914400"/>
            <a:ext cx="266700" cy="266700"/>
            <a:chOff x="8267700" y="914400"/>
            <a:chExt cx="266700" cy="266700"/>
          </a:xfrm>
        </p:grpSpPr>
        <p:sp>
          <p:nvSpPr>
            <p:cNvPr id="58" name="Freeform 58"/>
            <p:cNvSpPr/>
            <p:nvPr/>
          </p:nvSpPr>
          <p:spPr>
            <a:xfrm>
              <a:off x="8267700" y="914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66688" y="266700"/>
                  </a:moveTo>
                  <a:lnTo>
                    <a:pt x="200025" y="233362"/>
                  </a:lnTo>
                  <a:lnTo>
                    <a:pt x="200025" y="166688"/>
                  </a:lnTo>
                  <a:lnTo>
                    <a:pt x="227643" y="139070"/>
                  </a:lnTo>
                  <a:cubicBezTo>
                    <a:pt x="252650" y="114062"/>
                    <a:pt x="266700" y="80144"/>
                    <a:pt x="266700" y="44777"/>
                  </a:cubicBezTo>
                  <a:lnTo>
                    <a:pt x="266700" y="0"/>
                  </a:lnTo>
                  <a:lnTo>
                    <a:pt x="221923" y="0"/>
                  </a:lnTo>
                  <a:cubicBezTo>
                    <a:pt x="186557" y="0"/>
                    <a:pt x="152638" y="14049"/>
                    <a:pt x="127630" y="39057"/>
                  </a:cubicBezTo>
                  <a:lnTo>
                    <a:pt x="100012" y="66675"/>
                  </a:lnTo>
                  <a:lnTo>
                    <a:pt x="33338" y="66675"/>
                  </a:lnTo>
                  <a:lnTo>
                    <a:pt x="0" y="100012"/>
                  </a:lnTo>
                  <a:lnTo>
                    <a:pt x="166688" y="266700"/>
                  </a:lnTo>
                  <a:close/>
                  <a:moveTo>
                    <a:pt x="175022" y="116681"/>
                  </a:moveTo>
                  <a:cubicBezTo>
                    <a:pt x="188830" y="116681"/>
                    <a:pt x="200025" y="105487"/>
                    <a:pt x="200025" y="91678"/>
                  </a:cubicBezTo>
                  <a:cubicBezTo>
                    <a:pt x="200025" y="77869"/>
                    <a:pt x="188830" y="66675"/>
                    <a:pt x="175022" y="66675"/>
                  </a:cubicBezTo>
                  <a:cubicBezTo>
                    <a:pt x="161213" y="66675"/>
                    <a:pt x="150019" y="77869"/>
                    <a:pt x="150019" y="91678"/>
                  </a:cubicBezTo>
                  <a:cubicBezTo>
                    <a:pt x="150019" y="105487"/>
                    <a:pt x="161213" y="116681"/>
                    <a:pt x="175022" y="1166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267700" y="1098966"/>
              <a:ext cx="82134" cy="82134"/>
            </a:xfrm>
            <a:custGeom>
              <a:avLst/>
              <a:gdLst/>
              <a:ahLst/>
              <a:cxnLst/>
              <a:rect l="l" t="t" r="r" b="b"/>
              <a:pathLst>
                <a:path w="82134" h="82134">
                  <a:moveTo>
                    <a:pt x="82134" y="44726"/>
                  </a:moveTo>
                  <a:lnTo>
                    <a:pt x="37409" y="0"/>
                  </a:lnTo>
                  <a:lnTo>
                    <a:pt x="0" y="65465"/>
                  </a:lnTo>
                  <a:lnTo>
                    <a:pt x="16669" y="82134"/>
                  </a:lnTo>
                  <a:lnTo>
                    <a:pt x="82134" y="447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1" name="TextBox 61"/>
          <p:cNvSpPr txBox="1"/>
          <p:nvPr/>
        </p:nvSpPr>
        <p:spPr>
          <a:xfrm>
            <a:off x="8614410" y="9944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平台化演进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286750" y="142875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462962" y="15740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237E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插件系统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64868" y="17997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搜索 / 代码 / 文档深度集成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64868" y="20092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第三方能力标准化接入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286750" y="2524125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462962" y="2669381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237E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RAG 知识库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64868" y="28951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企业知识库智能问答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64868" y="3104674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文档解析 + 向量化 + 检索增强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286750" y="361950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462962" y="3764756"/>
            <a:ext cx="824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237E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Agent 能力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464868" y="399049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多步编排 · 工具调用链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64868" y="42000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自主任务分解与执行</a:t>
            </a:r>
          </a:p>
        </p:txBody>
      </p:sp>
      <p:sp>
        <p:nvSpPr>
          <p:cNvPr id="74" name="Rectangle 74"/>
          <p:cNvSpPr/>
          <p:nvPr/>
        </p:nvSpPr>
        <p:spPr>
          <a:xfrm>
            <a:off x="8286750" y="4714875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462962" y="4860131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237E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多租户权限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464868" y="50858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组织级角色体系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464868" y="5295424"/>
            <a:ext cx="12599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RBAC 细粒度权限管控</a:t>
            </a:r>
          </a:p>
        </p:txBody>
      </p:sp>
      <p:sp>
        <p:nvSpPr>
          <p:cNvPr id="78" name="Rectangle 7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11733562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4612" r="0" b="146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8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143500" y="247650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042154" y="2659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8817" y="3441382"/>
            <a:ext cx="36943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BCD4"/>
                </a:solidFill>
                <a:latin typeface="Arial"/>
                <a:ea typeface="Microsoft YaHei"/>
                <a:cs typeface="Arial"/>
              </a:rPr>
              <a:t>LLM + 永久记忆聊天系统 — CHAT A.I+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90525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726287" y="4250055"/>
            <a:ext cx="7394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952750" y="51435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286458" y="52573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三级记忆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51435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715208" y="52573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语义检索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810250" y="51435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075700" y="525732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多模型接入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0" y="51435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04450" y="525732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92686" y="58712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项目汇报 · 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