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大家好，今天我汇报的项目是 LLM 加永久记忆聊天系统。这个项目的核心目标是让 AI 聊天具备跨会话的永久记忆能力，解决传统对话系统每次从零开始的问题。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本次汇报将围绕七个部分展开：从项目背景出发，依次介绍系统架构、核心记忆功能、企业级特性、数据模型设计和项目成果，最后展望未来演进方向。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来看项目背景。传统大语言模型聊天应用是无状态的，用户每次对话都需要重新提供背景信息，体验割裂且低效。我们的目标是构建一个具备跨会话永久记忆能力的对话系统，能够自动识别值得记住的信息，按项目隔离上下文，并支持多种主流模型接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在系统架构上，我们采用经典的三层架构。前端使用 React 十九加 TypeScript 构建单页应用；后端基于 Python 三点十三和 FastAPI，通过 OpenAI 兼容接口对接多种模型；数据层支持 SQLite 开发环境和 PostgreSQL 加 pgvector 生产环境，实现关系存储和向量检索的双重能力。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是系统的核心——记忆系统。它支持三级作用域：全局、项目和会话级别，优先级由内到外递增。自动提取流水线会检测用户意图、通过大模型评估生成候选、过滤敏感信息并去重。每条记忆包含内容、类型、作用域、置信度和重要度等维度，并通过上下文注入策略在对话中自动生效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在企业级特性方面，系统提供了四个关键能力：记忆版本追踪，通过链表结构实现完整变更历史回溯；操作审计合规，记录所有变更的前后状态和操作来源；认证安全采用 scrypt 哈希和 Bearer Token，强制用户级数据隔离；以及覆盖完整业务场景的 RESTful API 设计，包含内置 API Explorer 调试工具。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模型方面，系统共设计了十二张数据表，分为四大分组：用户系统、对话系统、记忆系统和记忆治理。实体间通过外键关联形成清晰的层级关系，记忆表同时关联向量嵌入、版本历史和审计日志，支撑完整的记忆生命周期管理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总结项目成果，我们交付了十二张数据表、十三个路由模块、十三个服务模块、三十余个 API 端点、二十余个前端组件，并支持六种大语言模型接入。核心技术亮点包括记忆优先架构设计、人工审核机制、语义与时间双模式检索、全链路优雅降级，以及 SSE 流式和后台异步处理能力。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展望未来，我们将从三个方向持续演进。记忆系统方面计划引入知识图谱、时效过期和跨用户共享；多模态交互将支持图片语音、实时协作和移动端适配；平台化演进将构建插件系统、RAG 知识库、Agent 多步编排和多租户权限管理，将系统从工具升级为平台。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以上就是我今天的全部汇报内容，感谢各位的聆听，欢迎大家提问交流。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762000" cy="6858000"/>
          </a:xfrm>
          <a:prstGeom prst="rect">
            <a:avLst/>
          </a:prstGeom>
          <a:gradFill>
            <a:gsLst>
              <a:gs pos="0">
                <a:srgbClr val="003F6C"/>
              </a:gs>
              <a:gs pos="100000">
                <a:srgbClr val="1565C0"/>
              </a:gs>
            </a:gsLst>
            <a:lin ang="54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762000" y="0"/>
            <a:ext cx="57150" cy="6858000"/>
          </a:xfrm>
          <a:prstGeom prst="rect">
            <a:avLst/>
          </a:prstGeom>
          <a:solidFill>
            <a:srgbClr val="1565C0">
              <a:alpha val="15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10668000" y="762000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F5F7FA">
              <a:alpha val="6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0858500" y="4762500"/>
            <a:ext cx="1143000" cy="1143000"/>
          </a:xfrm>
          <a:prstGeom prst="roundRect">
            <a:avLst>
              <a:gd name="adj" fmla="val 5000"/>
            </a:avLst>
          </a:prstGeom>
          <a:solidFill>
            <a:srgbClr val="00897B">
              <a:alpha val="8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0"/>
            <a:ext cx="11430000" cy="38100"/>
          </a:xfrm>
          <a:prstGeom prst="rect">
            <a:avLst/>
          </a:prstGeom>
          <a:gradFill>
            <a:gsLst>
              <a:gs pos="0">
                <a:srgbClr val="003F6C"/>
              </a:gs>
              <a:gs pos="50000">
                <a:srgbClr val="1565C0"/>
              </a:gs>
              <a:gs pos="100000">
                <a:srgbClr val="00897B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463040" y="2148840"/>
            <a:ext cx="7514844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003F6C"/>
                </a:solidFill>
                <a:latin typeface="Georgia"/>
                <a:ea typeface="KaiTi"/>
                <a:cs typeface="Georgia"/>
              </a:rPr>
              <a:t>LLM + 永久记忆聊天系统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7330" y="3011805"/>
            <a:ext cx="470192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565C0"/>
                </a:solidFill>
                <a:latin typeface="Georgia"/>
                <a:ea typeface="KaiTi"/>
                <a:cs typeface="Georgia"/>
              </a:rPr>
              <a:t>CHAT A.I+ — 跨会话智能记忆对话系统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524000" y="3524250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00897B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1524000" y="3905250"/>
            <a:ext cx="1333500" cy="3429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687354" y="4020502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三级记忆作用域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048000" y="3905250"/>
            <a:ext cx="1524000" cy="3429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376612" y="402050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语义向量检索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762500" y="3905250"/>
            <a:ext cx="1524000" cy="3429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161121" y="4020502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多模型接入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477000" y="3905250"/>
            <a:ext cx="1714500" cy="3429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526316" y="4020502"/>
            <a:ext cx="16158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Human-in-the-loop 审核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06855" y="499776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项目汇报 · 2026</a:t>
            </a:r>
          </a:p>
        </p:txBody>
      </p:sp>
      <p:sp>
        <p:nvSpPr>
          <p:cNvPr id="20" name="Rectangle 2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003F6C"/>
              </a:gs>
              <a:gs pos="50000">
                <a:srgbClr val="1565C0"/>
              </a:gs>
              <a:gs pos="100000">
                <a:srgbClr val="00897B"/>
              </a:gs>
            </a:gsLst>
            <a:lin ang="0" scaled="1"/>
          </a:gra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10420350" y="2609850"/>
            <a:ext cx="114300" cy="114300"/>
          </a:xfrm>
          <a:prstGeom prst="ellipse">
            <a:avLst/>
          </a:prstGeom>
          <a:solidFill>
            <a:srgbClr val="1565C0">
              <a:alpha val="20000"/>
            </a:srgbClr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10725150" y="2438400"/>
            <a:ext cx="76200" cy="76200"/>
          </a:xfrm>
          <a:prstGeom prst="ellipse">
            <a:avLst/>
          </a:prstGeom>
          <a:solidFill>
            <a:srgbClr val="00897B">
              <a:alpha val="20000"/>
            </a:srgbClr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10258425" y="2828925"/>
            <a:ext cx="57150" cy="57150"/>
          </a:xfrm>
          <a:prstGeom prst="ellipse">
            <a:avLst/>
          </a:prstGeom>
          <a:solidFill>
            <a:srgbClr val="003F6C">
              <a:alpha val="15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3F6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2925" y="252412"/>
            <a:ext cx="150633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47950" y="333375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汇报目录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143000"/>
            <a:ext cx="5334000" cy="647700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143000"/>
            <a:ext cx="571500" cy="647700"/>
          </a:xfrm>
          <a:prstGeom prst="roundRect">
            <a:avLst>
              <a:gd name="adj" fmla="val 13333"/>
            </a:avLst>
          </a:prstGeom>
          <a:solidFill>
            <a:srgbClr val="003F6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1143000"/>
            <a:ext cx="285750" cy="647700"/>
          </a:xfrm>
          <a:prstGeom prst="rect">
            <a:avLst/>
          </a:prstGeom>
          <a:solidFill>
            <a:srgbClr val="003F6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05614" y="1316355"/>
            <a:ext cx="30327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4450" y="1247775"/>
            <a:ext cx="15082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项目背景与目标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0165" y="1544002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痛点分析、核心目标、项目定位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86500" y="1143000"/>
            <a:ext cx="5334000" cy="647700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6286500" y="1143000"/>
            <a:ext cx="571500" cy="64770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6572250" y="1143000"/>
            <a:ext cx="285750" cy="6477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383860" y="1316355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29450" y="124777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系统架构设计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35165" y="1544002"/>
            <a:ext cx="21269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整体架构、技术栈选型、分层设计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1981200"/>
            <a:ext cx="5334000" cy="647700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71500" y="1981200"/>
            <a:ext cx="571500" cy="647700"/>
          </a:xfrm>
          <a:prstGeom prst="roundRect">
            <a:avLst>
              <a:gd name="adj" fmla="val 13333"/>
            </a:avLst>
          </a:prstGeom>
          <a:solidFill>
            <a:srgbClr val="00897B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857250" y="1981200"/>
            <a:ext cx="285750" cy="647700"/>
          </a:xfrm>
          <a:prstGeom prst="rect">
            <a:avLst/>
          </a:prstGeom>
          <a:solidFill>
            <a:srgbClr val="00897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68860" y="2154555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14450" y="2085975"/>
            <a:ext cx="19283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核心功能：记忆系统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20165" y="2382202"/>
            <a:ext cx="25469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三级作用域、提取流水线、候选生命周期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286500" y="1981200"/>
            <a:ext cx="5334000" cy="647700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6286500" y="1981200"/>
            <a:ext cx="571500" cy="647700"/>
          </a:xfrm>
          <a:prstGeom prst="roundRect">
            <a:avLst>
              <a:gd name="adj" fmla="val 13333"/>
            </a:avLst>
          </a:prstGeom>
          <a:solidFill>
            <a:srgbClr val="003F6C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572250" y="1981200"/>
            <a:ext cx="285750" cy="647700"/>
          </a:xfrm>
          <a:prstGeom prst="rect">
            <a:avLst/>
          </a:prstGeom>
          <a:solidFill>
            <a:srgbClr val="003F6C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383860" y="2154555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04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029450" y="208597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企业级特性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035165" y="2382202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版本追踪、审计合规、向量检索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2819400"/>
            <a:ext cx="5334000" cy="647700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571500" y="2819400"/>
            <a:ext cx="571500" cy="64770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857250" y="2819400"/>
            <a:ext cx="285750" cy="6477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8860" y="2992755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05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14450" y="292417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数据模型设计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20165" y="3220402"/>
            <a:ext cx="21479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12 张数据表、实体关系、索引策略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286500" y="2819400"/>
            <a:ext cx="5334000" cy="647700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6286500" y="2819400"/>
            <a:ext cx="571500" cy="647700"/>
          </a:xfrm>
          <a:prstGeom prst="roundRect">
            <a:avLst>
              <a:gd name="adj" fmla="val 13333"/>
            </a:avLst>
          </a:prstGeom>
          <a:solidFill>
            <a:srgbClr val="00897B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6572250" y="2819400"/>
            <a:ext cx="285750" cy="647700"/>
          </a:xfrm>
          <a:prstGeom prst="rect">
            <a:avLst/>
          </a:prstGeom>
          <a:solidFill>
            <a:srgbClr val="00897B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383860" y="2992755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06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029450" y="292417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项目成果总结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035165" y="3220402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功能交付、代码规模、技术亮点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429000" y="3657600"/>
            <a:ext cx="5334000" cy="647700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3429000" y="3657600"/>
            <a:ext cx="571500" cy="647700"/>
          </a:xfrm>
          <a:prstGeom prst="roundRect">
            <a:avLst>
              <a:gd name="adj" fmla="val 13333"/>
            </a:avLst>
          </a:prstGeom>
          <a:solidFill>
            <a:srgbClr val="003F6C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3714750" y="3657600"/>
            <a:ext cx="285750" cy="647700"/>
          </a:xfrm>
          <a:prstGeom prst="rect">
            <a:avLst/>
          </a:prstGeom>
          <a:solidFill>
            <a:srgbClr val="003F6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3526360" y="3830955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07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171950" y="37623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未来展望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177665" y="4058602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演进方向、优化计划</a:t>
            </a:r>
          </a:p>
        </p:txBody>
      </p:sp>
      <p:sp>
        <p:nvSpPr>
          <p:cNvPr id="48" name="Rectangle 48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003F6C"/>
              </a:gs>
              <a:gs pos="100000">
                <a:srgbClr val="00897B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3F6C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003F6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8665" y="553402"/>
            <a:ext cx="1456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7270" y="407670"/>
            <a:ext cx="241325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3F6C"/>
                </a:solidFill>
                <a:latin typeface="Arial"/>
                <a:ea typeface="Microsoft YaHei"/>
                <a:cs typeface="Arial"/>
              </a:rPr>
              <a:t>项目背景与目标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857250"/>
            <a:ext cx="3810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143000"/>
            <a:ext cx="5334000" cy="2190750"/>
          </a:xfrm>
          <a:prstGeom prst="roundRect">
            <a:avLst>
              <a:gd name="adj" fmla="val 3478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143000"/>
            <a:ext cx="5334000" cy="419100"/>
          </a:xfrm>
          <a:prstGeom prst="roundRect">
            <a:avLst>
              <a:gd name="adj" fmla="val 18182"/>
            </a:avLst>
          </a:prstGeom>
          <a:solidFill>
            <a:srgbClr val="003F6C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409700"/>
            <a:ext cx="5334000" cy="152400"/>
          </a:xfrm>
          <a:prstGeom prst="rect">
            <a:avLst/>
          </a:prstGeom>
          <a:solidFill>
            <a:srgbClr val="003F6C"/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723900" y="1257300"/>
            <a:ext cx="209550" cy="209550"/>
            <a:chOff x="723900" y="1257300"/>
            <a:chExt cx="209550" cy="209550"/>
          </a:xfrm>
        </p:grpSpPr>
        <p:sp>
          <p:nvSpPr>
            <p:cNvPr id="11" name="Freeform 11"/>
            <p:cNvSpPr/>
            <p:nvPr/>
          </p:nvSpPr>
          <p:spPr>
            <a:xfrm>
              <a:off x="776288" y="13096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cubicBezTo>
                    <a:pt x="23455" y="0"/>
                    <a:pt x="0" y="23455"/>
                    <a:pt x="0" y="52388"/>
                  </a:cubicBezTo>
                  <a:cubicBezTo>
                    <a:pt x="0" y="81320"/>
                    <a:pt x="23455" y="104775"/>
                    <a:pt x="52388" y="104775"/>
                  </a:cubicBezTo>
                  <a:cubicBezTo>
                    <a:pt x="81320" y="104775"/>
                    <a:pt x="104775" y="81320"/>
                    <a:pt x="104775" y="52388"/>
                  </a:cubicBezTo>
                  <a:cubicBezTo>
                    <a:pt x="104775" y="23455"/>
                    <a:pt x="81320" y="0"/>
                    <a:pt x="52388" y="0"/>
                  </a:cubicBezTo>
                  <a:close/>
                  <a:moveTo>
                    <a:pt x="26194" y="52388"/>
                  </a:moveTo>
                  <a:cubicBezTo>
                    <a:pt x="26194" y="37921"/>
                    <a:pt x="37921" y="26194"/>
                    <a:pt x="52388" y="26194"/>
                  </a:cubicBezTo>
                  <a:cubicBezTo>
                    <a:pt x="66854" y="26194"/>
                    <a:pt x="78581" y="37921"/>
                    <a:pt x="78581" y="52388"/>
                  </a:cubicBezTo>
                  <a:cubicBezTo>
                    <a:pt x="78581" y="66854"/>
                    <a:pt x="66854" y="78581"/>
                    <a:pt x="52388" y="78581"/>
                  </a:cubicBezTo>
                  <a:cubicBezTo>
                    <a:pt x="37921" y="78581"/>
                    <a:pt x="26194" y="66854"/>
                    <a:pt x="26194" y="523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723900" y="125730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104775" y="0"/>
                  </a:moveTo>
                  <a:cubicBezTo>
                    <a:pt x="46909" y="0"/>
                    <a:pt x="0" y="46909"/>
                    <a:pt x="0" y="104775"/>
                  </a:cubicBezTo>
                  <a:cubicBezTo>
                    <a:pt x="0" y="162641"/>
                    <a:pt x="46909" y="209550"/>
                    <a:pt x="104775" y="209550"/>
                  </a:cubicBezTo>
                  <a:cubicBezTo>
                    <a:pt x="162641" y="209550"/>
                    <a:pt x="209550" y="162641"/>
                    <a:pt x="209550" y="104775"/>
                  </a:cubicBezTo>
                  <a:cubicBezTo>
                    <a:pt x="209550" y="46909"/>
                    <a:pt x="162641" y="0"/>
                    <a:pt x="104775" y="0"/>
                  </a:cubicBezTo>
                  <a:close/>
                  <a:moveTo>
                    <a:pt x="26194" y="104775"/>
                  </a:moveTo>
                  <a:cubicBezTo>
                    <a:pt x="26194" y="61376"/>
                    <a:pt x="61376" y="26194"/>
                    <a:pt x="104775" y="26194"/>
                  </a:cubicBezTo>
                  <a:cubicBezTo>
                    <a:pt x="148174" y="26194"/>
                    <a:pt x="183356" y="61376"/>
                    <a:pt x="183356" y="104775"/>
                  </a:cubicBezTo>
                  <a:cubicBezTo>
                    <a:pt x="183356" y="148174"/>
                    <a:pt x="148174" y="183356"/>
                    <a:pt x="104775" y="183356"/>
                  </a:cubicBezTo>
                  <a:cubicBezTo>
                    <a:pt x="61376" y="183356"/>
                    <a:pt x="26194" y="148174"/>
                    <a:pt x="26194" y="1047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012508" y="1272064"/>
            <a:ext cx="7464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核心痛点</a:t>
            </a:r>
          </a:p>
        </p:txBody>
      </p:sp>
      <p:sp>
        <p:nvSpPr>
          <p:cNvPr id="15" name="Ellipse 15"/>
          <p:cNvSpPr/>
          <p:nvPr/>
        </p:nvSpPr>
        <p:spPr>
          <a:xfrm>
            <a:off x="800100" y="1790700"/>
            <a:ext cx="76200" cy="762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56310" y="1746885"/>
            <a:ext cx="33028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传统 LLM 聊天应用无状态，每次对话从零开始</a:t>
            </a:r>
          </a:p>
        </p:txBody>
      </p:sp>
      <p:sp>
        <p:nvSpPr>
          <p:cNvPr id="17" name="Ellipse 17"/>
          <p:cNvSpPr/>
          <p:nvPr/>
        </p:nvSpPr>
        <p:spPr>
          <a:xfrm>
            <a:off x="800100" y="2114550"/>
            <a:ext cx="76200" cy="762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56310" y="2070735"/>
            <a:ext cx="3070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用户反复提供相同背景信息，体验割裂低效</a:t>
            </a:r>
          </a:p>
        </p:txBody>
      </p:sp>
      <p:sp>
        <p:nvSpPr>
          <p:cNvPr id="19" name="Ellipse 19"/>
          <p:cNvSpPr/>
          <p:nvPr/>
        </p:nvSpPr>
        <p:spPr>
          <a:xfrm>
            <a:off x="800100" y="2438400"/>
            <a:ext cx="76200" cy="762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56310" y="2394585"/>
            <a:ext cx="3070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无法积累用户偏好、项目上下文、技术决策</a:t>
            </a:r>
          </a:p>
        </p:txBody>
      </p:sp>
      <p:sp>
        <p:nvSpPr>
          <p:cNvPr id="21" name="Ellipse 21"/>
          <p:cNvSpPr/>
          <p:nvPr/>
        </p:nvSpPr>
        <p:spPr>
          <a:xfrm>
            <a:off x="800100" y="2762250"/>
            <a:ext cx="76200" cy="762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56310" y="2718435"/>
            <a:ext cx="34149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跨会话知识无法沉淀，AI 无法真正「了解」用户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86500" y="1143000"/>
            <a:ext cx="5334000" cy="2190750"/>
          </a:xfrm>
          <a:prstGeom prst="roundRect">
            <a:avLst>
              <a:gd name="adj" fmla="val 3478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6286500" y="1143000"/>
            <a:ext cx="5334000" cy="419100"/>
          </a:xfrm>
          <a:prstGeom prst="roundRect">
            <a:avLst>
              <a:gd name="adj" fmla="val 18182"/>
            </a:avLst>
          </a:prstGeom>
          <a:solidFill>
            <a:srgbClr val="00897B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6286500" y="1409700"/>
            <a:ext cx="5334000" cy="152400"/>
          </a:xfrm>
          <a:prstGeom prst="rect">
            <a:avLst/>
          </a:prstGeom>
          <a:solidFill>
            <a:srgbClr val="00897B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6438900" y="1257300"/>
            <a:ext cx="209550" cy="209550"/>
            <a:chOff x="6438900" y="1257300"/>
            <a:chExt cx="209550" cy="209550"/>
          </a:xfrm>
        </p:grpSpPr>
        <p:sp>
          <p:nvSpPr>
            <p:cNvPr id="26" name="Freeform 26"/>
            <p:cNvSpPr/>
            <p:nvPr/>
          </p:nvSpPr>
          <p:spPr>
            <a:xfrm>
              <a:off x="6438900" y="125730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130969" y="209550"/>
                  </a:moveTo>
                  <a:lnTo>
                    <a:pt x="157162" y="183356"/>
                  </a:lnTo>
                  <a:lnTo>
                    <a:pt x="157162" y="130969"/>
                  </a:lnTo>
                  <a:lnTo>
                    <a:pt x="178863" y="109269"/>
                  </a:lnTo>
                  <a:cubicBezTo>
                    <a:pt x="198511" y="89620"/>
                    <a:pt x="209550" y="62970"/>
                    <a:pt x="209550" y="35182"/>
                  </a:cubicBezTo>
                  <a:lnTo>
                    <a:pt x="209550" y="0"/>
                  </a:lnTo>
                  <a:lnTo>
                    <a:pt x="174368" y="0"/>
                  </a:lnTo>
                  <a:cubicBezTo>
                    <a:pt x="146580" y="0"/>
                    <a:pt x="119930" y="11039"/>
                    <a:pt x="100281" y="30688"/>
                  </a:cubicBezTo>
                  <a:lnTo>
                    <a:pt x="78581" y="52388"/>
                  </a:lnTo>
                  <a:lnTo>
                    <a:pt x="26194" y="52388"/>
                  </a:lnTo>
                  <a:lnTo>
                    <a:pt x="0" y="78581"/>
                  </a:lnTo>
                  <a:lnTo>
                    <a:pt x="130969" y="209550"/>
                  </a:lnTo>
                  <a:close/>
                  <a:moveTo>
                    <a:pt x="137517" y="91678"/>
                  </a:moveTo>
                  <a:cubicBezTo>
                    <a:pt x="148367" y="91678"/>
                    <a:pt x="157162" y="82883"/>
                    <a:pt x="157162" y="72033"/>
                  </a:cubicBezTo>
                  <a:cubicBezTo>
                    <a:pt x="157162" y="61183"/>
                    <a:pt x="148367" y="52388"/>
                    <a:pt x="137517" y="52388"/>
                  </a:cubicBezTo>
                  <a:cubicBezTo>
                    <a:pt x="126667" y="52388"/>
                    <a:pt x="117872" y="61183"/>
                    <a:pt x="117872" y="72033"/>
                  </a:cubicBezTo>
                  <a:cubicBezTo>
                    <a:pt x="117872" y="82883"/>
                    <a:pt x="126667" y="91678"/>
                    <a:pt x="137517" y="9167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6438900" y="1402316"/>
              <a:ext cx="64534" cy="64534"/>
            </a:xfrm>
            <a:custGeom>
              <a:avLst/>
              <a:gdLst/>
              <a:ahLst/>
              <a:cxnLst/>
              <a:rect l="l" t="t" r="r" b="b"/>
              <a:pathLst>
                <a:path w="64534" h="64534">
                  <a:moveTo>
                    <a:pt x="64534" y="35142"/>
                  </a:moveTo>
                  <a:lnTo>
                    <a:pt x="29392" y="0"/>
                  </a:lnTo>
                  <a:lnTo>
                    <a:pt x="0" y="51437"/>
                  </a:lnTo>
                  <a:lnTo>
                    <a:pt x="13097" y="64534"/>
                  </a:lnTo>
                  <a:lnTo>
                    <a:pt x="64534" y="351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6727508" y="1272064"/>
            <a:ext cx="7464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项目目标</a:t>
            </a:r>
          </a:p>
        </p:txBody>
      </p:sp>
      <p:sp>
        <p:nvSpPr>
          <p:cNvPr id="30" name="Ellipse 30"/>
          <p:cNvSpPr/>
          <p:nvPr/>
        </p:nvSpPr>
        <p:spPr>
          <a:xfrm>
            <a:off x="6515100" y="1790700"/>
            <a:ext cx="76200" cy="7620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671310" y="1746885"/>
            <a:ext cx="29828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构建跨会话永久记忆能力的 LLM 对话系统</a:t>
            </a:r>
          </a:p>
        </p:txBody>
      </p:sp>
      <p:sp>
        <p:nvSpPr>
          <p:cNvPr id="32" name="Ellipse 32"/>
          <p:cNvSpPr/>
          <p:nvPr/>
        </p:nvSpPr>
        <p:spPr>
          <a:xfrm>
            <a:off x="6515100" y="2114550"/>
            <a:ext cx="76200" cy="7620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71310" y="2070735"/>
            <a:ext cx="19507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跨对话记住用户偏好和习惯</a:t>
            </a:r>
          </a:p>
        </p:txBody>
      </p:sp>
      <p:sp>
        <p:nvSpPr>
          <p:cNvPr id="34" name="Ellipse 34"/>
          <p:cNvSpPr/>
          <p:nvPr/>
        </p:nvSpPr>
        <p:spPr>
          <a:xfrm>
            <a:off x="6515100" y="2438400"/>
            <a:ext cx="76200" cy="7620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671310" y="2394585"/>
            <a:ext cx="29108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按项目组织对话和记忆，隔离工作上下文</a:t>
            </a:r>
          </a:p>
        </p:txBody>
      </p:sp>
      <p:sp>
        <p:nvSpPr>
          <p:cNvPr id="36" name="Ellipse 36"/>
          <p:cNvSpPr/>
          <p:nvPr/>
        </p:nvSpPr>
        <p:spPr>
          <a:xfrm>
            <a:off x="6515100" y="2762250"/>
            <a:ext cx="76200" cy="7620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671310" y="2718435"/>
            <a:ext cx="3390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自动识别值得记住的信息，经用户确认后持久化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3619500"/>
            <a:ext cx="11049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571500" y="3619500"/>
            <a:ext cx="11049000" cy="419100"/>
          </a:xfrm>
          <a:prstGeom prst="roundRect">
            <a:avLst>
              <a:gd name="adj" fmla="val 18182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571500" y="3886200"/>
            <a:ext cx="11049000" cy="1524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grpSp>
        <p:nvGrpSpPr>
          <p:cNvPr id="45" name="Group 45"/>
          <p:cNvGrpSpPr/>
          <p:nvPr/>
        </p:nvGrpSpPr>
        <p:grpSpPr>
          <a:xfrm>
            <a:off x="723900" y="3746897"/>
            <a:ext cx="209550" cy="183356"/>
            <a:chOff x="723900" y="3746897"/>
            <a:chExt cx="209550" cy="183356"/>
          </a:xfrm>
        </p:grpSpPr>
        <p:sp>
          <p:nvSpPr>
            <p:cNvPr id="41" name="Freeform 41"/>
            <p:cNvSpPr/>
            <p:nvPr/>
          </p:nvSpPr>
          <p:spPr>
            <a:xfrm>
              <a:off x="763191" y="3746897"/>
              <a:ext cx="65484" cy="65484"/>
            </a:xfrm>
            <a:custGeom>
              <a:avLst/>
              <a:gdLst/>
              <a:ahLst/>
              <a:cxnLst/>
              <a:rect l="l" t="t" r="r" b="b"/>
              <a:pathLst>
                <a:path w="65484" h="65484">
                  <a:moveTo>
                    <a:pt x="65484" y="32742"/>
                  </a:moveTo>
                  <a:cubicBezTo>
                    <a:pt x="65484" y="50825"/>
                    <a:pt x="50825" y="65484"/>
                    <a:pt x="32742" y="65484"/>
                  </a:cubicBezTo>
                  <a:cubicBezTo>
                    <a:pt x="14659" y="65484"/>
                    <a:pt x="0" y="50825"/>
                    <a:pt x="0" y="32742"/>
                  </a:cubicBezTo>
                  <a:cubicBezTo>
                    <a:pt x="0" y="14659"/>
                    <a:pt x="14659" y="0"/>
                    <a:pt x="32742" y="0"/>
                  </a:cubicBezTo>
                  <a:cubicBezTo>
                    <a:pt x="50825" y="0"/>
                    <a:pt x="65484" y="14659"/>
                    <a:pt x="65484" y="327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723900" y="3838575"/>
              <a:ext cx="104775" cy="91678"/>
            </a:xfrm>
            <a:custGeom>
              <a:avLst/>
              <a:gdLst/>
              <a:ahLst/>
              <a:cxnLst/>
              <a:rect l="l" t="t" r="r" b="b"/>
              <a:pathLst>
                <a:path w="104775" h="91678">
                  <a:moveTo>
                    <a:pt x="39291" y="0"/>
                  </a:moveTo>
                  <a:cubicBezTo>
                    <a:pt x="17591" y="0"/>
                    <a:pt x="0" y="17591"/>
                    <a:pt x="0" y="39291"/>
                  </a:cubicBezTo>
                  <a:lnTo>
                    <a:pt x="0" y="91678"/>
                  </a:lnTo>
                  <a:lnTo>
                    <a:pt x="104775" y="91678"/>
                  </a:lnTo>
                  <a:lnTo>
                    <a:pt x="104775" y="0"/>
                  </a:lnTo>
                  <a:lnTo>
                    <a:pt x="392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854869" y="3838575"/>
              <a:ext cx="78581" cy="91678"/>
            </a:xfrm>
            <a:custGeom>
              <a:avLst/>
              <a:gdLst/>
              <a:ahLst/>
              <a:cxnLst/>
              <a:rect l="l" t="t" r="r" b="b"/>
              <a:pathLst>
                <a:path w="78581" h="91678">
                  <a:moveTo>
                    <a:pt x="39291" y="0"/>
                  </a:moveTo>
                  <a:lnTo>
                    <a:pt x="0" y="0"/>
                  </a:lnTo>
                  <a:lnTo>
                    <a:pt x="0" y="91678"/>
                  </a:lnTo>
                  <a:lnTo>
                    <a:pt x="78581" y="91678"/>
                  </a:lnTo>
                  <a:lnTo>
                    <a:pt x="78581" y="39291"/>
                  </a:lnTo>
                  <a:cubicBezTo>
                    <a:pt x="78581" y="17591"/>
                    <a:pt x="60991" y="0"/>
                    <a:pt x="392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854869" y="3759994"/>
              <a:ext cx="52388" cy="52388"/>
            </a:xfrm>
            <a:custGeom>
              <a:avLst/>
              <a:gdLst/>
              <a:ahLst/>
              <a:cxnLst/>
              <a:rect l="l" t="t" r="r" b="b"/>
              <a:pathLst>
                <a:path w="52388" h="52388">
                  <a:moveTo>
                    <a:pt x="26194" y="52388"/>
                  </a:moveTo>
                  <a:cubicBezTo>
                    <a:pt x="40661" y="52388"/>
                    <a:pt x="52388" y="40660"/>
                    <a:pt x="52388" y="26194"/>
                  </a:cubicBezTo>
                  <a:cubicBezTo>
                    <a:pt x="52388" y="11727"/>
                    <a:pt x="40661" y="0"/>
                    <a:pt x="26194" y="0"/>
                  </a:cubicBezTo>
                  <a:cubicBezTo>
                    <a:pt x="11727" y="0"/>
                    <a:pt x="0" y="11727"/>
                    <a:pt x="0" y="26194"/>
                  </a:cubicBezTo>
                  <a:cubicBezTo>
                    <a:pt x="0" y="40660"/>
                    <a:pt x="11727" y="52388"/>
                    <a:pt x="26194" y="523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46" name="TextBox 46"/>
          <p:cNvSpPr txBox="1"/>
          <p:nvPr/>
        </p:nvSpPr>
        <p:spPr>
          <a:xfrm>
            <a:off x="1012508" y="3748564"/>
            <a:ext cx="7464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项目定位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46760" y="4213860"/>
            <a:ext cx="40789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F6C"/>
                </a:solidFill>
                <a:latin typeface="Arial"/>
                <a:ea typeface="Microsoft YaHei"/>
                <a:cs typeface="Arial"/>
              </a:rPr>
              <a:t>面向对象：</a:t>
            </a:r>
            <a:r>
              <a:rPr lang="zh-CN" sz="1200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 xml:space="preserve"> </a:t>
            </a:r>
            <a:r>
              <a:rPr lang="zh-CN" sz="1200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个人开发者和小型技术团队的知识型对话助手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46760" y="4518660"/>
            <a:ext cx="45590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F6C"/>
                </a:solidFill>
                <a:latin typeface="Arial"/>
                <a:ea typeface="Microsoft YaHei"/>
                <a:cs typeface="Arial"/>
              </a:rPr>
              <a:t>适用场景：</a:t>
            </a:r>
            <a:r>
              <a:rPr lang="zh-CN" sz="1200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 xml:space="preserve"> </a:t>
            </a:r>
            <a:r>
              <a:rPr lang="zh-CN" sz="1200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长期项目上下文维护、技术决策记录、个人偏好管理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46760" y="4823460"/>
            <a:ext cx="46470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F6C"/>
                </a:solidFill>
                <a:latin typeface="Arial"/>
                <a:ea typeface="Microsoft YaHei"/>
                <a:cs typeface="Arial"/>
              </a:rPr>
              <a:t>多模型接入：</a:t>
            </a:r>
            <a:r>
              <a:rPr lang="zh-CN" sz="1200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 xml:space="preserve"> </a:t>
            </a:r>
            <a:r>
              <a:rPr lang="zh-CN" sz="1200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Qwen / Kimi / MiniMax / GLM，适配不同推理需求</a:t>
            </a:r>
          </a:p>
        </p:txBody>
      </p:sp>
      <p:sp>
        <p:nvSpPr>
          <p:cNvPr id="50" name="Rectangle 5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003F6C"/>
              </a:gs>
              <a:gs pos="100000">
                <a:srgbClr val="00897B"/>
              </a:gs>
            </a:gsLst>
            <a:lin ang="0" scaled="1"/>
          </a:gra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11733562" y="66465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3F6C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003F6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8665" y="553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7270" y="407670"/>
            <a:ext cx="207721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3F6C"/>
                </a:solidFill>
                <a:latin typeface="Arial"/>
                <a:ea typeface="Microsoft YaHei"/>
                <a:cs typeface="Arial"/>
              </a:rPr>
              <a:t>系统架构设计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857250"/>
            <a:ext cx="3810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381000" y="1143000"/>
            <a:ext cx="342900" cy="1143000"/>
          </a:xfrm>
          <a:prstGeom prst="roundRect">
            <a:avLst>
              <a:gd name="adj" fmla="val 11111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87463" y="1693545"/>
            <a:ext cx="1299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14400" y="1143000"/>
            <a:ext cx="9144000" cy="1143000"/>
          </a:xfrm>
          <a:prstGeom prst="roundRect">
            <a:avLst>
              <a:gd name="adj" fmla="val 6667"/>
            </a:avLst>
          </a:prstGeom>
          <a:solidFill>
            <a:srgbClr val="EBF5FB"/>
          </a:solidFill>
          <a:ln w="9525">
            <a:solidFill>
              <a:srgbClr val="1565C0"/>
            </a:solidFill>
            <a:custDash>
              <a:ds d="600000" sp="400000"/>
            </a:custDash>
          </a:ln>
        </p:spPr>
      </p:sp>
      <p:sp>
        <p:nvSpPr>
          <p:cNvPr id="11" name="TextBox 11"/>
          <p:cNvSpPr txBox="1"/>
          <p:nvPr/>
        </p:nvSpPr>
        <p:spPr>
          <a:xfrm>
            <a:off x="1092518" y="1266349"/>
            <a:ext cx="8165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前端层 · SPA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104900" y="1485900"/>
            <a:ext cx="190500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282065" y="1601152"/>
            <a:ext cx="15409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React 19 + TypeScript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3970" y="1807845"/>
            <a:ext cx="11990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Vite 8 · Ant Design 6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162300" y="1485900"/>
            <a:ext cx="190500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339465" y="1601152"/>
            <a:ext cx="10705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Markdown 渲染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41370" y="1807845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react-markdown + KaTeX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219700" y="1485900"/>
            <a:ext cx="190500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396865" y="1601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代码高亮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98770" y="1807845"/>
            <a:ext cx="16130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shiki · react-router-dom 7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277100" y="1485900"/>
            <a:ext cx="190500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454265" y="1601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功能模块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56170" y="1807845"/>
            <a:ext cx="17210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登录注册 · 聊天 · API Explorer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81000" y="2476500"/>
            <a:ext cx="342900" cy="1143000"/>
          </a:xfrm>
          <a:prstGeom prst="roundRect">
            <a:avLst>
              <a:gd name="adj" fmla="val 11111"/>
            </a:avLst>
          </a:prstGeom>
          <a:solidFill>
            <a:srgbClr val="003F6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71711" y="3027045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26" name="Rectangle 26"/>
          <p:cNvSpPr/>
          <p:nvPr/>
        </p:nvSpPr>
        <p:spPr>
          <a:xfrm>
            <a:off x="914400" y="2476500"/>
            <a:ext cx="9144000" cy="1143000"/>
          </a:xfrm>
          <a:prstGeom prst="roundRect">
            <a:avLst>
              <a:gd name="adj" fmla="val 6667"/>
            </a:avLst>
          </a:prstGeom>
          <a:solidFill>
            <a:srgbClr val="E8EAF6">
              <a:alpha val="40000"/>
            </a:srgbClr>
          </a:solidFill>
          <a:ln w="9525">
            <a:solidFill>
              <a:srgbClr val="003F6C"/>
            </a:solidFill>
            <a:custDash>
              <a:ds d="600000" sp="400000"/>
            </a:custDash>
          </a:ln>
        </p:spPr>
      </p:sp>
      <p:sp>
        <p:nvSpPr>
          <p:cNvPr id="27" name="TextBox 27"/>
          <p:cNvSpPr txBox="1"/>
          <p:nvPr/>
        </p:nvSpPr>
        <p:spPr>
          <a:xfrm>
            <a:off x="1092518" y="2599849"/>
            <a:ext cx="12738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3F6C"/>
                </a:solidFill>
                <a:latin typeface="Arial"/>
                <a:ea typeface="Microsoft YaHei"/>
                <a:cs typeface="Arial"/>
              </a:rPr>
              <a:t>后端层 · API Server</a:t>
            </a:r>
          </a:p>
        </p:txBody>
      </p:sp>
      <p:sp>
        <p:nvSpPr>
          <p:cNvPr id="28" name="Rectangle 28"/>
          <p:cNvSpPr/>
          <p:nvPr/>
        </p:nvSpPr>
        <p:spPr>
          <a:xfrm>
            <a:off x="1104900" y="2819400"/>
            <a:ext cx="190500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282065" y="2934652"/>
            <a:ext cx="9308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FastAPI 0.115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83970" y="3141345"/>
            <a:ext cx="12590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Python 3.13 · uvicorn</a:t>
            </a:r>
          </a:p>
        </p:txBody>
      </p:sp>
      <p:sp>
        <p:nvSpPr>
          <p:cNvPr id="31" name="Rectangle 31"/>
          <p:cNvSpPr/>
          <p:nvPr/>
        </p:nvSpPr>
        <p:spPr>
          <a:xfrm>
            <a:off x="3162300" y="2819400"/>
            <a:ext cx="190500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339465" y="2934652"/>
            <a:ext cx="14895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SQLAlchemy 2.0 ORM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341370" y="3141345"/>
            <a:ext cx="10849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Alembic 数据库迁移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219700" y="2819400"/>
            <a:ext cx="190500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396865" y="2934652"/>
            <a:ext cx="7838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LLM 接入层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398770" y="3141345"/>
            <a:ext cx="9229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OpenAI 兼容 SDK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277100" y="2819400"/>
            <a:ext cx="190500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7454265" y="2934652"/>
            <a:ext cx="7838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13 路由模块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456170" y="3141345"/>
            <a:ext cx="18410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auth · chat · memory · project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81000" y="3810000"/>
            <a:ext cx="342900" cy="1143000"/>
          </a:xfrm>
          <a:prstGeom prst="roundRect">
            <a:avLst>
              <a:gd name="adj" fmla="val 11111"/>
            </a:avLst>
          </a:prstGeom>
          <a:solidFill>
            <a:srgbClr val="00897B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471711" y="4360545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42" name="Rectangle 42"/>
          <p:cNvSpPr/>
          <p:nvPr/>
        </p:nvSpPr>
        <p:spPr>
          <a:xfrm>
            <a:off x="914400" y="3810000"/>
            <a:ext cx="9144000" cy="1143000"/>
          </a:xfrm>
          <a:prstGeom prst="roundRect">
            <a:avLst>
              <a:gd name="adj" fmla="val 6667"/>
            </a:avLst>
          </a:prstGeom>
          <a:solidFill>
            <a:srgbClr val="E0F2F1">
              <a:alpha val="40000"/>
            </a:srgbClr>
          </a:solidFill>
          <a:ln w="9525">
            <a:solidFill>
              <a:srgbClr val="00897B"/>
            </a:solidFill>
            <a:custDash>
              <a:ds d="600000" sp="400000"/>
            </a:custDash>
          </a:ln>
        </p:spPr>
      </p:sp>
      <p:sp>
        <p:nvSpPr>
          <p:cNvPr id="43" name="TextBox 43"/>
          <p:cNvSpPr txBox="1"/>
          <p:nvPr/>
        </p:nvSpPr>
        <p:spPr>
          <a:xfrm>
            <a:off x="1092518" y="3933349"/>
            <a:ext cx="11169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897B"/>
                </a:solidFill>
                <a:latin typeface="Arial"/>
                <a:ea typeface="Microsoft YaHei"/>
                <a:cs typeface="Arial"/>
              </a:rPr>
              <a:t>数据层 · Storage</a:t>
            </a:r>
          </a:p>
        </p:txBody>
      </p:sp>
      <p:sp>
        <p:nvSpPr>
          <p:cNvPr id="44" name="Rectangle 44"/>
          <p:cNvSpPr/>
          <p:nvPr/>
        </p:nvSpPr>
        <p:spPr>
          <a:xfrm>
            <a:off x="1104900" y="4152900"/>
            <a:ext cx="266700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1282065" y="42681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关系数据库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83970" y="4474845"/>
            <a:ext cx="20331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SQLite (dev) · PostgreSQL (prod)</a:t>
            </a:r>
          </a:p>
        </p:txBody>
      </p:sp>
      <p:sp>
        <p:nvSpPr>
          <p:cNvPr id="47" name="Rectangle 47"/>
          <p:cNvSpPr/>
          <p:nvPr/>
        </p:nvSpPr>
        <p:spPr>
          <a:xfrm>
            <a:off x="3962400" y="4152900"/>
            <a:ext cx="266700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4139565" y="426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向量存储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141470" y="4474845"/>
            <a:ext cx="18170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pgvector · 1536 维 · 余弦相似度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819900" y="4152900"/>
            <a:ext cx="266700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6997065" y="4268152"/>
            <a:ext cx="7838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12 张数据表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998970" y="4474845"/>
            <a:ext cx="16430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内容哈希变更检测 · ORM 映射</a:t>
            </a:r>
          </a:p>
        </p:txBody>
      </p:sp>
      <p:sp>
        <p:nvSpPr>
          <p:cNvPr id="53" name="Rectangle 53"/>
          <p:cNvSpPr/>
          <p:nvPr/>
        </p:nvSpPr>
        <p:spPr>
          <a:xfrm>
            <a:off x="571500" y="5334000"/>
            <a:ext cx="11049000" cy="476250"/>
          </a:xfrm>
          <a:prstGeom prst="roundRect">
            <a:avLst>
              <a:gd name="adj" fmla="val 160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48665" y="5515928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请求流：</a:t>
            </a:r>
          </a:p>
        </p:txBody>
      </p:sp>
      <p:sp>
        <p:nvSpPr>
          <p:cNvPr id="55" name="Rectangle 55"/>
          <p:cNvSpPr/>
          <p:nvPr/>
        </p:nvSpPr>
        <p:spPr>
          <a:xfrm>
            <a:off x="1524000" y="5429250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1857552" y="5514499"/>
            <a:ext cx="6663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React SPA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956560" y="5509260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58" name="Rectangle 58"/>
          <p:cNvSpPr/>
          <p:nvPr/>
        </p:nvSpPr>
        <p:spPr>
          <a:xfrm>
            <a:off x="3143250" y="5429250"/>
            <a:ext cx="1619250" cy="285750"/>
          </a:xfrm>
          <a:prstGeom prst="roundRect">
            <a:avLst>
              <a:gd name="adj" fmla="val 20000"/>
            </a:avLst>
          </a:prstGeom>
          <a:solidFill>
            <a:srgbClr val="003F6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3619677" y="5514499"/>
            <a:ext cx="6663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API 路由层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861560" y="5509260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61" name="Rectangle 61"/>
          <p:cNvSpPr/>
          <p:nvPr/>
        </p:nvSpPr>
        <p:spPr>
          <a:xfrm>
            <a:off x="5048250" y="5429250"/>
            <a:ext cx="1619250" cy="285750"/>
          </a:xfrm>
          <a:prstGeom prst="roundRect">
            <a:avLst>
              <a:gd name="adj" fmla="val 20000"/>
            </a:avLst>
          </a:prstGeom>
          <a:solidFill>
            <a:srgbClr val="003F6C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5504200" y="5514499"/>
            <a:ext cx="707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业务服务层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766560" y="5509260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953250" y="5429250"/>
            <a:ext cx="1619250" cy="285750"/>
          </a:xfrm>
          <a:prstGeom prst="roundRect">
            <a:avLst>
              <a:gd name="adj" fmla="val 20000"/>
            </a:avLst>
          </a:prstGeom>
          <a:solidFill>
            <a:srgbClr val="00897B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7409200" y="5514499"/>
            <a:ext cx="707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数据访问层</a:t>
            </a:r>
          </a:p>
        </p:txBody>
      </p:sp>
      <p:sp>
        <p:nvSpPr>
          <p:cNvPr id="66" name="Rectangle 6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003F6C"/>
              </a:gs>
              <a:gs pos="100000">
                <a:srgbClr val="00897B"/>
              </a:gs>
            </a:gsLst>
            <a:lin ang="0" scaled="1"/>
          </a:gra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11733562" y="66465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3F6C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28575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003F6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8665" y="4200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1080" y="306705"/>
            <a:ext cx="269967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3F6C"/>
                </a:solidFill>
                <a:latin typeface="Arial"/>
                <a:ea typeface="Microsoft YaHei"/>
                <a:cs typeface="Arial"/>
              </a:rPr>
              <a:t>核心功能：记忆系统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704850"/>
            <a:ext cx="3810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857250"/>
            <a:ext cx="3524250" cy="514350"/>
          </a:xfrm>
          <a:prstGeom prst="roundRect">
            <a:avLst>
              <a:gd name="adj" fmla="val 11111"/>
            </a:avLst>
          </a:prstGeom>
          <a:solidFill>
            <a:srgbClr val="EBF5FB"/>
          </a:solidFill>
          <a:ln w="9525">
            <a:solidFill>
              <a:srgbClr val="1565C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857250"/>
            <a:ext cx="76200" cy="51435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66762" y="945356"/>
            <a:ext cx="8319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Global 全局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9620" y="1160145"/>
            <a:ext cx="13370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跨所有对话/项目，≤4 条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286250" y="857250"/>
            <a:ext cx="3524250" cy="514350"/>
          </a:xfrm>
          <a:prstGeom prst="roundRect">
            <a:avLst>
              <a:gd name="adj" fmla="val 11111"/>
            </a:avLst>
          </a:prstGeom>
          <a:solidFill>
            <a:srgbClr val="E0F2F1"/>
          </a:solidFill>
          <a:ln w="9525">
            <a:solidFill>
              <a:srgbClr val="00897B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286250" y="857250"/>
            <a:ext cx="76200" cy="514350"/>
          </a:xfrm>
          <a:prstGeom prst="roundRect">
            <a:avLst>
              <a:gd name="adj" fmla="val 50000"/>
            </a:avLst>
          </a:prstGeom>
          <a:solidFill>
            <a:srgbClr val="00897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481512" y="945356"/>
            <a:ext cx="9579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897B"/>
                </a:solidFill>
                <a:latin typeface="Arial"/>
                <a:ea typeface="Microsoft YaHei"/>
                <a:cs typeface="Arial"/>
              </a:rPr>
              <a:t>Project 项目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84370" y="1160145"/>
            <a:ext cx="10309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项目内共享，≤6 条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001000" y="857250"/>
            <a:ext cx="3524250" cy="514350"/>
          </a:xfrm>
          <a:prstGeom prst="roundRect">
            <a:avLst>
              <a:gd name="adj" fmla="val 11111"/>
            </a:avLst>
          </a:prstGeom>
          <a:solidFill>
            <a:srgbClr val="F3E5F5">
              <a:alpha val="50000"/>
            </a:srgbClr>
          </a:solidFill>
          <a:ln w="9525">
            <a:solidFill>
              <a:srgbClr val="6A1B9A">
                <a:alpha val="40000"/>
              </a:srgbClr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001000" y="857250"/>
            <a:ext cx="76200" cy="514350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196262" y="945356"/>
            <a:ext cx="139112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A1B9A"/>
                </a:solidFill>
                <a:latin typeface="Arial"/>
                <a:ea typeface="Microsoft YaHei"/>
                <a:cs typeface="Arial"/>
              </a:rPr>
              <a:t>Conversation 会话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99120" y="1160145"/>
            <a:ext cx="15290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单对话，≤6 条 · 优先级最高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1524000"/>
            <a:ext cx="11049000" cy="161925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48665" y="1639252"/>
            <a:ext cx="10557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3F6C"/>
                </a:solidFill>
                <a:latin typeface="Arial"/>
                <a:ea typeface="Microsoft YaHei"/>
                <a:cs typeface="Arial"/>
              </a:rPr>
              <a:t>自动提取流水线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62000" y="1905000"/>
            <a:ext cx="1809750" cy="571500"/>
          </a:xfrm>
          <a:prstGeom prst="roundRect">
            <a:avLst>
              <a:gd name="adj" fmla="val 10000"/>
            </a:avLst>
          </a:prstGeom>
          <a:solidFill>
            <a:srgbClr val="003F6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41070" y="2017395"/>
            <a:ext cx="6340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① 检测意图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2022" y="2235041"/>
            <a:ext cx="9120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"请记住"等关键词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649855" y="2102168"/>
            <a:ext cx="1333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26" name="Rectangle 26"/>
          <p:cNvSpPr/>
          <p:nvPr/>
        </p:nvSpPr>
        <p:spPr>
          <a:xfrm>
            <a:off x="2857500" y="1905000"/>
            <a:ext cx="1809750" cy="571500"/>
          </a:xfrm>
          <a:prstGeom prst="roundRect">
            <a:avLst>
              <a:gd name="adj" fmla="val 1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036570" y="201739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② LLM 评估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037522" y="2235041"/>
            <a:ext cx="101107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非显式消息异步评估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745355" y="2102168"/>
            <a:ext cx="1333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953000" y="1905000"/>
            <a:ext cx="1809750" cy="571500"/>
          </a:xfrm>
          <a:prstGeom prst="roundRect">
            <a:avLst>
              <a:gd name="adj" fmla="val 10000"/>
            </a:avLst>
          </a:prstGeom>
          <a:solidFill>
            <a:srgbClr val="00897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132070" y="2017395"/>
            <a:ext cx="7600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③ 结构化候选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133022" y="2235041"/>
            <a:ext cx="101657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JSON (kind/scope)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40855" y="2102168"/>
            <a:ext cx="1333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048500" y="1905000"/>
            <a:ext cx="1809750" cy="571500"/>
          </a:xfrm>
          <a:prstGeom prst="roundRect">
            <a:avLst>
              <a:gd name="adj" fmla="val 10000"/>
            </a:avLst>
          </a:prstGeom>
          <a:solidFill>
            <a:srgbClr val="6A1B9A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227570" y="2017395"/>
            <a:ext cx="6340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④ 敏感过滤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228522" y="2235041"/>
            <a:ext cx="107158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密码/证件号自动过滤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936355" y="2102168"/>
            <a:ext cx="1333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38" name="Rectangle 38"/>
          <p:cNvSpPr/>
          <p:nvPr/>
        </p:nvSpPr>
        <p:spPr>
          <a:xfrm>
            <a:off x="9144000" y="1905000"/>
            <a:ext cx="1809750" cy="57150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323070" y="2017395"/>
            <a:ext cx="6340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⑤ 去重审核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324022" y="2235041"/>
            <a:ext cx="9615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精确匹配/身份匹配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50570" y="2760345"/>
            <a:ext cx="63356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3F6C"/>
                </a:solidFill>
                <a:latin typeface="Arial"/>
                <a:ea typeface="Microsoft YaHei"/>
                <a:cs typeface="Arial"/>
              </a:rPr>
              <a:t>候选审核：</a:t>
            </a:r>
            <a:r>
              <a:rPr lang="zh-CN" sz="90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 xml:space="preserve"> </a:t>
            </a:r>
            <a:r>
              <a:rPr lang="zh-CN" sz="90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高置信度(≥85)内联卡片展示 · 普通候选设置面板待审核 · 会话级可自动接受 · 用户操作：接受/忽略/推迟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" y="3286125"/>
            <a:ext cx="53340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571500" y="3286125"/>
            <a:ext cx="5334000" cy="342900"/>
          </a:xfrm>
          <a:prstGeom prst="roundRect">
            <a:avLst>
              <a:gd name="adj" fmla="val 22222"/>
            </a:avLst>
          </a:prstGeom>
          <a:solidFill>
            <a:srgbClr val="003F6C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571500" y="3514725"/>
            <a:ext cx="5334000" cy="114300"/>
          </a:xfrm>
          <a:prstGeom prst="rect">
            <a:avLst/>
          </a:prstGeom>
          <a:solidFill>
            <a:srgbClr val="003F6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748665" y="34109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记忆分类体系</a:t>
            </a:r>
          </a:p>
        </p:txBody>
      </p:sp>
      <p:sp>
        <p:nvSpPr>
          <p:cNvPr id="46" name="Rectangle 46"/>
          <p:cNvSpPr/>
          <p:nvPr/>
        </p:nvSpPr>
        <p:spPr>
          <a:xfrm>
            <a:off x="762000" y="3771900"/>
            <a:ext cx="857250" cy="266700"/>
          </a:xfrm>
          <a:prstGeom prst="roundRect">
            <a:avLst>
              <a:gd name="adj" fmla="val 50000"/>
            </a:avLst>
          </a:prstGeom>
          <a:solidFill>
            <a:srgbClr val="EBF5FB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895660" y="3846195"/>
            <a:ext cx="5899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fact 事实</a:t>
            </a:r>
          </a:p>
        </p:txBody>
      </p:sp>
      <p:sp>
        <p:nvSpPr>
          <p:cNvPr id="48" name="Rectangle 48"/>
          <p:cNvSpPr/>
          <p:nvPr/>
        </p:nvSpPr>
        <p:spPr>
          <a:xfrm>
            <a:off x="1714500" y="3771900"/>
            <a:ext cx="1047750" cy="2667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735484" y="3846195"/>
            <a:ext cx="10057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897B"/>
                </a:solidFill>
                <a:latin typeface="Arial"/>
                <a:ea typeface="Microsoft YaHei"/>
                <a:cs typeface="Arial"/>
              </a:rPr>
              <a:t>preference 偏好</a:t>
            </a:r>
          </a:p>
        </p:txBody>
      </p:sp>
      <p:sp>
        <p:nvSpPr>
          <p:cNvPr id="50" name="Rectangle 50"/>
          <p:cNvSpPr/>
          <p:nvPr/>
        </p:nvSpPr>
        <p:spPr>
          <a:xfrm>
            <a:off x="2857500" y="3771900"/>
            <a:ext cx="952500" cy="266700"/>
          </a:xfrm>
          <a:prstGeom prst="roundRect">
            <a:avLst>
              <a:gd name="adj" fmla="val 50000"/>
            </a:avLst>
          </a:prstGeom>
          <a:solidFill>
            <a:srgbClr val="FFF3E0">
              <a:alpha val="60000"/>
            </a:srgbClr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2950574" y="3846195"/>
            <a:ext cx="7663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project 项目</a:t>
            </a:r>
          </a:p>
        </p:txBody>
      </p:sp>
      <p:sp>
        <p:nvSpPr>
          <p:cNvPr id="52" name="Rectangle 52"/>
          <p:cNvSpPr/>
          <p:nvPr/>
        </p:nvSpPr>
        <p:spPr>
          <a:xfrm>
            <a:off x="3905250" y="3771900"/>
            <a:ext cx="762000" cy="266700"/>
          </a:xfrm>
          <a:prstGeom prst="roundRect">
            <a:avLst>
              <a:gd name="adj" fmla="val 50000"/>
            </a:avLst>
          </a:prstGeom>
          <a:solidFill>
            <a:srgbClr val="F3E5F5">
              <a:alpha val="50000"/>
            </a:srgbClr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4007037" y="3846195"/>
            <a:ext cx="5584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6A1B9A"/>
                </a:solidFill>
                <a:latin typeface="Arial"/>
                <a:ea typeface="Microsoft YaHei"/>
                <a:cs typeface="Arial"/>
              </a:rPr>
              <a:t>tool 工具</a:t>
            </a:r>
          </a:p>
        </p:txBody>
      </p:sp>
      <p:sp>
        <p:nvSpPr>
          <p:cNvPr id="54" name="Rectangle 54"/>
          <p:cNvSpPr/>
          <p:nvPr/>
        </p:nvSpPr>
        <p:spPr>
          <a:xfrm>
            <a:off x="4762500" y="3771900"/>
            <a:ext cx="952500" cy="266700"/>
          </a:xfrm>
          <a:prstGeom prst="roundRect">
            <a:avLst>
              <a:gd name="adj" fmla="val 50000"/>
            </a:avLst>
          </a:prstGeom>
          <a:solidFill>
            <a:srgbClr val="FFEBEE">
              <a:alpha val="50000"/>
            </a:srgbClr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4836671" y="3846195"/>
            <a:ext cx="8041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decision 决策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49618" y="427624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每条记忆包含：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50570" y="4512945"/>
            <a:ext cx="36593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F6368"/>
                </a:solidFill>
                <a:latin typeface="Consolas"/>
                <a:ea typeface="Microsoft YaHei"/>
                <a:cs typeface="Consolas"/>
              </a:rPr>
              <a:t>content · kind · scope · confidence · importance · sensitivity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096000" y="3286125"/>
            <a:ext cx="55245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59" name="Rectangle 59"/>
          <p:cNvSpPr/>
          <p:nvPr/>
        </p:nvSpPr>
        <p:spPr>
          <a:xfrm>
            <a:off x="6096000" y="3286125"/>
            <a:ext cx="5524500" cy="342900"/>
          </a:xfrm>
          <a:prstGeom prst="roundRect">
            <a:avLst>
              <a:gd name="adj" fmla="val 22222"/>
            </a:avLst>
          </a:prstGeom>
          <a:solidFill>
            <a:srgbClr val="00897B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096000" y="3514725"/>
            <a:ext cx="5524500" cy="114300"/>
          </a:xfrm>
          <a:prstGeom prst="rect">
            <a:avLst/>
          </a:prstGeom>
          <a:solidFill>
            <a:srgbClr val="00897B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273165" y="3410902"/>
            <a:ext cx="10557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上下文注入策略</a:t>
            </a:r>
          </a:p>
        </p:txBody>
      </p:sp>
      <p:sp>
        <p:nvSpPr>
          <p:cNvPr id="62" name="Ellipse 62"/>
          <p:cNvSpPr/>
          <p:nvPr/>
        </p:nvSpPr>
        <p:spPr>
          <a:xfrm>
            <a:off x="6334125" y="3819525"/>
            <a:ext cx="57150" cy="5715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464618" y="3790474"/>
            <a:ext cx="24235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记忆以系统消息形式注入 LLM 对话上下文</a:t>
            </a:r>
          </a:p>
        </p:txBody>
      </p:sp>
      <p:sp>
        <p:nvSpPr>
          <p:cNvPr id="64" name="Ellipse 64"/>
          <p:cNvSpPr/>
          <p:nvPr/>
        </p:nvSpPr>
        <p:spPr>
          <a:xfrm>
            <a:off x="6334125" y="4105275"/>
            <a:ext cx="57150" cy="5715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6464618" y="4076224"/>
            <a:ext cx="23195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优先使用 AI 聚合记忆文档 (Markdown)</a:t>
            </a:r>
          </a:p>
        </p:txBody>
      </p:sp>
      <p:sp>
        <p:nvSpPr>
          <p:cNvPr id="66" name="Ellipse 66"/>
          <p:cNvSpPr/>
          <p:nvPr/>
        </p:nvSpPr>
        <p:spPr>
          <a:xfrm>
            <a:off x="6334125" y="4391025"/>
            <a:ext cx="57150" cy="5715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6464618" y="4361974"/>
            <a:ext cx="20010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pgvector 可用 → 语义 Top-K 检索</a:t>
            </a:r>
          </a:p>
        </p:txBody>
      </p:sp>
      <p:sp>
        <p:nvSpPr>
          <p:cNvPr id="68" name="Ellipse 68"/>
          <p:cNvSpPr/>
          <p:nvPr/>
        </p:nvSpPr>
        <p:spPr>
          <a:xfrm>
            <a:off x="6334125" y="4676775"/>
            <a:ext cx="57150" cy="5715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6464618" y="4647724"/>
            <a:ext cx="28981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仅 SQLite → 按时间排序降级 · 注入不阻塞 SSE 流</a:t>
            </a:r>
          </a:p>
        </p:txBody>
      </p:sp>
      <p:sp>
        <p:nvSpPr>
          <p:cNvPr id="70" name="Rectangle 7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003F6C"/>
              </a:gs>
              <a:gs pos="100000">
                <a:srgbClr val="00897B"/>
              </a:gs>
            </a:gsLst>
            <a:lin ang="0" scaled="1"/>
          </a:gra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11733562" y="66465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3F6C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003F6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8665" y="553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7270" y="407670"/>
            <a:ext cx="174117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3F6C"/>
                </a:solidFill>
                <a:latin typeface="Arial"/>
                <a:ea typeface="Microsoft YaHei"/>
                <a:cs typeface="Arial"/>
              </a:rPr>
              <a:t>企业级特性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857250"/>
            <a:ext cx="3810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143000"/>
            <a:ext cx="542925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143000"/>
            <a:ext cx="5429250" cy="400050"/>
          </a:xfrm>
          <a:prstGeom prst="roundRect">
            <a:avLst>
              <a:gd name="adj" fmla="val 19048"/>
            </a:avLst>
          </a:prstGeom>
          <a:solidFill>
            <a:srgbClr val="003F6C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409700"/>
            <a:ext cx="5429250" cy="133350"/>
          </a:xfrm>
          <a:prstGeom prst="rect">
            <a:avLst/>
          </a:prstGeom>
          <a:solidFill>
            <a:srgbClr val="003F6C"/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723900" y="123825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104775" y="209550"/>
                </a:moveTo>
                <a:cubicBezTo>
                  <a:pt x="162641" y="209550"/>
                  <a:pt x="209550" y="162641"/>
                  <a:pt x="209550" y="104775"/>
                </a:cubicBezTo>
                <a:cubicBezTo>
                  <a:pt x="209550" y="46909"/>
                  <a:pt x="162641" y="0"/>
                  <a:pt x="104775" y="0"/>
                </a:cubicBezTo>
                <a:cubicBezTo>
                  <a:pt x="46909" y="0"/>
                  <a:pt x="0" y="46909"/>
                  <a:pt x="0" y="104775"/>
                </a:cubicBezTo>
                <a:cubicBezTo>
                  <a:pt x="0" y="162641"/>
                  <a:pt x="46909" y="209550"/>
                  <a:pt x="104775" y="209550"/>
                </a:cubicBezTo>
                <a:close/>
                <a:moveTo>
                  <a:pt x="91678" y="39291"/>
                </a:moveTo>
                <a:lnTo>
                  <a:pt x="91678" y="110200"/>
                </a:lnTo>
                <a:lnTo>
                  <a:pt x="134805" y="153326"/>
                </a:lnTo>
                <a:lnTo>
                  <a:pt x="153326" y="134805"/>
                </a:lnTo>
                <a:lnTo>
                  <a:pt x="117872" y="99350"/>
                </a:lnTo>
                <a:lnTo>
                  <a:pt x="117872" y="39291"/>
                </a:lnTo>
                <a:lnTo>
                  <a:pt x="91678" y="3929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93458" y="1272064"/>
            <a:ext cx="11035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记忆版本追踪</a:t>
            </a:r>
          </a:p>
        </p:txBody>
      </p:sp>
      <p:sp>
        <p:nvSpPr>
          <p:cNvPr id="13" name="Ellipse 13"/>
          <p:cNvSpPr/>
          <p:nvPr/>
        </p:nvSpPr>
        <p:spPr>
          <a:xfrm>
            <a:off x="809625" y="1781175"/>
            <a:ext cx="57150" cy="5715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38212" y="1735931"/>
            <a:ext cx="25788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每次变更创建版本快照，链表结构追溯</a:t>
            </a:r>
          </a:p>
        </p:txBody>
      </p:sp>
      <p:sp>
        <p:nvSpPr>
          <p:cNvPr id="15" name="Ellipse 15"/>
          <p:cNvSpPr/>
          <p:nvPr/>
        </p:nvSpPr>
        <p:spPr>
          <a:xfrm>
            <a:off x="809625" y="2085975"/>
            <a:ext cx="57150" cy="5715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38212" y="2040731"/>
            <a:ext cx="25713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version_number 递增，记录变更原因</a:t>
            </a:r>
          </a:p>
        </p:txBody>
      </p:sp>
      <p:sp>
        <p:nvSpPr>
          <p:cNvPr id="17" name="Ellipse 17"/>
          <p:cNvSpPr/>
          <p:nvPr/>
        </p:nvSpPr>
        <p:spPr>
          <a:xfrm>
            <a:off x="809625" y="2390775"/>
            <a:ext cx="57150" cy="5715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38212" y="2345531"/>
            <a:ext cx="15287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完整回溯任意历史版本</a:t>
            </a:r>
          </a:p>
        </p:txBody>
      </p:sp>
      <p:sp>
        <p:nvSpPr>
          <p:cNvPr id="19" name="Ellipse 19"/>
          <p:cNvSpPr/>
          <p:nvPr/>
        </p:nvSpPr>
        <p:spPr>
          <a:xfrm>
            <a:off x="809625" y="2695575"/>
            <a:ext cx="57150" cy="5715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38212" y="2650331"/>
            <a:ext cx="28789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支持 create / update / delete / archive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191250" y="1143000"/>
            <a:ext cx="542925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191250" y="1143000"/>
            <a:ext cx="5429250" cy="400050"/>
          </a:xfrm>
          <a:prstGeom prst="roundRect">
            <a:avLst>
              <a:gd name="adj" fmla="val 19048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6191250" y="1409700"/>
            <a:ext cx="5429250" cy="1333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6356747" y="1238250"/>
            <a:ext cx="183356" cy="209550"/>
          </a:xfrm>
          <a:custGeom>
            <a:avLst/>
            <a:gdLst/>
            <a:ahLst/>
            <a:cxnLst/>
            <a:rect l="l" t="t" r="r" b="b"/>
            <a:pathLst>
              <a:path w="183356" h="209550">
                <a:moveTo>
                  <a:pt x="91678" y="209550"/>
                </a:moveTo>
                <a:lnTo>
                  <a:pt x="43876" y="175405"/>
                </a:lnTo>
                <a:cubicBezTo>
                  <a:pt x="16341" y="155738"/>
                  <a:pt x="0" y="123984"/>
                  <a:pt x="0" y="90147"/>
                </a:cubicBezTo>
                <a:lnTo>
                  <a:pt x="0" y="39291"/>
                </a:lnTo>
                <a:lnTo>
                  <a:pt x="91678" y="0"/>
                </a:lnTo>
                <a:lnTo>
                  <a:pt x="183356" y="39291"/>
                </a:lnTo>
                <a:lnTo>
                  <a:pt x="183356" y="90147"/>
                </a:lnTo>
                <a:cubicBezTo>
                  <a:pt x="183356" y="123984"/>
                  <a:pt x="167015" y="155738"/>
                  <a:pt x="139480" y="175405"/>
                </a:cubicBezTo>
                <a:lnTo>
                  <a:pt x="91678" y="209550"/>
                </a:lnTo>
                <a:close/>
                <a:moveTo>
                  <a:pt x="146778" y="74745"/>
                </a:moveTo>
                <a:lnTo>
                  <a:pt x="128256" y="56223"/>
                </a:lnTo>
                <a:lnTo>
                  <a:pt x="78581" y="105899"/>
                </a:lnTo>
                <a:lnTo>
                  <a:pt x="55100" y="82417"/>
                </a:lnTo>
                <a:lnTo>
                  <a:pt x="36578" y="100939"/>
                </a:lnTo>
                <a:lnTo>
                  <a:pt x="78581" y="142942"/>
                </a:lnTo>
                <a:lnTo>
                  <a:pt x="146778" y="747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613208" y="1272064"/>
            <a:ext cx="11035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操作审计合规</a:t>
            </a:r>
          </a:p>
        </p:txBody>
      </p:sp>
      <p:sp>
        <p:nvSpPr>
          <p:cNvPr id="26" name="Ellipse 26"/>
          <p:cNvSpPr/>
          <p:nvPr/>
        </p:nvSpPr>
        <p:spPr>
          <a:xfrm>
            <a:off x="6429375" y="1781175"/>
            <a:ext cx="57150" cy="57150"/>
          </a:xfrm>
          <a:prstGeom prst="ellipse">
            <a:avLst/>
          </a:prstGeom>
          <a:solidFill>
            <a:srgbClr val="003F6C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557962" y="1735931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所有记忆操作记录审计日志</a:t>
            </a:r>
          </a:p>
        </p:txBody>
      </p:sp>
      <p:sp>
        <p:nvSpPr>
          <p:cNvPr id="28" name="Ellipse 28"/>
          <p:cNvSpPr/>
          <p:nvPr/>
        </p:nvSpPr>
        <p:spPr>
          <a:xfrm>
            <a:off x="6429375" y="2085975"/>
            <a:ext cx="57150" cy="57150"/>
          </a:xfrm>
          <a:prstGeom prst="ellipse">
            <a:avLst/>
          </a:prstGeom>
          <a:solidFill>
            <a:srgbClr val="003F6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557962" y="2040731"/>
            <a:ext cx="28339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捕获变更前后状态 (before/after JSON)</a:t>
            </a:r>
          </a:p>
        </p:txBody>
      </p:sp>
      <p:sp>
        <p:nvSpPr>
          <p:cNvPr id="30" name="Ellipse 30"/>
          <p:cNvSpPr/>
          <p:nvPr/>
        </p:nvSpPr>
        <p:spPr>
          <a:xfrm>
            <a:off x="6429375" y="2390775"/>
            <a:ext cx="57150" cy="57150"/>
          </a:xfrm>
          <a:prstGeom prst="ellipse">
            <a:avLst/>
          </a:prstGeom>
          <a:solidFill>
            <a:srgbClr val="003F6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557962" y="2345531"/>
            <a:ext cx="28564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区分操作来源：manual / api / automatic</a:t>
            </a:r>
          </a:p>
        </p:txBody>
      </p:sp>
      <p:sp>
        <p:nvSpPr>
          <p:cNvPr id="32" name="Ellipse 32"/>
          <p:cNvSpPr/>
          <p:nvPr/>
        </p:nvSpPr>
        <p:spPr>
          <a:xfrm>
            <a:off x="6429375" y="2695575"/>
            <a:ext cx="57150" cy="57150"/>
          </a:xfrm>
          <a:prstGeom prst="ellipse">
            <a:avLst/>
          </a:prstGeom>
          <a:solidFill>
            <a:srgbClr val="003F6C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557962" y="2650331"/>
            <a:ext cx="14687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记录 IP 地址和请求 ID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3810000"/>
            <a:ext cx="542925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571500" y="3810000"/>
            <a:ext cx="5429250" cy="400050"/>
          </a:xfrm>
          <a:prstGeom prst="roundRect">
            <a:avLst>
              <a:gd name="adj" fmla="val 19048"/>
            </a:avLst>
          </a:prstGeom>
          <a:solidFill>
            <a:srgbClr val="00897B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571500" y="4076700"/>
            <a:ext cx="5429250" cy="133350"/>
          </a:xfrm>
          <a:prstGeom prst="rect">
            <a:avLst/>
          </a:prstGeom>
          <a:solidFill>
            <a:srgbClr val="00897B"/>
          </a:solidFill>
          <a:ln>
            <a:noFill/>
          </a:ln>
        </p:spPr>
      </p:sp>
      <p:sp>
        <p:nvSpPr>
          <p:cNvPr id="37" name="Freeform 37"/>
          <p:cNvSpPr/>
          <p:nvPr/>
        </p:nvSpPr>
        <p:spPr>
          <a:xfrm>
            <a:off x="750094" y="3905250"/>
            <a:ext cx="157162" cy="209550"/>
          </a:xfrm>
          <a:custGeom>
            <a:avLst/>
            <a:gdLst/>
            <a:ahLst/>
            <a:cxnLst/>
            <a:rect l="l" t="t" r="r" b="b"/>
            <a:pathLst>
              <a:path w="157162" h="209550">
                <a:moveTo>
                  <a:pt x="26194" y="78581"/>
                </a:moveTo>
                <a:lnTo>
                  <a:pt x="26194" y="52388"/>
                </a:lnTo>
                <a:cubicBezTo>
                  <a:pt x="26194" y="23455"/>
                  <a:pt x="49648" y="0"/>
                  <a:pt x="78581" y="0"/>
                </a:cubicBezTo>
                <a:cubicBezTo>
                  <a:pt x="107514" y="0"/>
                  <a:pt x="130969" y="23455"/>
                  <a:pt x="130969" y="52388"/>
                </a:cubicBezTo>
                <a:lnTo>
                  <a:pt x="130969" y="78581"/>
                </a:lnTo>
                <a:lnTo>
                  <a:pt x="157162" y="78581"/>
                </a:lnTo>
                <a:lnTo>
                  <a:pt x="157162" y="209550"/>
                </a:lnTo>
                <a:lnTo>
                  <a:pt x="0" y="209550"/>
                </a:lnTo>
                <a:lnTo>
                  <a:pt x="0" y="78581"/>
                </a:lnTo>
                <a:lnTo>
                  <a:pt x="26194" y="78581"/>
                </a:lnTo>
                <a:close/>
                <a:moveTo>
                  <a:pt x="52388" y="52388"/>
                </a:moveTo>
                <a:cubicBezTo>
                  <a:pt x="52388" y="37921"/>
                  <a:pt x="64115" y="26194"/>
                  <a:pt x="78581" y="26194"/>
                </a:cubicBezTo>
                <a:cubicBezTo>
                  <a:pt x="93048" y="26194"/>
                  <a:pt x="104775" y="37921"/>
                  <a:pt x="104775" y="52388"/>
                </a:cubicBezTo>
                <a:lnTo>
                  <a:pt x="104775" y="78581"/>
                </a:lnTo>
                <a:lnTo>
                  <a:pt x="52388" y="78581"/>
                </a:lnTo>
                <a:lnTo>
                  <a:pt x="52388" y="52388"/>
                </a:lnTo>
                <a:close/>
                <a:moveTo>
                  <a:pt x="65484" y="170259"/>
                </a:moveTo>
                <a:lnTo>
                  <a:pt x="65484" y="117872"/>
                </a:lnTo>
                <a:lnTo>
                  <a:pt x="91678" y="117872"/>
                </a:lnTo>
                <a:lnTo>
                  <a:pt x="91678" y="170259"/>
                </a:lnTo>
                <a:lnTo>
                  <a:pt x="65484" y="17025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93458" y="3939064"/>
            <a:ext cx="9249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认证与安全</a:t>
            </a:r>
          </a:p>
        </p:txBody>
      </p:sp>
      <p:sp>
        <p:nvSpPr>
          <p:cNvPr id="39" name="Ellipse 39"/>
          <p:cNvSpPr/>
          <p:nvPr/>
        </p:nvSpPr>
        <p:spPr>
          <a:xfrm>
            <a:off x="809625" y="4448175"/>
            <a:ext cx="57150" cy="5715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38212" y="4402931"/>
            <a:ext cx="189630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scrypt 密码哈希 + 16B 盐值</a:t>
            </a:r>
          </a:p>
        </p:txBody>
      </p:sp>
      <p:sp>
        <p:nvSpPr>
          <p:cNvPr id="41" name="Ellipse 41"/>
          <p:cNvSpPr/>
          <p:nvPr/>
        </p:nvSpPr>
        <p:spPr>
          <a:xfrm>
            <a:off x="809625" y="4752975"/>
            <a:ext cx="57150" cy="5715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38212" y="4707731"/>
            <a:ext cx="20313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Bearer Token (SHA256 存储)</a:t>
            </a:r>
          </a:p>
        </p:txBody>
      </p:sp>
      <p:sp>
        <p:nvSpPr>
          <p:cNvPr id="43" name="Ellipse 43"/>
          <p:cNvSpPr/>
          <p:nvPr/>
        </p:nvSpPr>
        <p:spPr>
          <a:xfrm>
            <a:off x="809625" y="5057775"/>
            <a:ext cx="57150" cy="5715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938212" y="5012531"/>
            <a:ext cx="21588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所有查询强制 user_id 数据隔离</a:t>
            </a:r>
          </a:p>
        </p:txBody>
      </p:sp>
      <p:sp>
        <p:nvSpPr>
          <p:cNvPr id="45" name="Ellipse 45"/>
          <p:cNvSpPr/>
          <p:nvPr/>
        </p:nvSpPr>
        <p:spPr>
          <a:xfrm>
            <a:off x="809625" y="5362575"/>
            <a:ext cx="57150" cy="5715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938212" y="5317331"/>
            <a:ext cx="302144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文件上传限制：≤6 附件/消息，单文件 ≤10MB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191250" y="3810000"/>
            <a:ext cx="542925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6191250" y="3810000"/>
            <a:ext cx="5429250" cy="400050"/>
          </a:xfrm>
          <a:prstGeom prst="roundRect">
            <a:avLst>
              <a:gd name="adj" fmla="val 19048"/>
            </a:avLst>
          </a:prstGeom>
          <a:solidFill>
            <a:srgbClr val="6A1B9A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6191250" y="4076700"/>
            <a:ext cx="5429250" cy="133350"/>
          </a:xfrm>
          <a:prstGeom prst="rect">
            <a:avLst/>
          </a:prstGeom>
          <a:solidFill>
            <a:srgbClr val="6A1B9A"/>
          </a:solidFill>
          <a:ln>
            <a:noFill/>
          </a:ln>
        </p:spPr>
      </p:sp>
      <p:sp>
        <p:nvSpPr>
          <p:cNvPr id="50" name="Freeform 50"/>
          <p:cNvSpPr/>
          <p:nvPr/>
        </p:nvSpPr>
        <p:spPr>
          <a:xfrm>
            <a:off x="6356747" y="3905250"/>
            <a:ext cx="183356" cy="209550"/>
          </a:xfrm>
          <a:custGeom>
            <a:avLst/>
            <a:gdLst/>
            <a:ahLst/>
            <a:cxnLst/>
            <a:rect l="l" t="t" r="r" b="b"/>
            <a:pathLst>
              <a:path w="183356" h="209550">
                <a:moveTo>
                  <a:pt x="65484" y="0"/>
                </a:moveTo>
                <a:lnTo>
                  <a:pt x="65484" y="52388"/>
                </a:lnTo>
                <a:lnTo>
                  <a:pt x="117872" y="52388"/>
                </a:lnTo>
                <a:lnTo>
                  <a:pt x="117872" y="0"/>
                </a:lnTo>
                <a:lnTo>
                  <a:pt x="144066" y="0"/>
                </a:lnTo>
                <a:lnTo>
                  <a:pt x="144066" y="52388"/>
                </a:lnTo>
                <a:lnTo>
                  <a:pt x="183356" y="52388"/>
                </a:lnTo>
                <a:lnTo>
                  <a:pt x="183356" y="78581"/>
                </a:lnTo>
                <a:lnTo>
                  <a:pt x="157162" y="78581"/>
                </a:lnTo>
                <a:lnTo>
                  <a:pt x="157162" y="104775"/>
                </a:lnTo>
                <a:cubicBezTo>
                  <a:pt x="157162" y="136456"/>
                  <a:pt x="134665" y="162882"/>
                  <a:pt x="104775" y="168950"/>
                </a:cubicBezTo>
                <a:lnTo>
                  <a:pt x="104775" y="209550"/>
                </a:lnTo>
                <a:lnTo>
                  <a:pt x="78581" y="209550"/>
                </a:lnTo>
                <a:lnTo>
                  <a:pt x="78581" y="168950"/>
                </a:lnTo>
                <a:cubicBezTo>
                  <a:pt x="48691" y="162882"/>
                  <a:pt x="26194" y="136456"/>
                  <a:pt x="26194" y="104775"/>
                </a:cubicBezTo>
                <a:lnTo>
                  <a:pt x="26194" y="78581"/>
                </a:lnTo>
                <a:lnTo>
                  <a:pt x="0" y="78581"/>
                </a:lnTo>
                <a:lnTo>
                  <a:pt x="0" y="52388"/>
                </a:lnTo>
                <a:lnTo>
                  <a:pt x="39291" y="52388"/>
                </a:lnTo>
                <a:lnTo>
                  <a:pt x="39291" y="0"/>
                </a:lnTo>
                <a:lnTo>
                  <a:pt x="6548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613208" y="3939064"/>
            <a:ext cx="138915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RESTful API 设计</a:t>
            </a:r>
          </a:p>
        </p:txBody>
      </p:sp>
      <p:sp>
        <p:nvSpPr>
          <p:cNvPr id="52" name="Ellipse 52"/>
          <p:cNvSpPr/>
          <p:nvPr/>
        </p:nvSpPr>
        <p:spPr>
          <a:xfrm>
            <a:off x="6429375" y="4448175"/>
            <a:ext cx="57150" cy="5715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6557962" y="4402931"/>
            <a:ext cx="23013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13 个路由模块，覆盖完整业务场景</a:t>
            </a:r>
          </a:p>
        </p:txBody>
      </p:sp>
      <p:sp>
        <p:nvSpPr>
          <p:cNvPr id="54" name="Ellipse 54"/>
          <p:cNvSpPr/>
          <p:nvPr/>
        </p:nvSpPr>
        <p:spPr>
          <a:xfrm>
            <a:off x="6429375" y="4752975"/>
            <a:ext cx="57150" cy="5715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6557962" y="4707731"/>
            <a:ext cx="24738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V1 端点：可选认证 + 可配置记忆注入</a:t>
            </a:r>
          </a:p>
        </p:txBody>
      </p:sp>
      <p:sp>
        <p:nvSpPr>
          <p:cNvPr id="56" name="Ellipse 56"/>
          <p:cNvSpPr/>
          <p:nvPr/>
        </p:nvSpPr>
        <p:spPr>
          <a:xfrm>
            <a:off x="6429375" y="5057775"/>
            <a:ext cx="57150" cy="5715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557962" y="5012531"/>
            <a:ext cx="19938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SSE 流式 / 非流式双模式切换</a:t>
            </a:r>
          </a:p>
        </p:txBody>
      </p:sp>
      <p:sp>
        <p:nvSpPr>
          <p:cNvPr id="58" name="Ellipse 58"/>
          <p:cNvSpPr/>
          <p:nvPr/>
        </p:nvSpPr>
        <p:spPr>
          <a:xfrm>
            <a:off x="6429375" y="5362575"/>
            <a:ext cx="57150" cy="5715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6557962" y="5317331"/>
            <a:ext cx="25788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内置 API Explorer：7 子组件调试工具</a:t>
            </a:r>
          </a:p>
        </p:txBody>
      </p:sp>
      <p:sp>
        <p:nvSpPr>
          <p:cNvPr id="60" name="Rectangle 6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003F6C"/>
              </a:gs>
              <a:gs pos="100000">
                <a:srgbClr val="00897B"/>
              </a:gs>
            </a:gsLst>
            <a:lin ang="0" scaled="1"/>
          </a:gra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11733562" y="66465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3F6C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003F6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8665" y="553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7270" y="407670"/>
            <a:ext cx="207721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3F6C"/>
                </a:solidFill>
                <a:latin typeface="Arial"/>
                <a:ea typeface="Microsoft YaHei"/>
                <a:cs typeface="Arial"/>
              </a:rPr>
              <a:t>数据模型设计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857250"/>
            <a:ext cx="3810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4667250" y="1047750"/>
            <a:ext cx="2857500" cy="533400"/>
          </a:xfrm>
          <a:prstGeom prst="roundRect">
            <a:avLst>
              <a:gd name="adj" fmla="val 17857"/>
            </a:avLst>
          </a:prstGeom>
          <a:solidFill>
            <a:srgbClr val="003F6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536132" y="1209675"/>
            <a:ext cx="11197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12 张数据表</a:t>
            </a:r>
          </a:p>
        </p:txBody>
      </p:sp>
      <p:sp>
        <p:nvSpPr>
          <p:cNvPr id="10" name="Line 10"/>
          <p:cNvSpPr/>
          <p:nvPr/>
        </p:nvSpPr>
        <p:spPr>
          <a:xfrm>
            <a:off x="1905000" y="1581150"/>
            <a:ext cx="3238500" cy="419100"/>
          </a:xfrm>
          <a:custGeom>
            <a:avLst/>
            <a:gdLst/>
            <a:ahLst/>
            <a:cxnLst/>
            <a:rect l="l" t="t" r="r" b="b"/>
            <a:pathLst>
              <a:path w="3238500" h="419100">
                <a:moveTo>
                  <a:pt x="3238500" y="0"/>
                </a:moveTo>
                <a:lnTo>
                  <a:pt x="0" y="419100"/>
                </a:lnTo>
              </a:path>
            </a:pathLst>
          </a:custGeom>
          <a:noFill/>
          <a:ln w="19050">
            <a:solidFill>
              <a:srgbClr val="E0E0E0"/>
            </a:solidFill>
          </a:ln>
        </p:spPr>
      </p:sp>
      <p:sp>
        <p:nvSpPr>
          <p:cNvPr id="11" name="Line 11"/>
          <p:cNvSpPr/>
          <p:nvPr/>
        </p:nvSpPr>
        <p:spPr>
          <a:xfrm>
            <a:off x="4572000" y="1581150"/>
            <a:ext cx="952500" cy="419100"/>
          </a:xfrm>
          <a:custGeom>
            <a:avLst/>
            <a:gdLst/>
            <a:ahLst/>
            <a:cxnLst/>
            <a:rect l="l" t="t" r="r" b="b"/>
            <a:pathLst>
              <a:path w="952500" h="419100">
                <a:moveTo>
                  <a:pt x="952500" y="0"/>
                </a:moveTo>
                <a:lnTo>
                  <a:pt x="0" y="419100"/>
                </a:lnTo>
              </a:path>
            </a:pathLst>
          </a:custGeom>
          <a:noFill/>
          <a:ln w="19050">
            <a:solidFill>
              <a:srgbClr val="E0E0E0"/>
            </a:solidFill>
          </a:ln>
        </p:spPr>
      </p:sp>
      <p:sp>
        <p:nvSpPr>
          <p:cNvPr id="12" name="Line 12"/>
          <p:cNvSpPr/>
          <p:nvPr/>
        </p:nvSpPr>
        <p:spPr>
          <a:xfrm>
            <a:off x="6667500" y="1581150"/>
            <a:ext cx="762000" cy="419100"/>
          </a:xfrm>
          <a:custGeom>
            <a:avLst/>
            <a:gdLst/>
            <a:ahLst/>
            <a:cxnLst/>
            <a:rect l="l" t="t" r="r" b="b"/>
            <a:pathLst>
              <a:path w="762000" h="419100">
                <a:moveTo>
                  <a:pt x="0" y="0"/>
                </a:moveTo>
                <a:lnTo>
                  <a:pt x="762000" y="419100"/>
                </a:lnTo>
              </a:path>
            </a:pathLst>
          </a:custGeom>
          <a:noFill/>
          <a:ln w="19050">
            <a:solidFill>
              <a:srgbClr val="E0E0E0"/>
            </a:solidFill>
          </a:ln>
        </p:spPr>
      </p:sp>
      <p:sp>
        <p:nvSpPr>
          <p:cNvPr id="13" name="Line 13"/>
          <p:cNvSpPr/>
          <p:nvPr/>
        </p:nvSpPr>
        <p:spPr>
          <a:xfrm>
            <a:off x="7048500" y="1581150"/>
            <a:ext cx="3238500" cy="419100"/>
          </a:xfrm>
          <a:custGeom>
            <a:avLst/>
            <a:gdLst/>
            <a:ahLst/>
            <a:cxnLst/>
            <a:rect l="l" t="t" r="r" b="b"/>
            <a:pathLst>
              <a:path w="3238500" h="419100">
                <a:moveTo>
                  <a:pt x="0" y="0"/>
                </a:moveTo>
                <a:lnTo>
                  <a:pt x="3238500" y="419100"/>
                </a:lnTo>
              </a:path>
            </a:pathLst>
          </a:custGeom>
          <a:noFill/>
          <a:ln w="19050">
            <a:solidFill>
              <a:srgbClr val="E0E0E0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571500" y="2000250"/>
            <a:ext cx="2476500" cy="438150"/>
          </a:xfrm>
          <a:prstGeom prst="roundRect">
            <a:avLst>
              <a:gd name="adj" fmla="val 17391"/>
            </a:avLst>
          </a:prstGeom>
          <a:solidFill>
            <a:srgbClr val="1565C0"/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685800" y="2109788"/>
            <a:ext cx="228600" cy="200024"/>
            <a:chOff x="685800" y="2109788"/>
            <a:chExt cx="228600" cy="200024"/>
          </a:xfrm>
        </p:grpSpPr>
        <p:sp>
          <p:nvSpPr>
            <p:cNvPr id="15" name="Freeform 15"/>
            <p:cNvSpPr/>
            <p:nvPr/>
          </p:nvSpPr>
          <p:spPr>
            <a:xfrm>
              <a:off x="728662" y="2109788"/>
              <a:ext cx="71438" cy="71438"/>
            </a:xfrm>
            <a:custGeom>
              <a:avLst/>
              <a:gdLst/>
              <a:ahLst/>
              <a:cxnLst/>
              <a:rect l="l" t="t" r="r" b="b"/>
              <a:pathLst>
                <a:path w="71438" h="71438">
                  <a:moveTo>
                    <a:pt x="71438" y="35719"/>
                  </a:moveTo>
                  <a:cubicBezTo>
                    <a:pt x="71438" y="55446"/>
                    <a:pt x="55446" y="71438"/>
                    <a:pt x="35719" y="71438"/>
                  </a:cubicBezTo>
                  <a:cubicBezTo>
                    <a:pt x="15992" y="71438"/>
                    <a:pt x="0" y="55446"/>
                    <a:pt x="0" y="35719"/>
                  </a:cubicBezTo>
                  <a:cubicBezTo>
                    <a:pt x="0" y="15992"/>
                    <a:pt x="15992" y="0"/>
                    <a:pt x="35719" y="0"/>
                  </a:cubicBezTo>
                  <a:cubicBezTo>
                    <a:pt x="55446" y="0"/>
                    <a:pt x="71438" y="15992"/>
                    <a:pt x="71438" y="357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685800" y="2209800"/>
              <a:ext cx="114300" cy="100012"/>
            </a:xfrm>
            <a:custGeom>
              <a:avLst/>
              <a:gdLst/>
              <a:ahLst/>
              <a:cxnLst/>
              <a:rect l="l" t="t" r="r" b="b"/>
              <a:pathLst>
                <a:path w="114300" h="100012">
                  <a:moveTo>
                    <a:pt x="42862" y="0"/>
                  </a:moveTo>
                  <a:cubicBezTo>
                    <a:pt x="19190" y="0"/>
                    <a:pt x="0" y="19190"/>
                    <a:pt x="0" y="42862"/>
                  </a:cubicBezTo>
                  <a:lnTo>
                    <a:pt x="0" y="100012"/>
                  </a:lnTo>
                  <a:lnTo>
                    <a:pt x="114300" y="100012"/>
                  </a:lnTo>
                  <a:lnTo>
                    <a:pt x="114300" y="0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828675" y="2209800"/>
              <a:ext cx="85725" cy="100012"/>
            </a:xfrm>
            <a:custGeom>
              <a:avLst/>
              <a:gdLst/>
              <a:ahLst/>
              <a:cxnLst/>
              <a:rect l="l" t="t" r="r" b="b"/>
              <a:pathLst>
                <a:path w="85725" h="100012">
                  <a:moveTo>
                    <a:pt x="42862" y="0"/>
                  </a:moveTo>
                  <a:lnTo>
                    <a:pt x="0" y="0"/>
                  </a:lnTo>
                  <a:lnTo>
                    <a:pt x="0" y="100012"/>
                  </a:lnTo>
                  <a:lnTo>
                    <a:pt x="85725" y="100012"/>
                  </a:lnTo>
                  <a:lnTo>
                    <a:pt x="85725" y="42862"/>
                  </a:lnTo>
                  <a:cubicBezTo>
                    <a:pt x="85725" y="19190"/>
                    <a:pt x="66535" y="0"/>
                    <a:pt x="428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828675" y="212407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28575" y="57150"/>
                  </a:moveTo>
                  <a:cubicBezTo>
                    <a:pt x="44357" y="57150"/>
                    <a:pt x="57150" y="44357"/>
                    <a:pt x="57150" y="28575"/>
                  </a:cubicBezTo>
                  <a:cubicBezTo>
                    <a:pt x="57150" y="12793"/>
                    <a:pt x="44357" y="0"/>
                    <a:pt x="28575" y="0"/>
                  </a:cubicBezTo>
                  <a:cubicBezTo>
                    <a:pt x="12793" y="0"/>
                    <a:pt x="0" y="12793"/>
                    <a:pt x="0" y="28575"/>
                  </a:cubicBezTo>
                  <a:cubicBezTo>
                    <a:pt x="0" y="44357"/>
                    <a:pt x="12793" y="57150"/>
                    <a:pt x="28575" y="571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975360" y="21564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用户系统</a:t>
            </a:r>
          </a:p>
        </p:txBody>
      </p:sp>
      <p:sp>
        <p:nvSpPr>
          <p:cNvPr id="21" name="Line 21"/>
          <p:cNvSpPr/>
          <p:nvPr/>
        </p:nvSpPr>
        <p:spPr>
          <a:xfrm>
            <a:off x="1238250" y="2438400"/>
            <a:ext cx="571500" cy="228600"/>
          </a:xfrm>
          <a:custGeom>
            <a:avLst/>
            <a:gdLst/>
            <a:ahLst/>
            <a:cxnLst/>
            <a:rect l="l" t="t" r="r" b="b"/>
            <a:pathLst>
              <a:path w="571500" h="228600">
                <a:moveTo>
                  <a:pt x="571500" y="0"/>
                </a:moveTo>
                <a:lnTo>
                  <a:pt x="0" y="228600"/>
                </a:lnTo>
              </a:path>
            </a:pathLst>
          </a:custGeom>
          <a:noFill/>
          <a:ln w="14288">
            <a:solidFill>
              <a:srgbClr val="E0E0E0"/>
            </a:solidFill>
          </a:ln>
        </p:spPr>
      </p:sp>
      <p:sp>
        <p:nvSpPr>
          <p:cNvPr id="22" name="Line 22"/>
          <p:cNvSpPr/>
          <p:nvPr/>
        </p:nvSpPr>
        <p:spPr>
          <a:xfrm>
            <a:off x="1809750" y="2438400"/>
            <a:ext cx="666750" cy="228600"/>
          </a:xfrm>
          <a:custGeom>
            <a:avLst/>
            <a:gdLst/>
            <a:ahLst/>
            <a:cxnLst/>
            <a:rect l="l" t="t" r="r" b="b"/>
            <a:pathLst>
              <a:path w="666750" h="228600">
                <a:moveTo>
                  <a:pt x="0" y="0"/>
                </a:moveTo>
                <a:lnTo>
                  <a:pt x="666750" y="228600"/>
                </a:lnTo>
              </a:path>
            </a:pathLst>
          </a:custGeom>
          <a:noFill/>
          <a:ln w="14288">
            <a:solidFill>
              <a:srgbClr val="E0E0E0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571500" y="2667000"/>
            <a:ext cx="1143000" cy="342900"/>
          </a:xfrm>
          <a:prstGeom prst="roundRect">
            <a:avLst>
              <a:gd name="adj" fmla="val 16667"/>
            </a:avLst>
          </a:prstGeom>
          <a:solidFill>
            <a:srgbClr val="EBF5FB"/>
          </a:solidFill>
          <a:ln w="9525">
            <a:solidFill>
              <a:srgbClr val="1565C0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942907" y="2790349"/>
            <a:ext cx="4001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users</a:t>
            </a:r>
          </a:p>
        </p:txBody>
      </p:sp>
      <p:sp>
        <p:nvSpPr>
          <p:cNvPr id="25" name="Rectangle 25"/>
          <p:cNvSpPr/>
          <p:nvPr/>
        </p:nvSpPr>
        <p:spPr>
          <a:xfrm>
            <a:off x="1866900" y="2667000"/>
            <a:ext cx="1143000" cy="342900"/>
          </a:xfrm>
          <a:prstGeom prst="roundRect">
            <a:avLst>
              <a:gd name="adj" fmla="val 16667"/>
            </a:avLst>
          </a:prstGeom>
          <a:solidFill>
            <a:srgbClr val="EBF5FB"/>
          </a:solidFill>
          <a:ln w="9525">
            <a:solidFill>
              <a:srgbClr val="1565C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955034" y="2790349"/>
            <a:ext cx="9667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user_sessions</a:t>
            </a:r>
          </a:p>
        </p:txBody>
      </p:sp>
      <p:sp>
        <p:nvSpPr>
          <p:cNvPr id="27" name="Line 27"/>
          <p:cNvSpPr/>
          <p:nvPr/>
        </p:nvSpPr>
        <p:spPr>
          <a:xfrm>
            <a:off x="1809750" y="2438400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14288">
            <a:solidFill>
              <a:srgbClr val="E0E0E0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1257300" y="3124200"/>
            <a:ext cx="1143000" cy="342900"/>
          </a:xfrm>
          <a:prstGeom prst="roundRect">
            <a:avLst>
              <a:gd name="adj" fmla="val 16667"/>
            </a:avLst>
          </a:prstGeom>
          <a:solidFill>
            <a:srgbClr val="EBF5FB"/>
          </a:solidFill>
          <a:ln w="9525">
            <a:solidFill>
              <a:srgbClr val="1565C0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533145" y="3247549"/>
            <a:ext cx="5913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projects</a:t>
            </a:r>
          </a:p>
        </p:txBody>
      </p:sp>
      <p:sp>
        <p:nvSpPr>
          <p:cNvPr id="30" name="Line 30"/>
          <p:cNvSpPr/>
          <p:nvPr/>
        </p:nvSpPr>
        <p:spPr>
          <a:xfrm>
            <a:off x="1809750" y="3009900"/>
            <a:ext cx="19050" cy="114300"/>
          </a:xfrm>
          <a:custGeom>
            <a:avLst/>
            <a:gdLst/>
            <a:ahLst/>
            <a:cxnLst/>
            <a:rect l="l" t="t" r="r" b="b"/>
            <a:pathLst>
              <a:path w="19050" h="114300">
                <a:moveTo>
                  <a:pt x="0" y="0"/>
                </a:moveTo>
                <a:lnTo>
                  <a:pt x="19050" y="11430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3429000" y="2000250"/>
            <a:ext cx="2476500" cy="438150"/>
          </a:xfrm>
          <a:prstGeom prst="roundRect">
            <a:avLst>
              <a:gd name="adj" fmla="val 17391"/>
            </a:avLst>
          </a:prstGeom>
          <a:solidFill>
            <a:srgbClr val="00897B"/>
          </a:solidFill>
          <a:ln>
            <a:noFill/>
          </a:ln>
        </p:spPr>
      </p:sp>
      <p:grpSp>
        <p:nvGrpSpPr>
          <p:cNvPr id="35" name="Group 35"/>
          <p:cNvGrpSpPr/>
          <p:nvPr/>
        </p:nvGrpSpPr>
        <p:grpSpPr>
          <a:xfrm>
            <a:off x="3543300" y="2107767"/>
            <a:ext cx="228600" cy="204066"/>
            <a:chOff x="3543300" y="2107767"/>
            <a:chExt cx="228600" cy="204066"/>
          </a:xfrm>
        </p:grpSpPr>
        <p:sp>
          <p:nvSpPr>
            <p:cNvPr id="32" name="Freeform 32"/>
            <p:cNvSpPr/>
            <p:nvPr/>
          </p:nvSpPr>
          <p:spPr>
            <a:xfrm>
              <a:off x="3629169" y="2107767"/>
              <a:ext cx="56863" cy="204066"/>
            </a:xfrm>
            <a:custGeom>
              <a:avLst/>
              <a:gdLst/>
              <a:ahLst/>
              <a:cxnLst/>
              <a:rect l="l" t="t" r="r" b="b"/>
              <a:pathLst>
                <a:path w="56863" h="204066">
                  <a:moveTo>
                    <a:pt x="28575" y="0"/>
                  </a:moveTo>
                  <a:lnTo>
                    <a:pt x="0" y="200025"/>
                  </a:lnTo>
                  <a:lnTo>
                    <a:pt x="28288" y="204066"/>
                  </a:lnTo>
                  <a:lnTo>
                    <a:pt x="56863" y="4041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3701688" y="2159794"/>
              <a:ext cx="70212" cy="100012"/>
            </a:xfrm>
            <a:custGeom>
              <a:avLst/>
              <a:gdLst/>
              <a:ahLst/>
              <a:cxnLst/>
              <a:rect l="l" t="t" r="r" b="b"/>
              <a:pathLst>
                <a:path w="70212" h="100012">
                  <a:moveTo>
                    <a:pt x="20205" y="100012"/>
                  </a:moveTo>
                  <a:lnTo>
                    <a:pt x="0" y="79807"/>
                  </a:lnTo>
                  <a:lnTo>
                    <a:pt x="29801" y="50006"/>
                  </a:lnTo>
                  <a:lnTo>
                    <a:pt x="0" y="20206"/>
                  </a:lnTo>
                  <a:lnTo>
                    <a:pt x="20205" y="0"/>
                  </a:lnTo>
                  <a:lnTo>
                    <a:pt x="70212" y="50006"/>
                  </a:lnTo>
                  <a:lnTo>
                    <a:pt x="20205" y="1000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3543300" y="2159794"/>
              <a:ext cx="70212" cy="100012"/>
            </a:xfrm>
            <a:custGeom>
              <a:avLst/>
              <a:gdLst/>
              <a:ahLst/>
              <a:cxnLst/>
              <a:rect l="l" t="t" r="r" b="b"/>
              <a:pathLst>
                <a:path w="70212" h="100012">
                  <a:moveTo>
                    <a:pt x="40411" y="50006"/>
                  </a:moveTo>
                  <a:lnTo>
                    <a:pt x="70212" y="79807"/>
                  </a:lnTo>
                  <a:lnTo>
                    <a:pt x="50006" y="100012"/>
                  </a:lnTo>
                  <a:lnTo>
                    <a:pt x="0" y="50006"/>
                  </a:lnTo>
                  <a:lnTo>
                    <a:pt x="50006" y="0"/>
                  </a:lnTo>
                  <a:lnTo>
                    <a:pt x="70212" y="20206"/>
                  </a:lnTo>
                  <a:lnTo>
                    <a:pt x="40411" y="500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36" name="TextBox 36"/>
          <p:cNvSpPr txBox="1"/>
          <p:nvPr/>
        </p:nvSpPr>
        <p:spPr>
          <a:xfrm>
            <a:off x="3832860" y="21564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对话系统</a:t>
            </a:r>
          </a:p>
        </p:txBody>
      </p:sp>
      <p:sp>
        <p:nvSpPr>
          <p:cNvPr id="37" name="Line 37"/>
          <p:cNvSpPr/>
          <p:nvPr/>
        </p:nvSpPr>
        <p:spPr>
          <a:xfrm>
            <a:off x="3619500" y="2438400"/>
            <a:ext cx="476250" cy="228600"/>
          </a:xfrm>
          <a:custGeom>
            <a:avLst/>
            <a:gdLst/>
            <a:ahLst/>
            <a:cxnLst/>
            <a:rect l="l" t="t" r="r" b="b"/>
            <a:pathLst>
              <a:path w="476250" h="228600">
                <a:moveTo>
                  <a:pt x="476250" y="0"/>
                </a:moveTo>
                <a:lnTo>
                  <a:pt x="0" y="228600"/>
                </a:lnTo>
              </a:path>
            </a:pathLst>
          </a:custGeom>
          <a:noFill/>
          <a:ln w="14288">
            <a:solidFill>
              <a:srgbClr val="E0E0E0"/>
            </a:solidFill>
          </a:ln>
        </p:spPr>
      </p:sp>
      <p:sp>
        <p:nvSpPr>
          <p:cNvPr id="38" name="Line 38"/>
          <p:cNvSpPr/>
          <p:nvPr/>
        </p:nvSpPr>
        <p:spPr>
          <a:xfrm>
            <a:off x="4095750" y="2438400"/>
            <a:ext cx="666750" cy="228600"/>
          </a:xfrm>
          <a:custGeom>
            <a:avLst/>
            <a:gdLst/>
            <a:ahLst/>
            <a:cxnLst/>
            <a:rect l="l" t="t" r="r" b="b"/>
            <a:pathLst>
              <a:path w="666750" h="228600">
                <a:moveTo>
                  <a:pt x="0" y="0"/>
                </a:moveTo>
                <a:lnTo>
                  <a:pt x="666750" y="228600"/>
                </a:lnTo>
              </a:path>
            </a:pathLst>
          </a:custGeom>
          <a:noFill/>
          <a:ln w="14288">
            <a:solidFill>
              <a:srgbClr val="E0E0E0"/>
            </a:solidFill>
          </a:ln>
        </p:spPr>
      </p:sp>
      <p:sp>
        <p:nvSpPr>
          <p:cNvPr id="39" name="Line 39"/>
          <p:cNvSpPr/>
          <p:nvPr/>
        </p:nvSpPr>
        <p:spPr>
          <a:xfrm>
            <a:off x="4095750" y="2438400"/>
            <a:ext cx="1238250" cy="228600"/>
          </a:xfrm>
          <a:custGeom>
            <a:avLst/>
            <a:gdLst/>
            <a:ahLst/>
            <a:cxnLst/>
            <a:rect l="l" t="t" r="r" b="b"/>
            <a:pathLst>
              <a:path w="1238250" h="228600">
                <a:moveTo>
                  <a:pt x="0" y="0"/>
                </a:moveTo>
                <a:lnTo>
                  <a:pt x="1238250" y="228600"/>
                </a:lnTo>
              </a:path>
            </a:pathLst>
          </a:custGeom>
          <a:noFill/>
          <a:ln w="14288">
            <a:solidFill>
              <a:srgbClr val="E0E0E0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3162300" y="2667000"/>
            <a:ext cx="1143000" cy="342900"/>
          </a:xfrm>
          <a:prstGeom prst="roundRect">
            <a:avLst>
              <a:gd name="adj" fmla="val 16667"/>
            </a:avLst>
          </a:prstGeom>
          <a:solidFill>
            <a:srgbClr val="E0F2F1"/>
          </a:solidFill>
          <a:ln w="9525">
            <a:solidFill>
              <a:srgbClr val="00897B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250434" y="2790349"/>
            <a:ext cx="9667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897B"/>
                </a:solidFill>
                <a:latin typeface="Arial"/>
                <a:ea typeface="Microsoft YaHei"/>
                <a:cs typeface="Arial"/>
              </a:rPr>
              <a:t>conversations</a:t>
            </a:r>
          </a:p>
        </p:txBody>
      </p:sp>
      <p:sp>
        <p:nvSpPr>
          <p:cNvPr id="42" name="Rectangle 42"/>
          <p:cNvSpPr/>
          <p:nvPr/>
        </p:nvSpPr>
        <p:spPr>
          <a:xfrm>
            <a:off x="4457700" y="2667000"/>
            <a:ext cx="1143000" cy="342900"/>
          </a:xfrm>
          <a:prstGeom prst="roundRect">
            <a:avLst>
              <a:gd name="adj" fmla="val 16667"/>
            </a:avLst>
          </a:prstGeom>
          <a:solidFill>
            <a:srgbClr val="E0F2F1"/>
          </a:solidFill>
          <a:ln w="9525">
            <a:solidFill>
              <a:srgbClr val="00897B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4702828" y="2790349"/>
            <a:ext cx="6527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897B"/>
                </a:solidFill>
                <a:latin typeface="Arial"/>
                <a:ea typeface="Microsoft YaHei"/>
                <a:cs typeface="Arial"/>
              </a:rPr>
              <a:t>messages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457700" y="3124200"/>
            <a:ext cx="1143000" cy="342900"/>
          </a:xfrm>
          <a:prstGeom prst="roundRect">
            <a:avLst>
              <a:gd name="adj" fmla="val 16667"/>
            </a:avLst>
          </a:prstGeom>
          <a:solidFill>
            <a:srgbClr val="E0F2F1"/>
          </a:solidFill>
          <a:ln w="9525">
            <a:solidFill>
              <a:srgbClr val="00897B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4590202" y="3247549"/>
            <a:ext cx="8779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897B"/>
                </a:solidFill>
                <a:latin typeface="Arial"/>
                <a:ea typeface="Microsoft YaHei"/>
                <a:cs typeface="Arial"/>
              </a:rPr>
              <a:t>attachments</a:t>
            </a:r>
          </a:p>
        </p:txBody>
      </p:sp>
      <p:sp>
        <p:nvSpPr>
          <p:cNvPr id="46" name="Line 46"/>
          <p:cNvSpPr/>
          <p:nvPr/>
        </p:nvSpPr>
        <p:spPr>
          <a:xfrm>
            <a:off x="5029200" y="30099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6286500" y="2000250"/>
            <a:ext cx="2476500" cy="438150"/>
          </a:xfrm>
          <a:prstGeom prst="roundRect">
            <a:avLst>
              <a:gd name="adj" fmla="val 17391"/>
            </a:avLst>
          </a:prstGeom>
          <a:solidFill>
            <a:srgbClr val="6A1B9A"/>
          </a:solidFill>
          <a:ln>
            <a:noFill/>
          </a:ln>
        </p:spPr>
      </p:sp>
      <p:grpSp>
        <p:nvGrpSpPr>
          <p:cNvPr id="51" name="Group 51"/>
          <p:cNvGrpSpPr/>
          <p:nvPr/>
        </p:nvGrpSpPr>
        <p:grpSpPr>
          <a:xfrm>
            <a:off x="6429375" y="2095500"/>
            <a:ext cx="171450" cy="228601"/>
            <a:chOff x="6429375" y="2095500"/>
            <a:chExt cx="171450" cy="228601"/>
          </a:xfrm>
        </p:grpSpPr>
        <p:sp>
          <p:nvSpPr>
            <p:cNvPr id="48" name="Freeform 48"/>
            <p:cNvSpPr/>
            <p:nvPr/>
          </p:nvSpPr>
          <p:spPr>
            <a:xfrm>
              <a:off x="6429375" y="2186940"/>
              <a:ext cx="171450" cy="65722"/>
            </a:xfrm>
            <a:custGeom>
              <a:avLst/>
              <a:gdLst/>
              <a:ahLst/>
              <a:cxnLst/>
              <a:rect l="l" t="t" r="r" b="b"/>
              <a:pathLst>
                <a:path w="171450" h="65722">
                  <a:moveTo>
                    <a:pt x="159121" y="7289"/>
                  </a:moveTo>
                  <a:cubicBezTo>
                    <a:pt x="163140" y="5279"/>
                    <a:pt x="167339" y="2855"/>
                    <a:pt x="171450" y="0"/>
                  </a:cubicBezTo>
                  <a:lnTo>
                    <a:pt x="171450" y="22860"/>
                  </a:lnTo>
                  <a:cubicBezTo>
                    <a:pt x="171450" y="46532"/>
                    <a:pt x="133069" y="65722"/>
                    <a:pt x="85725" y="65722"/>
                  </a:cubicBezTo>
                  <a:cubicBezTo>
                    <a:pt x="38380" y="65722"/>
                    <a:pt x="0" y="46532"/>
                    <a:pt x="0" y="22860"/>
                  </a:cubicBezTo>
                  <a:lnTo>
                    <a:pt x="0" y="0"/>
                  </a:lnTo>
                  <a:cubicBezTo>
                    <a:pt x="4111" y="2855"/>
                    <a:pt x="8309" y="5279"/>
                    <a:pt x="12329" y="7289"/>
                  </a:cubicBezTo>
                  <a:cubicBezTo>
                    <a:pt x="32589" y="17419"/>
                    <a:pt x="58578" y="22860"/>
                    <a:pt x="85725" y="22860"/>
                  </a:cubicBezTo>
                  <a:cubicBezTo>
                    <a:pt x="112872" y="22860"/>
                    <a:pt x="138860" y="17419"/>
                    <a:pt x="159121" y="72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6429375" y="2258378"/>
              <a:ext cx="171450" cy="65723"/>
            </a:xfrm>
            <a:custGeom>
              <a:avLst/>
              <a:gdLst/>
              <a:ahLst/>
              <a:cxnLst/>
              <a:rect l="l" t="t" r="r" b="b"/>
              <a:pathLst>
                <a:path w="171450" h="65723">
                  <a:moveTo>
                    <a:pt x="0" y="0"/>
                  </a:moveTo>
                  <a:lnTo>
                    <a:pt x="0" y="22860"/>
                  </a:lnTo>
                  <a:cubicBezTo>
                    <a:pt x="0" y="46533"/>
                    <a:pt x="38380" y="65723"/>
                    <a:pt x="85725" y="65723"/>
                  </a:cubicBezTo>
                  <a:cubicBezTo>
                    <a:pt x="133069" y="65723"/>
                    <a:pt x="171450" y="46533"/>
                    <a:pt x="171450" y="22860"/>
                  </a:cubicBezTo>
                  <a:lnTo>
                    <a:pt x="171450" y="0"/>
                  </a:lnTo>
                  <a:cubicBezTo>
                    <a:pt x="167339" y="2855"/>
                    <a:pt x="163140" y="5279"/>
                    <a:pt x="159121" y="7289"/>
                  </a:cubicBezTo>
                  <a:cubicBezTo>
                    <a:pt x="138860" y="17419"/>
                    <a:pt x="112872" y="22860"/>
                    <a:pt x="85725" y="22860"/>
                  </a:cubicBezTo>
                  <a:cubicBezTo>
                    <a:pt x="58578" y="22860"/>
                    <a:pt x="32589" y="17419"/>
                    <a:pt x="12329" y="7289"/>
                  </a:cubicBezTo>
                  <a:cubicBezTo>
                    <a:pt x="8309" y="5279"/>
                    <a:pt x="4111" y="285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6429375" y="2095500"/>
              <a:ext cx="171450" cy="85725"/>
            </a:xfrm>
            <a:custGeom>
              <a:avLst/>
              <a:gdLst/>
              <a:ahLst/>
              <a:cxnLst/>
              <a:rect l="l" t="t" r="r" b="b"/>
              <a:pathLst>
                <a:path w="171450" h="85725">
                  <a:moveTo>
                    <a:pt x="85725" y="0"/>
                  </a:moveTo>
                  <a:cubicBezTo>
                    <a:pt x="133069" y="0"/>
                    <a:pt x="171450" y="19190"/>
                    <a:pt x="171450" y="42862"/>
                  </a:cubicBezTo>
                  <a:cubicBezTo>
                    <a:pt x="171450" y="66535"/>
                    <a:pt x="133069" y="85725"/>
                    <a:pt x="85725" y="85725"/>
                  </a:cubicBezTo>
                  <a:cubicBezTo>
                    <a:pt x="38380" y="85725"/>
                    <a:pt x="0" y="66535"/>
                    <a:pt x="0" y="42862"/>
                  </a:cubicBezTo>
                  <a:cubicBezTo>
                    <a:pt x="0" y="19190"/>
                    <a:pt x="38380" y="0"/>
                    <a:pt x="857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52" name="TextBox 52"/>
          <p:cNvSpPr txBox="1"/>
          <p:nvPr/>
        </p:nvSpPr>
        <p:spPr>
          <a:xfrm>
            <a:off x="6690360" y="21564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记忆系统</a:t>
            </a:r>
          </a:p>
        </p:txBody>
      </p:sp>
      <p:sp>
        <p:nvSpPr>
          <p:cNvPr id="53" name="Line 53"/>
          <p:cNvSpPr/>
          <p:nvPr/>
        </p:nvSpPr>
        <p:spPr>
          <a:xfrm>
            <a:off x="6572250" y="2438400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00" y="0"/>
                </a:moveTo>
                <a:lnTo>
                  <a:pt x="0" y="228600"/>
                </a:lnTo>
              </a:path>
            </a:pathLst>
          </a:custGeom>
          <a:noFill/>
          <a:ln w="14288">
            <a:solidFill>
              <a:srgbClr val="E0E0E0"/>
            </a:solidFill>
          </a:ln>
        </p:spPr>
      </p:sp>
      <p:sp>
        <p:nvSpPr>
          <p:cNvPr id="54" name="Line 54"/>
          <p:cNvSpPr/>
          <p:nvPr/>
        </p:nvSpPr>
        <p:spPr>
          <a:xfrm>
            <a:off x="6953250" y="2438400"/>
            <a:ext cx="762000" cy="228600"/>
          </a:xfrm>
          <a:custGeom>
            <a:avLst/>
            <a:gdLst/>
            <a:ahLst/>
            <a:cxnLst/>
            <a:rect l="l" t="t" r="r" b="b"/>
            <a:pathLst>
              <a:path w="762000" h="228600">
                <a:moveTo>
                  <a:pt x="0" y="0"/>
                </a:moveTo>
                <a:lnTo>
                  <a:pt x="762000" y="228600"/>
                </a:lnTo>
              </a:path>
            </a:pathLst>
          </a:custGeom>
          <a:noFill/>
          <a:ln w="14288">
            <a:solidFill>
              <a:srgbClr val="E0E0E0"/>
            </a:solidFill>
          </a:ln>
        </p:spPr>
      </p:sp>
      <p:sp>
        <p:nvSpPr>
          <p:cNvPr id="55" name="Line 55"/>
          <p:cNvSpPr/>
          <p:nvPr/>
        </p:nvSpPr>
        <p:spPr>
          <a:xfrm>
            <a:off x="6953250" y="2438400"/>
            <a:ext cx="1333500" cy="228600"/>
          </a:xfrm>
          <a:custGeom>
            <a:avLst/>
            <a:gdLst/>
            <a:ahLst/>
            <a:cxnLst/>
            <a:rect l="l" t="t" r="r" b="b"/>
            <a:pathLst>
              <a:path w="1333500" h="228600">
                <a:moveTo>
                  <a:pt x="0" y="0"/>
                </a:moveTo>
                <a:lnTo>
                  <a:pt x="1333500" y="228600"/>
                </a:lnTo>
              </a:path>
            </a:pathLst>
          </a:custGeom>
          <a:noFill/>
          <a:ln w="14288">
            <a:solidFill>
              <a:srgbClr val="E0E0E0"/>
            </a:solidFill>
          </a:ln>
        </p:spPr>
      </p:sp>
      <p:sp>
        <p:nvSpPr>
          <p:cNvPr id="56" name="Rectangle 56"/>
          <p:cNvSpPr/>
          <p:nvPr/>
        </p:nvSpPr>
        <p:spPr>
          <a:xfrm>
            <a:off x="6057900" y="2667000"/>
            <a:ext cx="1143000" cy="342900"/>
          </a:xfrm>
          <a:prstGeom prst="roundRect">
            <a:avLst>
              <a:gd name="adj" fmla="val 16667"/>
            </a:avLst>
          </a:prstGeom>
          <a:solidFill>
            <a:srgbClr val="F3E5F5">
              <a:alpha val="50000"/>
            </a:srgbClr>
          </a:solidFill>
          <a:ln w="9525">
            <a:solidFill>
              <a:srgbClr val="6A1B9A">
                <a:alpha val="50000"/>
              </a:srgbClr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6306441" y="2790349"/>
            <a:ext cx="6459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A1B9A"/>
                </a:solidFill>
                <a:latin typeface="Arial"/>
                <a:ea typeface="Microsoft YaHei"/>
                <a:cs typeface="Arial"/>
              </a:rPr>
              <a:t>memories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353300" y="2667000"/>
            <a:ext cx="1333500" cy="342900"/>
          </a:xfrm>
          <a:prstGeom prst="roundRect">
            <a:avLst>
              <a:gd name="adj" fmla="val 16667"/>
            </a:avLst>
          </a:prstGeom>
          <a:solidFill>
            <a:srgbClr val="F3E5F5">
              <a:alpha val="50000"/>
            </a:srgbClr>
          </a:solidFill>
          <a:ln w="9525">
            <a:solidFill>
              <a:srgbClr val="6A1B9A">
                <a:alpha val="50000"/>
              </a:srgbClr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7359211" y="2790349"/>
            <a:ext cx="13216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A1B9A"/>
                </a:solidFill>
                <a:latin typeface="Arial"/>
                <a:ea typeface="Microsoft YaHei"/>
                <a:cs typeface="Arial"/>
              </a:rPr>
              <a:t>memory_candidates</a:t>
            </a:r>
          </a:p>
        </p:txBody>
      </p:sp>
      <p:sp>
        <p:nvSpPr>
          <p:cNvPr id="60" name="Rectangle 60"/>
          <p:cNvSpPr/>
          <p:nvPr/>
        </p:nvSpPr>
        <p:spPr>
          <a:xfrm>
            <a:off x="7353300" y="3124200"/>
            <a:ext cx="1333500" cy="342900"/>
          </a:xfrm>
          <a:prstGeom prst="roundRect">
            <a:avLst>
              <a:gd name="adj" fmla="val 16667"/>
            </a:avLst>
          </a:prstGeom>
          <a:solidFill>
            <a:srgbClr val="F3E5F5">
              <a:alpha val="50000"/>
            </a:srgbClr>
          </a:solidFill>
          <a:ln w="9525">
            <a:solidFill>
              <a:srgbClr val="6A1B9A">
                <a:alpha val="50000"/>
              </a:srgbClr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7366037" y="3247549"/>
            <a:ext cx="1308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A1B9A"/>
                </a:solidFill>
                <a:latin typeface="Arial"/>
                <a:ea typeface="Microsoft YaHei"/>
                <a:cs typeface="Arial"/>
              </a:rPr>
              <a:t>memory_documents</a:t>
            </a:r>
          </a:p>
        </p:txBody>
      </p:sp>
      <p:sp>
        <p:nvSpPr>
          <p:cNvPr id="62" name="Line 62"/>
          <p:cNvSpPr/>
          <p:nvPr/>
        </p:nvSpPr>
        <p:spPr>
          <a:xfrm>
            <a:off x="8020050" y="30099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63" name="Rectangle 63"/>
          <p:cNvSpPr/>
          <p:nvPr/>
        </p:nvSpPr>
        <p:spPr>
          <a:xfrm>
            <a:off x="9144000" y="2000250"/>
            <a:ext cx="2476500" cy="438150"/>
          </a:xfrm>
          <a:prstGeom prst="roundRect">
            <a:avLst>
              <a:gd name="adj" fmla="val 17391"/>
            </a:avLst>
          </a:prstGeom>
          <a:solidFill>
            <a:srgbClr val="E65100"/>
          </a:solidFill>
          <a:ln>
            <a:noFill/>
          </a:ln>
        </p:spPr>
      </p:sp>
      <p:sp>
        <p:nvSpPr>
          <p:cNvPr id="64" name="Freeform 64"/>
          <p:cNvSpPr/>
          <p:nvPr/>
        </p:nvSpPr>
        <p:spPr>
          <a:xfrm>
            <a:off x="9272588" y="20955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2" y="228600"/>
                </a:moveTo>
                <a:lnTo>
                  <a:pt x="47864" y="191351"/>
                </a:lnTo>
                <a:cubicBezTo>
                  <a:pt x="17827" y="169896"/>
                  <a:pt x="0" y="135255"/>
                  <a:pt x="0" y="98342"/>
                </a:cubicBezTo>
                <a:lnTo>
                  <a:pt x="0" y="42862"/>
                </a:lnTo>
                <a:lnTo>
                  <a:pt x="100012" y="0"/>
                </a:lnTo>
                <a:lnTo>
                  <a:pt x="200025" y="42862"/>
                </a:lnTo>
                <a:lnTo>
                  <a:pt x="200025" y="98342"/>
                </a:lnTo>
                <a:cubicBezTo>
                  <a:pt x="200025" y="135255"/>
                  <a:pt x="182198" y="169896"/>
                  <a:pt x="152160" y="191351"/>
                </a:cubicBezTo>
                <a:lnTo>
                  <a:pt x="100012" y="228600"/>
                </a:lnTo>
                <a:close/>
                <a:moveTo>
                  <a:pt x="160121" y="81540"/>
                </a:moveTo>
                <a:lnTo>
                  <a:pt x="139916" y="61335"/>
                </a:lnTo>
                <a:lnTo>
                  <a:pt x="85725" y="115526"/>
                </a:lnTo>
                <a:lnTo>
                  <a:pt x="60109" y="89910"/>
                </a:lnTo>
                <a:lnTo>
                  <a:pt x="39903" y="110115"/>
                </a:lnTo>
                <a:lnTo>
                  <a:pt x="85725" y="155937"/>
                </a:lnTo>
                <a:lnTo>
                  <a:pt x="160121" y="815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9547860" y="21564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记忆治理</a:t>
            </a:r>
          </a:p>
        </p:txBody>
      </p:sp>
      <p:sp>
        <p:nvSpPr>
          <p:cNvPr id="66" name="Line 66"/>
          <p:cNvSpPr/>
          <p:nvPr/>
        </p:nvSpPr>
        <p:spPr>
          <a:xfrm>
            <a:off x="9429750" y="2438400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00" y="0"/>
                </a:moveTo>
                <a:lnTo>
                  <a:pt x="0" y="228600"/>
                </a:lnTo>
              </a:path>
            </a:pathLst>
          </a:custGeom>
          <a:noFill/>
          <a:ln w="14288">
            <a:solidFill>
              <a:srgbClr val="E0E0E0"/>
            </a:solidFill>
          </a:ln>
        </p:spPr>
      </p:sp>
      <p:sp>
        <p:nvSpPr>
          <p:cNvPr id="67" name="Line 67"/>
          <p:cNvSpPr/>
          <p:nvPr/>
        </p:nvSpPr>
        <p:spPr>
          <a:xfrm>
            <a:off x="9810750" y="24384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0" y="0"/>
                </a:moveTo>
                <a:lnTo>
                  <a:pt x="285750" y="228600"/>
                </a:lnTo>
              </a:path>
            </a:pathLst>
          </a:custGeom>
          <a:noFill/>
          <a:ln w="14288">
            <a:solidFill>
              <a:srgbClr val="E0E0E0"/>
            </a:solidFill>
          </a:ln>
        </p:spPr>
      </p:sp>
      <p:sp>
        <p:nvSpPr>
          <p:cNvPr id="68" name="Line 68"/>
          <p:cNvSpPr/>
          <p:nvPr/>
        </p:nvSpPr>
        <p:spPr>
          <a:xfrm>
            <a:off x="9810750" y="2438400"/>
            <a:ext cx="952500" cy="228600"/>
          </a:xfrm>
          <a:custGeom>
            <a:avLst/>
            <a:gdLst/>
            <a:ahLst/>
            <a:cxnLst/>
            <a:rect l="l" t="t" r="r" b="b"/>
            <a:pathLst>
              <a:path w="952500" h="228600">
                <a:moveTo>
                  <a:pt x="0" y="0"/>
                </a:moveTo>
                <a:lnTo>
                  <a:pt x="952500" y="228600"/>
                </a:lnTo>
              </a:path>
            </a:pathLst>
          </a:custGeom>
          <a:noFill/>
          <a:ln w="14288">
            <a:solidFill>
              <a:srgbClr val="E0E0E0"/>
            </a:solidFill>
          </a:ln>
        </p:spPr>
      </p:sp>
      <p:sp>
        <p:nvSpPr>
          <p:cNvPr id="69" name="Rectangle 69"/>
          <p:cNvSpPr/>
          <p:nvPr/>
        </p:nvSpPr>
        <p:spPr>
          <a:xfrm>
            <a:off x="8915400" y="2667000"/>
            <a:ext cx="1143000" cy="342900"/>
          </a:xfrm>
          <a:prstGeom prst="roundRect">
            <a:avLst>
              <a:gd name="adj" fmla="val 16667"/>
            </a:avLst>
          </a:prstGeom>
          <a:solidFill>
            <a:srgbClr val="FFF3E0">
              <a:alpha val="50000"/>
            </a:srgbClr>
          </a:solidFill>
          <a:ln w="9525">
            <a:solidFill>
              <a:srgbClr val="E65100">
                <a:alpha val="50000"/>
              </a:srgbClr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8927301" y="2798445"/>
            <a:ext cx="11191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memory_histories</a:t>
            </a:r>
          </a:p>
        </p:txBody>
      </p:sp>
      <p:sp>
        <p:nvSpPr>
          <p:cNvPr id="71" name="Rectangle 71"/>
          <p:cNvSpPr/>
          <p:nvPr/>
        </p:nvSpPr>
        <p:spPr>
          <a:xfrm>
            <a:off x="10096500" y="2667000"/>
            <a:ext cx="1333500" cy="342900"/>
          </a:xfrm>
          <a:prstGeom prst="roundRect">
            <a:avLst>
              <a:gd name="adj" fmla="val 16667"/>
            </a:avLst>
          </a:prstGeom>
          <a:solidFill>
            <a:srgbClr val="FFF3E0">
              <a:alpha val="50000"/>
            </a:srgbClr>
          </a:solidFill>
          <a:ln w="9525">
            <a:solidFill>
              <a:srgbClr val="E65100">
                <a:alpha val="50000"/>
              </a:srgbClr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10168997" y="2798445"/>
            <a:ext cx="11885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memory_audit_logs</a:t>
            </a:r>
          </a:p>
        </p:txBody>
      </p:sp>
      <p:sp>
        <p:nvSpPr>
          <p:cNvPr id="73" name="Rectangle 73"/>
          <p:cNvSpPr/>
          <p:nvPr/>
        </p:nvSpPr>
        <p:spPr>
          <a:xfrm>
            <a:off x="10096500" y="3124200"/>
            <a:ext cx="1333500" cy="342900"/>
          </a:xfrm>
          <a:prstGeom prst="roundRect">
            <a:avLst>
              <a:gd name="adj" fmla="val 16667"/>
            </a:avLst>
          </a:prstGeom>
          <a:solidFill>
            <a:srgbClr val="FFF3E0">
              <a:alpha val="50000"/>
            </a:srgbClr>
          </a:solidFill>
          <a:ln w="9525">
            <a:solidFill>
              <a:srgbClr val="E65100">
                <a:alpha val="50000"/>
              </a:srgbClr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10140644" y="3255645"/>
            <a:ext cx="12452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memory_embeddings</a:t>
            </a:r>
          </a:p>
        </p:txBody>
      </p:sp>
      <p:sp>
        <p:nvSpPr>
          <p:cNvPr id="75" name="Line 75"/>
          <p:cNvSpPr/>
          <p:nvPr/>
        </p:nvSpPr>
        <p:spPr>
          <a:xfrm>
            <a:off x="10763250" y="30099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76" name="Rectangle 76"/>
          <p:cNvSpPr/>
          <p:nvPr/>
        </p:nvSpPr>
        <p:spPr>
          <a:xfrm>
            <a:off x="571500" y="3905250"/>
            <a:ext cx="11049000" cy="228600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746760" y="406146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F6C"/>
                </a:solidFill>
                <a:latin typeface="Arial"/>
                <a:ea typeface="Microsoft YaHei"/>
                <a:cs typeface="Arial"/>
              </a:rPr>
              <a:t>核心实体关系</a:t>
            </a:r>
          </a:p>
        </p:txBody>
      </p:sp>
      <p:sp>
        <p:nvSpPr>
          <p:cNvPr id="78" name="Rectangle 78"/>
          <p:cNvSpPr/>
          <p:nvPr/>
        </p:nvSpPr>
        <p:spPr>
          <a:xfrm>
            <a:off x="762000" y="4286250"/>
            <a:ext cx="1905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940118" y="4504849"/>
            <a:ext cx="41137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F6368"/>
                </a:solidFill>
                <a:latin typeface="Consolas"/>
                <a:ea typeface="Microsoft YaHei"/>
                <a:cs typeface="Consolas"/>
              </a:rPr>
              <a:t>users ─1:N─▶ conversations ─1:N─▶ messages ─1:N─▶ attachments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40118" y="4790599"/>
            <a:ext cx="28981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F6368"/>
                </a:solidFill>
                <a:latin typeface="Consolas"/>
                <a:ea typeface="Microsoft YaHei"/>
                <a:cs typeface="Consolas"/>
              </a:rPr>
              <a:t>messages ──── 含版本链 (parent_message_id)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940118" y="5076349"/>
            <a:ext cx="38797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F6368"/>
                </a:solidFill>
                <a:latin typeface="Consolas"/>
                <a:ea typeface="Microsoft YaHei"/>
                <a:cs typeface="Consolas"/>
              </a:rPr>
              <a:t>memory_candidates ──▶ memories ─1:N─▶ memory_embeddings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40118" y="5362099"/>
            <a:ext cx="32816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F6368"/>
                </a:solidFill>
                <a:latin typeface="Consolas"/>
                <a:ea typeface="Microsoft YaHei"/>
                <a:cs typeface="Consolas"/>
              </a:rPr>
              <a:t>memories ────▶ memory_documents (按 scope 聚合)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940118" y="5647849"/>
            <a:ext cx="29241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F6368"/>
                </a:solidFill>
                <a:latin typeface="Consolas"/>
                <a:ea typeface="Microsoft YaHei"/>
                <a:cs typeface="Consolas"/>
              </a:rPr>
              <a:t>memories ─1:N─▶ memory_histories (版本追踪)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940118" y="5933599"/>
            <a:ext cx="44388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F6368"/>
                </a:solidFill>
                <a:latin typeface="Consolas"/>
                <a:ea typeface="Microsoft YaHei"/>
                <a:cs typeface="Consolas"/>
              </a:rPr>
              <a:t>所有操作 ────▶ memory_audit_logs (审计) · 向量嵌入: pgvector 1536 维</a:t>
            </a:r>
          </a:p>
        </p:txBody>
      </p:sp>
      <p:sp>
        <p:nvSpPr>
          <p:cNvPr id="85" name="Rectangle 8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003F6C"/>
              </a:gs>
              <a:gs pos="100000">
                <a:srgbClr val="00897B"/>
              </a:gs>
            </a:gsLst>
            <a:lin ang="0" scaled="1"/>
          </a:gradFill>
          <a:ln>
            <a:noFill/>
          </a:ln>
        </p:spPr>
      </p:sp>
      <p:sp>
        <p:nvSpPr>
          <p:cNvPr id="86" name="TextBox 86"/>
          <p:cNvSpPr txBox="1"/>
          <p:nvPr/>
        </p:nvSpPr>
        <p:spPr>
          <a:xfrm>
            <a:off x="11733562" y="66465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3F6C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003F6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8665" y="553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7270" y="407670"/>
            <a:ext cx="207721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3F6C"/>
                </a:solidFill>
                <a:latin typeface="Arial"/>
                <a:ea typeface="Microsoft YaHei"/>
                <a:cs typeface="Arial"/>
              </a:rPr>
              <a:t>项目成果总结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857250"/>
            <a:ext cx="3810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143000"/>
            <a:ext cx="352425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23900" y="1333500"/>
            <a:ext cx="57150" cy="571500"/>
          </a:xfrm>
          <a:prstGeom prst="roundRect">
            <a:avLst>
              <a:gd name="adj" fmla="val 50000"/>
            </a:avLst>
          </a:prstGeom>
          <a:solidFill>
            <a:srgbClr val="003F6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39165" y="1410652"/>
            <a:ext cx="4467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数据表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6780" y="1554480"/>
            <a:ext cx="51989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03F6C"/>
                </a:solidFill>
                <a:latin typeface="Georgia"/>
                <a:ea typeface="SimSun"/>
                <a:cs typeface="Georgia"/>
              </a:rPr>
              <a:t>12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89710" y="1813560"/>
            <a:ext cx="5185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tables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333875" y="1143000"/>
            <a:ext cx="352425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486275" y="1333500"/>
            <a:ext cx="57150" cy="5715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701540" y="14106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路由模块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69155" y="1554480"/>
            <a:ext cx="51989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1565C0"/>
                </a:solidFill>
                <a:latin typeface="Georgia"/>
                <a:ea typeface="SimSun"/>
                <a:cs typeface="Georgia"/>
              </a:rPr>
              <a:t>13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52085" y="1813560"/>
            <a:ext cx="5585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routes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096250" y="1143000"/>
            <a:ext cx="352425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8248650" y="1333500"/>
            <a:ext cx="57150" cy="571500"/>
          </a:xfrm>
          <a:prstGeom prst="roundRect">
            <a:avLst>
              <a:gd name="adj" fmla="val 50000"/>
            </a:avLst>
          </a:prstGeom>
          <a:solidFill>
            <a:srgbClr val="00897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463915" y="14106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服务模块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31530" y="1554480"/>
            <a:ext cx="51989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0897B"/>
                </a:solidFill>
                <a:latin typeface="Georgia"/>
                <a:ea typeface="SimSun"/>
                <a:cs typeface="Georgia"/>
              </a:rPr>
              <a:t>13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014460" y="1813560"/>
            <a:ext cx="6945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services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71500" y="2476500"/>
            <a:ext cx="352425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723900" y="2667000"/>
            <a:ext cx="57150" cy="571500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39165" y="2744152"/>
            <a:ext cx="5447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API 端点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6780" y="2887980"/>
            <a:ext cx="92314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6A1B9A"/>
                </a:solidFill>
                <a:latin typeface="Georgia"/>
                <a:ea typeface="SimSun"/>
                <a:cs typeface="Georgia"/>
              </a:rPr>
              <a:t>30+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333875" y="2476500"/>
            <a:ext cx="352425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4486275" y="2667000"/>
            <a:ext cx="57150" cy="571500"/>
          </a:xfrm>
          <a:prstGeom prst="roundRect">
            <a:avLst>
              <a:gd name="adj" fmla="val 50000"/>
            </a:avLst>
          </a:prstGeom>
          <a:solidFill>
            <a:srgbClr val="E6510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701540" y="27441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前端组件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669155" y="2887980"/>
            <a:ext cx="92314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E65100"/>
                </a:solidFill>
                <a:latin typeface="Georgia"/>
                <a:ea typeface="SimSun"/>
                <a:cs typeface="Georgia"/>
              </a:rPr>
              <a:t>20+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096250" y="2476500"/>
            <a:ext cx="352425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248650" y="2667000"/>
            <a:ext cx="57150" cy="5715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463915" y="2744152"/>
            <a:ext cx="6077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LLM 模型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31530" y="2887980"/>
            <a:ext cx="36867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938260" y="3147060"/>
            <a:ext cx="5505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models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3905250"/>
            <a:ext cx="11049000" cy="247650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46760" y="40614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F6C"/>
                </a:solidFill>
                <a:latin typeface="Arial"/>
                <a:ea typeface="Microsoft YaHei"/>
                <a:cs typeface="Arial"/>
              </a:rPr>
              <a:t>技术亮点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62000" y="4286250"/>
            <a:ext cx="1905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923925" y="4562475"/>
            <a:ext cx="57150" cy="57150"/>
          </a:xfrm>
          <a:prstGeom prst="ellipse">
            <a:avLst/>
          </a:prstGeom>
          <a:solidFill>
            <a:srgbClr val="003F6C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053465" y="4525328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记忆优先架构设计</a:t>
            </a:r>
          </a:p>
        </p:txBody>
      </p:sp>
      <p:sp>
        <p:nvSpPr>
          <p:cNvPr id="41" name="Ellipse 41"/>
          <p:cNvSpPr/>
          <p:nvPr/>
        </p:nvSpPr>
        <p:spPr>
          <a:xfrm>
            <a:off x="923925" y="4867275"/>
            <a:ext cx="57150" cy="57150"/>
          </a:xfrm>
          <a:prstGeom prst="ellipse">
            <a:avLst/>
          </a:prstGeom>
          <a:solidFill>
            <a:srgbClr val="003F6C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053465" y="4830128"/>
            <a:ext cx="19893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Human-in-the-loop 候选审核</a:t>
            </a:r>
          </a:p>
        </p:txBody>
      </p:sp>
      <p:sp>
        <p:nvSpPr>
          <p:cNvPr id="43" name="Ellipse 43"/>
          <p:cNvSpPr/>
          <p:nvPr/>
        </p:nvSpPr>
        <p:spPr>
          <a:xfrm>
            <a:off x="923925" y="5172075"/>
            <a:ext cx="57150" cy="57150"/>
          </a:xfrm>
          <a:prstGeom prst="ellipse">
            <a:avLst/>
          </a:prstGeom>
          <a:solidFill>
            <a:srgbClr val="003F6C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053465" y="5134928"/>
            <a:ext cx="18129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语义向量 + 时间排序双检索</a:t>
            </a:r>
          </a:p>
        </p:txBody>
      </p:sp>
      <p:sp>
        <p:nvSpPr>
          <p:cNvPr id="45" name="Ellipse 45"/>
          <p:cNvSpPr/>
          <p:nvPr/>
        </p:nvSpPr>
        <p:spPr>
          <a:xfrm>
            <a:off x="4543425" y="4562475"/>
            <a:ext cx="57150" cy="5715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4672965" y="4525328"/>
            <a:ext cx="10557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全链路优雅降级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674870" y="4732020"/>
            <a:ext cx="15950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pgvector → SQLite 自动切换</a:t>
            </a:r>
          </a:p>
        </p:txBody>
      </p:sp>
      <p:sp>
        <p:nvSpPr>
          <p:cNvPr id="48" name="Ellipse 48"/>
          <p:cNvSpPr/>
          <p:nvPr/>
        </p:nvSpPr>
        <p:spPr>
          <a:xfrm>
            <a:off x="4543425" y="5057775"/>
            <a:ext cx="57150" cy="5715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672965" y="5020628"/>
            <a:ext cx="16585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SSE 流式 + 后台异步处理</a:t>
            </a:r>
          </a:p>
        </p:txBody>
      </p:sp>
      <p:sp>
        <p:nvSpPr>
          <p:cNvPr id="50" name="Ellipse 50"/>
          <p:cNvSpPr/>
          <p:nvPr/>
        </p:nvSpPr>
        <p:spPr>
          <a:xfrm>
            <a:off x="4543425" y="5362575"/>
            <a:ext cx="57150" cy="5715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4672965" y="5325428"/>
            <a:ext cx="16438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完整版本追踪和审计合规</a:t>
            </a:r>
          </a:p>
        </p:txBody>
      </p:sp>
      <p:sp>
        <p:nvSpPr>
          <p:cNvPr id="52" name="Ellipse 52"/>
          <p:cNvSpPr/>
          <p:nvPr/>
        </p:nvSpPr>
        <p:spPr>
          <a:xfrm>
            <a:off x="8162925" y="4562475"/>
            <a:ext cx="57150" cy="5715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8292465" y="4525328"/>
            <a:ext cx="14306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OpenAI 兼容接口抽象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294370" y="4732020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多模型即插即用</a:t>
            </a:r>
          </a:p>
        </p:txBody>
      </p:sp>
      <p:sp>
        <p:nvSpPr>
          <p:cNvPr id="55" name="Ellipse 55"/>
          <p:cNvSpPr/>
          <p:nvPr/>
        </p:nvSpPr>
        <p:spPr>
          <a:xfrm>
            <a:off x="8162925" y="5057775"/>
            <a:ext cx="57150" cy="5715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8292465" y="5020628"/>
            <a:ext cx="16659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前后端分离 · 单仓库管理</a:t>
            </a:r>
          </a:p>
        </p:txBody>
      </p:sp>
      <p:sp>
        <p:nvSpPr>
          <p:cNvPr id="57" name="Ellipse 57"/>
          <p:cNvSpPr/>
          <p:nvPr/>
        </p:nvSpPr>
        <p:spPr>
          <a:xfrm>
            <a:off x="8162925" y="5362575"/>
            <a:ext cx="57150" cy="5715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8292465" y="5325428"/>
            <a:ext cx="18570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内置 API Explorer 调试工具</a:t>
            </a:r>
          </a:p>
        </p:txBody>
      </p:sp>
      <p:sp>
        <p:nvSpPr>
          <p:cNvPr id="59" name="Rectangle 5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003F6C"/>
              </a:gs>
              <a:gs pos="100000">
                <a:srgbClr val="00897B"/>
              </a:gs>
            </a:gsLst>
            <a:lin ang="0" scaled="1"/>
          </a:gra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11733562" y="66465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3F6C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003F6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8665" y="553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7270" y="407670"/>
            <a:ext cx="14051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3F6C"/>
                </a:solidFill>
                <a:latin typeface="Arial"/>
                <a:ea typeface="Microsoft YaHei"/>
                <a:cs typeface="Arial"/>
              </a:rPr>
              <a:t>未来展望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857250"/>
            <a:ext cx="3810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238250"/>
            <a:ext cx="3524250" cy="4572000"/>
          </a:xfrm>
          <a:prstGeom prst="roundRect">
            <a:avLst>
              <a:gd name="adj" fmla="val 2162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238250"/>
            <a:ext cx="3524250" cy="495300"/>
          </a:xfrm>
          <a:prstGeom prst="roundRect">
            <a:avLst>
              <a:gd name="adj" fmla="val 15385"/>
            </a:avLst>
          </a:prstGeom>
          <a:solidFill>
            <a:srgbClr val="003F6C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562100"/>
            <a:ext cx="3524250" cy="171450"/>
          </a:xfrm>
          <a:prstGeom prst="rect">
            <a:avLst/>
          </a:prstGeom>
          <a:solidFill>
            <a:srgbClr val="003F6C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792956" y="1352550"/>
            <a:ext cx="185738" cy="247650"/>
            <a:chOff x="792956" y="1352550"/>
            <a:chExt cx="185738" cy="247650"/>
          </a:xfrm>
        </p:grpSpPr>
        <p:sp>
          <p:nvSpPr>
            <p:cNvPr id="11" name="Freeform 11"/>
            <p:cNvSpPr/>
            <p:nvPr/>
          </p:nvSpPr>
          <p:spPr>
            <a:xfrm>
              <a:off x="792956" y="1451610"/>
              <a:ext cx="185738" cy="71199"/>
            </a:xfrm>
            <a:custGeom>
              <a:avLst/>
              <a:gdLst/>
              <a:ahLst/>
              <a:cxnLst/>
              <a:rect l="l" t="t" r="r" b="b"/>
              <a:pathLst>
                <a:path w="185738" h="71199">
                  <a:moveTo>
                    <a:pt x="172381" y="7896"/>
                  </a:moveTo>
                  <a:cubicBezTo>
                    <a:pt x="176735" y="5719"/>
                    <a:pt x="181284" y="3093"/>
                    <a:pt x="185738" y="0"/>
                  </a:cubicBezTo>
                  <a:lnTo>
                    <a:pt x="185738" y="24765"/>
                  </a:lnTo>
                  <a:cubicBezTo>
                    <a:pt x="185738" y="50410"/>
                    <a:pt x="144159" y="71199"/>
                    <a:pt x="92869" y="71199"/>
                  </a:cubicBezTo>
                  <a:cubicBezTo>
                    <a:pt x="41579" y="71199"/>
                    <a:pt x="0" y="50410"/>
                    <a:pt x="0" y="24765"/>
                  </a:cubicBezTo>
                  <a:lnTo>
                    <a:pt x="0" y="0"/>
                  </a:lnTo>
                  <a:cubicBezTo>
                    <a:pt x="4453" y="3093"/>
                    <a:pt x="9002" y="5719"/>
                    <a:pt x="13357" y="7896"/>
                  </a:cubicBezTo>
                  <a:cubicBezTo>
                    <a:pt x="35305" y="18871"/>
                    <a:pt x="63460" y="24765"/>
                    <a:pt x="92869" y="24765"/>
                  </a:cubicBezTo>
                  <a:cubicBezTo>
                    <a:pt x="122277" y="24765"/>
                    <a:pt x="150432" y="18871"/>
                    <a:pt x="172381" y="78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792956" y="1529001"/>
              <a:ext cx="185738" cy="71199"/>
            </a:xfrm>
            <a:custGeom>
              <a:avLst/>
              <a:gdLst/>
              <a:ahLst/>
              <a:cxnLst/>
              <a:rect l="l" t="t" r="r" b="b"/>
              <a:pathLst>
                <a:path w="185738" h="71199">
                  <a:moveTo>
                    <a:pt x="0" y="0"/>
                  </a:moveTo>
                  <a:lnTo>
                    <a:pt x="0" y="24765"/>
                  </a:lnTo>
                  <a:cubicBezTo>
                    <a:pt x="0" y="50411"/>
                    <a:pt x="41579" y="71199"/>
                    <a:pt x="92869" y="71199"/>
                  </a:cubicBezTo>
                  <a:cubicBezTo>
                    <a:pt x="144159" y="71199"/>
                    <a:pt x="185738" y="50411"/>
                    <a:pt x="185738" y="24765"/>
                  </a:cubicBezTo>
                  <a:lnTo>
                    <a:pt x="185738" y="0"/>
                  </a:lnTo>
                  <a:cubicBezTo>
                    <a:pt x="181284" y="3093"/>
                    <a:pt x="176735" y="5719"/>
                    <a:pt x="172381" y="7897"/>
                  </a:cubicBezTo>
                  <a:cubicBezTo>
                    <a:pt x="150432" y="18871"/>
                    <a:pt x="122277" y="24765"/>
                    <a:pt x="92869" y="24765"/>
                  </a:cubicBezTo>
                  <a:cubicBezTo>
                    <a:pt x="63460" y="24765"/>
                    <a:pt x="35305" y="18871"/>
                    <a:pt x="13357" y="7897"/>
                  </a:cubicBezTo>
                  <a:cubicBezTo>
                    <a:pt x="9002" y="5719"/>
                    <a:pt x="4453" y="309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792956" y="1352550"/>
              <a:ext cx="185738" cy="92869"/>
            </a:xfrm>
            <a:custGeom>
              <a:avLst/>
              <a:gdLst/>
              <a:ahLst/>
              <a:cxnLst/>
              <a:rect l="l" t="t" r="r" b="b"/>
              <a:pathLst>
                <a:path w="185738" h="92869">
                  <a:moveTo>
                    <a:pt x="92869" y="0"/>
                  </a:moveTo>
                  <a:cubicBezTo>
                    <a:pt x="144159" y="0"/>
                    <a:pt x="185738" y="20789"/>
                    <a:pt x="185738" y="46434"/>
                  </a:cubicBezTo>
                  <a:cubicBezTo>
                    <a:pt x="185738" y="72079"/>
                    <a:pt x="144159" y="92869"/>
                    <a:pt x="92869" y="92869"/>
                  </a:cubicBezTo>
                  <a:cubicBezTo>
                    <a:pt x="41579" y="92869"/>
                    <a:pt x="0" y="72079"/>
                    <a:pt x="0" y="46434"/>
                  </a:cubicBezTo>
                  <a:cubicBezTo>
                    <a:pt x="0" y="20789"/>
                    <a:pt x="41579" y="0"/>
                    <a:pt x="92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087755" y="141636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记忆系统增强</a:t>
            </a:r>
          </a:p>
        </p:txBody>
      </p:sp>
      <p:sp>
        <p:nvSpPr>
          <p:cNvPr id="16" name="Ellipse 16"/>
          <p:cNvSpPr/>
          <p:nvPr/>
        </p:nvSpPr>
        <p:spPr>
          <a:xfrm>
            <a:off x="800100" y="2038350"/>
            <a:ext cx="76200" cy="76200"/>
          </a:xfrm>
          <a:prstGeom prst="ellipse">
            <a:avLst/>
          </a:prstGeom>
          <a:solidFill>
            <a:srgbClr val="003F6C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56310" y="1994535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记忆关联图谱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8215" y="2248852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构建知识图谱，挖掘记忆间隐含关联</a:t>
            </a:r>
          </a:p>
        </p:txBody>
      </p:sp>
      <p:sp>
        <p:nvSpPr>
          <p:cNvPr id="19" name="Ellipse 19"/>
          <p:cNvSpPr/>
          <p:nvPr/>
        </p:nvSpPr>
        <p:spPr>
          <a:xfrm>
            <a:off x="800100" y="2781300"/>
            <a:ext cx="76200" cy="76200"/>
          </a:xfrm>
          <a:prstGeom prst="ellipse">
            <a:avLst/>
          </a:prstGeom>
          <a:solidFill>
            <a:srgbClr val="003F6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56310" y="2737485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记忆时效性自动过期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8215" y="2991802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基于时间衰减的自动归档机制</a:t>
            </a:r>
          </a:p>
        </p:txBody>
      </p:sp>
      <p:sp>
        <p:nvSpPr>
          <p:cNvPr id="22" name="Ellipse 22"/>
          <p:cNvSpPr/>
          <p:nvPr/>
        </p:nvSpPr>
        <p:spPr>
          <a:xfrm>
            <a:off x="800100" y="3524250"/>
            <a:ext cx="76200" cy="76200"/>
          </a:xfrm>
          <a:prstGeom prst="ellipse">
            <a:avLst/>
          </a:prstGeom>
          <a:solidFill>
            <a:srgbClr val="003F6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56310" y="3480435"/>
            <a:ext cx="12066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跨用户记忆共享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8215" y="3734752"/>
            <a:ext cx="1706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团队场景下的协作记忆能力</a:t>
            </a:r>
          </a:p>
        </p:txBody>
      </p:sp>
      <p:sp>
        <p:nvSpPr>
          <p:cNvPr id="25" name="Ellipse 25"/>
          <p:cNvSpPr/>
          <p:nvPr/>
        </p:nvSpPr>
        <p:spPr>
          <a:xfrm>
            <a:off x="800100" y="4267200"/>
            <a:ext cx="76200" cy="76200"/>
          </a:xfrm>
          <a:prstGeom prst="ellipse">
            <a:avLst/>
          </a:prstGeom>
          <a:solidFill>
            <a:srgbClr val="003F6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56310" y="4223385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记忆质量评分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58215" y="4477702"/>
            <a:ext cx="1566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自动清洗低价值记忆条目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333875" y="1238250"/>
            <a:ext cx="3524250" cy="4572000"/>
          </a:xfrm>
          <a:prstGeom prst="roundRect">
            <a:avLst>
              <a:gd name="adj" fmla="val 2162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4333875" y="1238250"/>
            <a:ext cx="3524250" cy="495300"/>
          </a:xfrm>
          <a:prstGeom prst="roundRect">
            <a:avLst>
              <a:gd name="adj" fmla="val 15385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4333875" y="1562100"/>
            <a:ext cx="3524250" cy="1714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grpSp>
        <p:nvGrpSpPr>
          <p:cNvPr id="34" name="Group 34"/>
          <p:cNvGrpSpPr/>
          <p:nvPr/>
        </p:nvGrpSpPr>
        <p:grpSpPr>
          <a:xfrm>
            <a:off x="4539853" y="1352550"/>
            <a:ext cx="216694" cy="247650"/>
            <a:chOff x="4539853" y="1352550"/>
            <a:chExt cx="216694" cy="247650"/>
          </a:xfrm>
        </p:grpSpPr>
        <p:sp>
          <p:nvSpPr>
            <p:cNvPr id="31" name="Freeform 31"/>
            <p:cNvSpPr/>
            <p:nvPr/>
          </p:nvSpPr>
          <p:spPr>
            <a:xfrm>
              <a:off x="4539853" y="1352550"/>
              <a:ext cx="216694" cy="123825"/>
            </a:xfrm>
            <a:custGeom>
              <a:avLst/>
              <a:gdLst/>
              <a:ahLst/>
              <a:cxnLst/>
              <a:rect l="l" t="t" r="r" b="b"/>
              <a:pathLst>
                <a:path w="216694" h="123825">
                  <a:moveTo>
                    <a:pt x="0" y="77391"/>
                  </a:moveTo>
                  <a:lnTo>
                    <a:pt x="0" y="46434"/>
                  </a:lnTo>
                  <a:lnTo>
                    <a:pt x="108347" y="0"/>
                  </a:lnTo>
                  <a:lnTo>
                    <a:pt x="216694" y="46434"/>
                  </a:lnTo>
                  <a:lnTo>
                    <a:pt x="216694" y="77391"/>
                  </a:lnTo>
                  <a:lnTo>
                    <a:pt x="108347" y="123825"/>
                  </a:lnTo>
                  <a:lnTo>
                    <a:pt x="0" y="7739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4539853" y="1522809"/>
              <a:ext cx="216694" cy="77391"/>
            </a:xfrm>
            <a:custGeom>
              <a:avLst/>
              <a:gdLst/>
              <a:ahLst/>
              <a:cxnLst/>
              <a:rect l="l" t="t" r="r" b="b"/>
              <a:pathLst>
                <a:path w="216694" h="77391">
                  <a:moveTo>
                    <a:pt x="108347" y="77391"/>
                  </a:moveTo>
                  <a:lnTo>
                    <a:pt x="0" y="30956"/>
                  </a:lnTo>
                  <a:lnTo>
                    <a:pt x="0" y="0"/>
                  </a:lnTo>
                  <a:lnTo>
                    <a:pt x="108347" y="46434"/>
                  </a:lnTo>
                  <a:lnTo>
                    <a:pt x="216694" y="0"/>
                  </a:lnTo>
                  <a:lnTo>
                    <a:pt x="216694" y="30956"/>
                  </a:lnTo>
                  <a:lnTo>
                    <a:pt x="108347" y="7739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4539853" y="1460897"/>
              <a:ext cx="216694" cy="77391"/>
            </a:xfrm>
            <a:custGeom>
              <a:avLst/>
              <a:gdLst/>
              <a:ahLst/>
              <a:cxnLst/>
              <a:rect l="l" t="t" r="r" b="b"/>
              <a:pathLst>
                <a:path w="216694" h="77391">
                  <a:moveTo>
                    <a:pt x="0" y="30956"/>
                  </a:moveTo>
                  <a:lnTo>
                    <a:pt x="108347" y="77391"/>
                  </a:lnTo>
                  <a:lnTo>
                    <a:pt x="216694" y="30956"/>
                  </a:lnTo>
                  <a:lnTo>
                    <a:pt x="216694" y="0"/>
                  </a:lnTo>
                  <a:lnTo>
                    <a:pt x="108347" y="46434"/>
                  </a:lnTo>
                  <a:lnTo>
                    <a:pt x="0" y="0"/>
                  </a:lnTo>
                  <a:lnTo>
                    <a:pt x="0" y="309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4850130" y="1416368"/>
            <a:ext cx="11967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多模态 &amp; 交互</a:t>
            </a:r>
          </a:p>
        </p:txBody>
      </p:sp>
      <p:sp>
        <p:nvSpPr>
          <p:cNvPr id="36" name="Ellipse 36"/>
          <p:cNvSpPr/>
          <p:nvPr/>
        </p:nvSpPr>
        <p:spPr>
          <a:xfrm>
            <a:off x="4562475" y="2038350"/>
            <a:ext cx="76200" cy="762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718685" y="1994535"/>
            <a:ext cx="14670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图片/语音消息支持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720590" y="2248852"/>
            <a:ext cx="1566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多模态输入扩展交互维度</a:t>
            </a:r>
          </a:p>
        </p:txBody>
      </p:sp>
      <p:sp>
        <p:nvSpPr>
          <p:cNvPr id="39" name="Ellipse 39"/>
          <p:cNvSpPr/>
          <p:nvPr/>
        </p:nvSpPr>
        <p:spPr>
          <a:xfrm>
            <a:off x="4562475" y="2781300"/>
            <a:ext cx="76200" cy="762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4718685" y="2737485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实时协作编辑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720590" y="2991802"/>
            <a:ext cx="16298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WebSocket 双向实时通信</a:t>
            </a:r>
          </a:p>
        </p:txBody>
      </p:sp>
      <p:sp>
        <p:nvSpPr>
          <p:cNvPr id="42" name="Ellipse 42"/>
          <p:cNvSpPr/>
          <p:nvPr/>
        </p:nvSpPr>
        <p:spPr>
          <a:xfrm>
            <a:off x="4562475" y="3524250"/>
            <a:ext cx="76200" cy="762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4718685" y="3480435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移动端响应式优化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720590" y="3734752"/>
            <a:ext cx="15038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适配手机/平板多端访问</a:t>
            </a:r>
          </a:p>
        </p:txBody>
      </p:sp>
      <p:sp>
        <p:nvSpPr>
          <p:cNvPr id="45" name="Ellipse 45"/>
          <p:cNvSpPr/>
          <p:nvPr/>
        </p:nvSpPr>
        <p:spPr>
          <a:xfrm>
            <a:off x="4562475" y="4267200"/>
            <a:ext cx="76200" cy="762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4718685" y="4223385"/>
            <a:ext cx="10638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PWA 离线能力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720590" y="4477702"/>
            <a:ext cx="16648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Service Worker 离线缓存</a:t>
            </a:r>
          </a:p>
        </p:txBody>
      </p:sp>
      <p:sp>
        <p:nvSpPr>
          <p:cNvPr id="48" name="Rectangle 48"/>
          <p:cNvSpPr/>
          <p:nvPr/>
        </p:nvSpPr>
        <p:spPr>
          <a:xfrm>
            <a:off x="8096250" y="1238250"/>
            <a:ext cx="3524250" cy="4572000"/>
          </a:xfrm>
          <a:prstGeom prst="roundRect">
            <a:avLst>
              <a:gd name="adj" fmla="val 2162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8096250" y="1238250"/>
            <a:ext cx="3524250" cy="495300"/>
          </a:xfrm>
          <a:prstGeom prst="roundRect">
            <a:avLst>
              <a:gd name="adj" fmla="val 15385"/>
            </a:avLst>
          </a:prstGeom>
          <a:solidFill>
            <a:srgbClr val="00897B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8096250" y="1562100"/>
            <a:ext cx="3524250" cy="171450"/>
          </a:xfrm>
          <a:prstGeom prst="rect">
            <a:avLst/>
          </a:prstGeom>
          <a:solidFill>
            <a:srgbClr val="00897B"/>
          </a:solidFill>
          <a:ln>
            <a:noFill/>
          </a:ln>
        </p:spPr>
      </p:sp>
      <p:grpSp>
        <p:nvGrpSpPr>
          <p:cNvPr id="53" name="Group 53"/>
          <p:cNvGrpSpPr/>
          <p:nvPr/>
        </p:nvGrpSpPr>
        <p:grpSpPr>
          <a:xfrm>
            <a:off x="8286750" y="1352550"/>
            <a:ext cx="247650" cy="247650"/>
            <a:chOff x="8286750" y="1352550"/>
            <a:chExt cx="247650" cy="247650"/>
          </a:xfrm>
        </p:grpSpPr>
        <p:sp>
          <p:nvSpPr>
            <p:cNvPr id="51" name="Freeform 51"/>
            <p:cNvSpPr/>
            <p:nvPr/>
          </p:nvSpPr>
          <p:spPr>
            <a:xfrm>
              <a:off x="8286750" y="1352550"/>
              <a:ext cx="247650" cy="247650"/>
            </a:xfrm>
            <a:custGeom>
              <a:avLst/>
              <a:gdLst/>
              <a:ahLst/>
              <a:cxnLst/>
              <a:rect l="l" t="t" r="r" b="b"/>
              <a:pathLst>
                <a:path w="247650" h="247650">
                  <a:moveTo>
                    <a:pt x="154781" y="247650"/>
                  </a:moveTo>
                  <a:lnTo>
                    <a:pt x="185738" y="216694"/>
                  </a:lnTo>
                  <a:lnTo>
                    <a:pt x="185738" y="154781"/>
                  </a:lnTo>
                  <a:lnTo>
                    <a:pt x="211383" y="129136"/>
                  </a:lnTo>
                  <a:cubicBezTo>
                    <a:pt x="234603" y="105914"/>
                    <a:pt x="247650" y="74419"/>
                    <a:pt x="247650" y="41579"/>
                  </a:cubicBezTo>
                  <a:lnTo>
                    <a:pt x="247650" y="0"/>
                  </a:lnTo>
                  <a:lnTo>
                    <a:pt x="206071" y="0"/>
                  </a:lnTo>
                  <a:cubicBezTo>
                    <a:pt x="173231" y="0"/>
                    <a:pt x="141735" y="13046"/>
                    <a:pt x="118514" y="36268"/>
                  </a:cubicBezTo>
                  <a:lnTo>
                    <a:pt x="92869" y="61912"/>
                  </a:lnTo>
                  <a:lnTo>
                    <a:pt x="30956" y="61912"/>
                  </a:lnTo>
                  <a:lnTo>
                    <a:pt x="0" y="92869"/>
                  </a:lnTo>
                  <a:lnTo>
                    <a:pt x="154781" y="247650"/>
                  </a:lnTo>
                  <a:close/>
                  <a:moveTo>
                    <a:pt x="162520" y="108347"/>
                  </a:moveTo>
                  <a:cubicBezTo>
                    <a:pt x="175342" y="108347"/>
                    <a:pt x="185738" y="97952"/>
                    <a:pt x="185738" y="85130"/>
                  </a:cubicBezTo>
                  <a:cubicBezTo>
                    <a:pt x="185738" y="72307"/>
                    <a:pt x="175342" y="61912"/>
                    <a:pt x="162520" y="61912"/>
                  </a:cubicBezTo>
                  <a:cubicBezTo>
                    <a:pt x="149698" y="61912"/>
                    <a:pt x="139303" y="72307"/>
                    <a:pt x="139303" y="85130"/>
                  </a:cubicBezTo>
                  <a:cubicBezTo>
                    <a:pt x="139303" y="97952"/>
                    <a:pt x="149698" y="108347"/>
                    <a:pt x="162520" y="1083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8286750" y="1523933"/>
              <a:ext cx="76267" cy="76267"/>
            </a:xfrm>
            <a:custGeom>
              <a:avLst/>
              <a:gdLst/>
              <a:ahLst/>
              <a:cxnLst/>
              <a:rect l="l" t="t" r="r" b="b"/>
              <a:pathLst>
                <a:path w="76267" h="76267">
                  <a:moveTo>
                    <a:pt x="76267" y="41531"/>
                  </a:moveTo>
                  <a:lnTo>
                    <a:pt x="34736" y="0"/>
                  </a:lnTo>
                  <a:lnTo>
                    <a:pt x="0" y="60789"/>
                  </a:lnTo>
                  <a:lnTo>
                    <a:pt x="15478" y="76267"/>
                  </a:lnTo>
                  <a:lnTo>
                    <a:pt x="76267" y="415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54" name="TextBox 54"/>
          <p:cNvSpPr txBox="1"/>
          <p:nvPr/>
        </p:nvSpPr>
        <p:spPr>
          <a:xfrm>
            <a:off x="8612505" y="1416368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平台化演进</a:t>
            </a:r>
          </a:p>
        </p:txBody>
      </p:sp>
      <p:sp>
        <p:nvSpPr>
          <p:cNvPr id="55" name="Ellipse 55"/>
          <p:cNvSpPr/>
          <p:nvPr/>
        </p:nvSpPr>
        <p:spPr>
          <a:xfrm>
            <a:off x="8324850" y="2038350"/>
            <a:ext cx="76200" cy="7620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8481060" y="199453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插件系统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482965" y="2248852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搜索引擎、代码仓库、文档系统集成</a:t>
            </a:r>
          </a:p>
        </p:txBody>
      </p:sp>
      <p:sp>
        <p:nvSpPr>
          <p:cNvPr id="58" name="Ellipse 58"/>
          <p:cNvSpPr/>
          <p:nvPr/>
        </p:nvSpPr>
        <p:spPr>
          <a:xfrm>
            <a:off x="8324850" y="2781300"/>
            <a:ext cx="76200" cy="7620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8481060" y="2737485"/>
            <a:ext cx="11982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RAG 知识库增强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482965" y="2991802"/>
            <a:ext cx="21269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企业知识库问答，与记忆系统互补</a:t>
            </a:r>
          </a:p>
        </p:txBody>
      </p:sp>
      <p:sp>
        <p:nvSpPr>
          <p:cNvPr id="61" name="Ellipse 61"/>
          <p:cNvSpPr/>
          <p:nvPr/>
        </p:nvSpPr>
        <p:spPr>
          <a:xfrm>
            <a:off x="8324850" y="3524250"/>
            <a:ext cx="76200" cy="7620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8481060" y="3480435"/>
            <a:ext cx="8789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Agent 能力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482965" y="3734752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多步骤任务编排、工具调用链</a:t>
            </a:r>
          </a:p>
        </p:txBody>
      </p:sp>
      <p:sp>
        <p:nvSpPr>
          <p:cNvPr id="64" name="Ellipse 64"/>
          <p:cNvSpPr/>
          <p:nvPr/>
        </p:nvSpPr>
        <p:spPr>
          <a:xfrm>
            <a:off x="8324850" y="4267200"/>
            <a:ext cx="76200" cy="7620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8481060" y="4223385"/>
            <a:ext cx="12066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多租户权限管理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482965" y="4477702"/>
            <a:ext cx="1706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组织级角色体系与资源隔离</a:t>
            </a:r>
          </a:p>
        </p:txBody>
      </p:sp>
      <p:sp>
        <p:nvSpPr>
          <p:cNvPr id="67" name="Rectangle 67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003F6C"/>
              </a:gs>
              <a:gs pos="100000">
                <a:srgbClr val="00897B"/>
              </a:gs>
            </a:gsLst>
            <a:lin ang="0" scaled="1"/>
          </a:gra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11733562" y="66465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762000" cy="6858000"/>
          </a:xfrm>
          <a:prstGeom prst="rect">
            <a:avLst/>
          </a:prstGeom>
          <a:gradFill>
            <a:gsLst>
              <a:gs pos="0">
                <a:srgbClr val="003F6C"/>
              </a:gs>
              <a:gs pos="100000">
                <a:srgbClr val="1565C0"/>
              </a:gs>
            </a:gsLst>
            <a:lin ang="54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762000" y="0"/>
            <a:ext cx="57150" cy="6858000"/>
          </a:xfrm>
          <a:prstGeom prst="rect">
            <a:avLst/>
          </a:prstGeom>
          <a:solidFill>
            <a:srgbClr val="1565C0">
              <a:alpha val="15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10668000" y="4572000"/>
            <a:ext cx="1143000" cy="1143000"/>
          </a:xfrm>
          <a:prstGeom prst="roundRect">
            <a:avLst>
              <a:gd name="adj" fmla="val 5000"/>
            </a:avLst>
          </a:prstGeom>
          <a:solidFill>
            <a:srgbClr val="00897B">
              <a:alpha val="6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0"/>
            <a:ext cx="11430000" cy="38100"/>
          </a:xfrm>
          <a:prstGeom prst="rect">
            <a:avLst/>
          </a:prstGeom>
          <a:gradFill>
            <a:gsLst>
              <a:gs pos="0">
                <a:srgbClr val="003F6C"/>
              </a:gs>
              <a:gs pos="50000">
                <a:srgbClr val="1565C0"/>
              </a:gs>
              <a:gs pos="100000">
                <a:srgbClr val="00897B"/>
              </a:gs>
            </a:gsLst>
            <a:lin ang="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778692" y="2371725"/>
            <a:ext cx="2634615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003F6C"/>
                </a:solidFill>
                <a:latin typeface="Georgia"/>
                <a:ea typeface="KaiTi"/>
                <a:cs typeface="Georgia"/>
              </a:rPr>
              <a:t>感谢聆听</a:t>
            </a:r>
          </a:p>
        </p:txBody>
      </p:sp>
      <p:sp>
        <p:nvSpPr>
          <p:cNvPr id="8" name="Rectangle 8"/>
          <p:cNvSpPr/>
          <p:nvPr/>
        </p:nvSpPr>
        <p:spPr>
          <a:xfrm>
            <a:off x="5143500" y="3143250"/>
            <a:ext cx="1905000" cy="38100"/>
          </a:xfrm>
          <a:prstGeom prst="roundRect">
            <a:avLst>
              <a:gd name="adj" fmla="val 50000"/>
            </a:avLst>
          </a:prstGeom>
          <a:solidFill>
            <a:srgbClr val="00897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248817" y="3536632"/>
            <a:ext cx="369436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LLM + 永久记忆聊天系统 — CHAT A.I+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98602" y="4090035"/>
            <a:ext cx="99479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1565C0"/>
                </a:solidFill>
                <a:latin typeface="Georgia"/>
                <a:ea typeface="SimSun"/>
                <a:cs typeface="Georgia"/>
              </a:rPr>
              <a:t>Q &amp; A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003F6C"/>
              </a:gs>
              <a:gs pos="50000">
                <a:srgbClr val="1565C0"/>
              </a:gs>
              <a:gs pos="100000">
                <a:srgbClr val="00897B"/>
              </a:gs>
            </a:gsLst>
            <a:lin ang="0" scaled="1"/>
          </a:gra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0429875" y="3190875"/>
            <a:ext cx="95250" cy="95250"/>
          </a:xfrm>
          <a:prstGeom prst="ellipse">
            <a:avLst/>
          </a:prstGeom>
          <a:solidFill>
            <a:srgbClr val="1565C0">
              <a:alpha val="15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0639425" y="3019425"/>
            <a:ext cx="57150" cy="57150"/>
          </a:xfrm>
          <a:prstGeom prst="ellipse">
            <a:avLst/>
          </a:prstGeom>
          <a:solidFill>
            <a:srgbClr val="00897B">
              <a:alpha val="15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