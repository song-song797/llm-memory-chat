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大家好，今天我汇报的项目是 LLM 加永久记忆聊天系统。这个项目的核心目标是让 AI 聊天具备跨会话的永久记忆能力，解决传统对话系统每次从零开始的问题。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本次汇报将围绕七个部分展开：从项目背景出发，依次介绍系统架构、核心记忆功能、企业级特性、数据模型设计和项目成果，最后展望未来演进方向。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来看项目背景。传统大语言模型聊天应用是无状态的，用户每次对话都需要重新提供背景信息，体验割裂且低效。我们的目标是构建一个具备跨会话永久记忆能力的对话系统，能够自动识别值得记住的信息，按项目隔离上下文，并支持多种主流模型接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在系统架构上，我们采用经典的三层架构。前端使用 React 十九加 TypeScript 构建单页应用；后端基于 Python 三点十三和 FastAPI，通过 OpenAI 兼容接口对接多种模型；数据层支持 SQLite 开发环境和 PostgreSQL 加 pgvector 生产环境，实现关系存储和向量检索的双重能力。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系统的核心——记忆系统。它支持三级作用域：全局、项目和会话级别，优先级由内到外递增。自动提取流水线会检测用户意图、通过大模型评估生成候选、过滤敏感信息并去重。每条记忆包含内容、类型、作用域、置信度和重要度等维度，并通过上下文注入策略在对话中自动生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在企业级特性方面，系统提供了四个关键能力：记忆版本追踪，通过链表结构实现完整变更历史回溯；操作审计合规，记录所有变更的前后状态和操作来源；认证安全采用 scrypt 哈希和 Bearer Token，强制用户级数据隔离；以及覆盖完整业务场景的 RESTful API 设计，包含内置 API Explorer 调试工具。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模型方面，系统共设计了十二张数据表，分为四大分组：用户系统、对话系统、记忆系统和记忆治理。实体间通过外键关联形成清晰的层级关系，记忆表同时关联向量嵌入、版本历史和审计日志，支撑完整的记忆生命周期管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总结项目成果，我们交付了十二张数据表、十三个路由模块、十三个服务模块、三十余个 API 端点、二十余个前端组件，并支持六种大语言模型接入。核心技术亮点包括记忆优先架构设计、人工审核机制、语义与时间双模式检索、全链路优雅降级，以及 SSE 流式和后台异步处理能力。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展望未来，我们将从三个方向持续演进。记忆系统方面计划引入知识图谱、时效过期和跨用户共享；多模态交互将支持图片语音、实时协作和移动端适配；平台化演进将构建插件系统、RAG 知识库、Agent 多步编排和多租户权限管理，将系统从工具升级为平台。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以上就是我今天的全部汇报内容，感谢各位的聆听，欢迎大家提问交流。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0" y="-4762500"/>
            <a:ext cx="7620000" cy="7620000"/>
          </a:xfrm>
          <a:prstGeom prst="ellipse">
            <a:avLst/>
          </a:prstGeom>
          <a:solidFill>
            <a:srgbClr val="6200EE">
              <a:alpha val="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239250" y="-3143250"/>
            <a:ext cx="5334000" cy="5334000"/>
          </a:xfrm>
          <a:prstGeom prst="ellipse">
            <a:avLst/>
          </a:prstGeom>
          <a:solidFill>
            <a:srgbClr val="03DAC6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62000" y="5143500"/>
            <a:ext cx="1143000" cy="1143000"/>
          </a:xfrm>
          <a:prstGeom prst="ellipse">
            <a:avLst/>
          </a:prstGeom>
          <a:solidFill>
            <a:srgbClr val="FF0266">
              <a:alpha val="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9144000" y="5810250"/>
            <a:ext cx="762000" cy="762000"/>
          </a:xfrm>
          <a:prstGeom prst="ellipse">
            <a:avLst/>
          </a:prstGeom>
          <a:solidFill>
            <a:srgbClr val="03DAC6">
              <a:alpha val="8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952500" y="19050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84910" y="2023110"/>
            <a:ext cx="6575489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LLM + 永久记忆聊天系统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5390" y="2758440"/>
            <a:ext cx="40302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CHAT A.I+ — 跨会话智能记忆对话系统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238250" y="34290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6200EE">
              <a:alpha val="8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34644" y="3555206"/>
            <a:ext cx="11312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三级记忆作用域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952750" y="34290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03DAC6">
              <a:alpha val="1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227903" y="355520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语义向量检索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667250" y="3429000"/>
            <a:ext cx="1333500" cy="381000"/>
          </a:xfrm>
          <a:prstGeom prst="roundRect">
            <a:avLst>
              <a:gd name="adj" fmla="val 50000"/>
            </a:avLst>
          </a:prstGeom>
          <a:solidFill>
            <a:srgbClr val="FF0266">
              <a:alpha val="8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925913" y="355520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0266"/>
                </a:solidFill>
                <a:latin typeface="Arial"/>
                <a:ea typeface="Microsoft YaHei"/>
                <a:cs typeface="Arial"/>
              </a:rPr>
              <a:t>多模型接入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3429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2979FF">
              <a:alpha val="8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235538" y="3555206"/>
            <a:ext cx="18164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979FF"/>
                </a:solidFill>
                <a:latin typeface="Arial"/>
                <a:ea typeface="Microsoft YaHei"/>
                <a:cs typeface="Arial"/>
              </a:rPr>
              <a:t>Human-in-the-loop 审核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1105" y="4235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项目汇报 · 2026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200EE">
              <a:alpha val="4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9620" y="407670"/>
            <a:ext cx="160675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43200" y="5048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汇报目录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2571750" cy="1905000"/>
          </a:xfrm>
          <a:prstGeom prst="roundRect">
            <a:avLst>
              <a:gd name="adj" fmla="val 8000"/>
            </a:avLst>
          </a:prstGeom>
          <a:solidFill>
            <a:srgbClr val="F6F0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16280" y="1211580"/>
            <a:ext cx="51989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6200EE">
                    <a:alphaMod val="30000"/>
                  </a:srgbClr>
                </a:solidFill>
                <a:latin typeface="Georgia"/>
                <a:ea typeface="SimSun"/>
                <a:cs typeface="Georgia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855" y="18545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项目背景与目标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618" y="21807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痛点分析、核心目标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9618" y="23712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项目定位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6670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381375" y="1143000"/>
            <a:ext cx="2571750" cy="1905000"/>
          </a:xfrm>
          <a:prstGeom prst="roundRect">
            <a:avLst>
              <a:gd name="adj" fmla="val 8000"/>
            </a:avLst>
          </a:prstGeom>
          <a:solidFill>
            <a:srgbClr val="E0F7FA">
              <a:alpha val="4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26155" y="121158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3DAC6">
                    <a:alphaMod val="50000"/>
                  </a:srgbClr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54730" y="18545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系统架构设计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59492" y="21807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整体架构、技术栈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59492" y="23712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分层设计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571875" y="26670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3DAC6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1143000"/>
            <a:ext cx="2571750" cy="1905000"/>
          </a:xfrm>
          <a:prstGeom prst="roundRect">
            <a:avLst>
              <a:gd name="adj" fmla="val 8000"/>
            </a:avLst>
          </a:prstGeom>
          <a:solidFill>
            <a:srgbClr val="FFF0F5">
              <a:alpha val="5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336030" y="121158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0266">
                    <a:alphaMod val="30000"/>
                  </a:srgbClr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4605" y="185451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核心功能：记忆系统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9368" y="21807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三级作用域、提取流水线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9368" y="23712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候选生命周期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381750" y="26670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FF0266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9001125" y="1143000"/>
            <a:ext cx="2571750" cy="1905000"/>
          </a:xfrm>
          <a:prstGeom prst="roundRect">
            <a:avLst>
              <a:gd name="adj" fmla="val 8000"/>
            </a:avLst>
          </a:prstGeom>
          <a:solidFill>
            <a:srgbClr val="E8EAF6">
              <a:alpha val="5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45905" y="121158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979FF">
                    <a:alphaMod val="30000"/>
                  </a:srgbClr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74480" y="18545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企业级特性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79242" y="21807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版本追踪、审计合规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79242" y="23712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向量检索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191625" y="26670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2979FF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571500" y="3333750"/>
            <a:ext cx="2571750" cy="1905000"/>
          </a:xfrm>
          <a:prstGeom prst="roundRect">
            <a:avLst>
              <a:gd name="adj" fmla="val 8000"/>
            </a:avLst>
          </a:prstGeom>
          <a:solidFill>
            <a:srgbClr val="FFF3E0">
              <a:alpha val="5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16280" y="340233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6D00">
                    <a:alphaMod val="30000"/>
                  </a:srgbClr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4855" y="40452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数据模型设计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9618" y="4371499"/>
            <a:ext cx="694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12 张数据表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45619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实体关系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48577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FF6D00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3381375" y="3333750"/>
            <a:ext cx="2571750" cy="1905000"/>
          </a:xfrm>
          <a:prstGeom prst="roundRect">
            <a:avLst>
              <a:gd name="adj" fmla="val 8000"/>
            </a:avLst>
          </a:prstGeom>
          <a:solidFill>
            <a:srgbClr val="F6F0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3526155" y="340233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6200EE">
                    <a:alphaMod val="30000"/>
                  </a:srgbClr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54730" y="40452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项目成果总结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59492" y="43714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功能交付、代码规模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559492" y="45619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571875" y="48577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191250" y="3333750"/>
            <a:ext cx="2571750" cy="1905000"/>
          </a:xfrm>
          <a:prstGeom prst="roundRect">
            <a:avLst>
              <a:gd name="adj" fmla="val 8000"/>
            </a:avLst>
          </a:prstGeom>
          <a:solidFill>
            <a:srgbClr val="E8F5E9">
              <a:alpha val="5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336030" y="340233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C853">
                    <a:alphaMod val="30000"/>
                  </a:srgbClr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64605" y="4045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未来展望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69368" y="43714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演进方向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369368" y="45619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优化计划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381750" y="48577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200EE">
              <a:alpha val="4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86765" y="45815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2515" y="458152"/>
            <a:ext cx="70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|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2530" y="440055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项目背景与目标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47750"/>
            <a:ext cx="5334000" cy="257175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047750"/>
            <a:ext cx="5334000" cy="457200"/>
          </a:xfrm>
          <a:prstGeom prst="roundRect">
            <a:avLst>
              <a:gd name="adj" fmla="val 33333"/>
            </a:avLst>
          </a:prstGeom>
          <a:solidFill>
            <a:srgbClr val="FF0266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352550"/>
            <a:ext cx="5334000" cy="152400"/>
          </a:xfrm>
          <a:prstGeom prst="rect">
            <a:avLst/>
          </a:prstGeom>
          <a:solidFill>
            <a:srgbClr val="FF02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84860" y="12230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核心痛点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00100" y="17145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0266">
              <a:alpha val="8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07001" y="1797368"/>
            <a:ext cx="909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0266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3012" y="1745456"/>
            <a:ext cx="26197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传统 LLM 无状态，每次对话从零开始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0100" y="21336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0266">
              <a:alpha val="8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07001" y="2216468"/>
            <a:ext cx="909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0266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3012" y="2164556"/>
            <a:ext cx="19188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用户反复提供相同背景信息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00100" y="25527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0266">
              <a:alpha val="8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07001" y="2635568"/>
            <a:ext cx="909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0266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3012" y="2583656"/>
            <a:ext cx="23913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无法积累偏好、上下文、技术决策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00100" y="29718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0266">
              <a:alpha val="8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07001" y="3054668"/>
            <a:ext cx="909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0266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3012" y="3002756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跨会话知识无法沉淀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86500" y="1047750"/>
            <a:ext cx="5334000" cy="257175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286500" y="1047750"/>
            <a:ext cx="5334000" cy="457200"/>
          </a:xfrm>
          <a:prstGeom prst="roundRect">
            <a:avLst>
              <a:gd name="adj" fmla="val 33333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352550"/>
            <a:ext cx="5334000" cy="152400"/>
          </a:xfrm>
          <a:prstGeom prst="rect">
            <a:avLst/>
          </a:prstGeom>
          <a:solidFill>
            <a:srgbClr val="6200E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499860" y="12230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项目目标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515100" y="17145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6200EE">
              <a:alpha val="8000"/>
            </a:srgbClr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572250" y="1771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ubicBezTo>
                  <a:pt x="0" y="177426"/>
                  <a:pt x="51174" y="228600"/>
                  <a:pt x="114300" y="228600"/>
                </a:cubicBezTo>
                <a:close/>
                <a:moveTo>
                  <a:pt x="181553" y="81540"/>
                </a:moveTo>
                <a:lnTo>
                  <a:pt x="161347" y="61335"/>
                </a:lnTo>
                <a:lnTo>
                  <a:pt x="92869" y="129813"/>
                </a:lnTo>
                <a:lnTo>
                  <a:pt x="67253" y="104197"/>
                </a:lnTo>
                <a:lnTo>
                  <a:pt x="47047" y="124403"/>
                </a:lnTo>
                <a:lnTo>
                  <a:pt x="92869" y="170224"/>
                </a:lnTo>
                <a:lnTo>
                  <a:pt x="181553" y="81540"/>
                </a:lnTo>
                <a:close/>
              </a:path>
            </a:pathLst>
          </a:custGeom>
          <a:solidFill>
            <a:srgbClr val="6200E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958012" y="1745456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跨会话永久记忆能力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15100" y="21336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6200EE">
              <a:alpha val="8000"/>
            </a:srgbClr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6572250" y="2190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ubicBezTo>
                  <a:pt x="0" y="177426"/>
                  <a:pt x="51174" y="228600"/>
                  <a:pt x="114300" y="228600"/>
                </a:cubicBezTo>
                <a:close/>
                <a:moveTo>
                  <a:pt x="181553" y="81540"/>
                </a:moveTo>
                <a:lnTo>
                  <a:pt x="161347" y="61335"/>
                </a:lnTo>
                <a:lnTo>
                  <a:pt x="92869" y="129813"/>
                </a:lnTo>
                <a:lnTo>
                  <a:pt x="67253" y="104197"/>
                </a:lnTo>
                <a:lnTo>
                  <a:pt x="47047" y="124403"/>
                </a:lnTo>
                <a:lnTo>
                  <a:pt x="92869" y="170224"/>
                </a:lnTo>
                <a:lnTo>
                  <a:pt x="181553" y="81540"/>
                </a:lnTo>
                <a:close/>
              </a:path>
            </a:pathLst>
          </a:custGeom>
          <a:solidFill>
            <a:srgbClr val="6200E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958012" y="2164556"/>
            <a:ext cx="19188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跨对话记住用户偏好和习惯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515100" y="25527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6200EE">
              <a:alpha val="8000"/>
            </a:srgbClr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6572250" y="2609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ubicBezTo>
                  <a:pt x="0" y="177426"/>
                  <a:pt x="51174" y="228600"/>
                  <a:pt x="114300" y="228600"/>
                </a:cubicBezTo>
                <a:close/>
                <a:moveTo>
                  <a:pt x="181553" y="81540"/>
                </a:moveTo>
                <a:lnTo>
                  <a:pt x="161347" y="61335"/>
                </a:lnTo>
                <a:lnTo>
                  <a:pt x="92869" y="129813"/>
                </a:lnTo>
                <a:lnTo>
                  <a:pt x="67253" y="104197"/>
                </a:lnTo>
                <a:lnTo>
                  <a:pt x="47047" y="124403"/>
                </a:lnTo>
                <a:lnTo>
                  <a:pt x="92869" y="170224"/>
                </a:lnTo>
                <a:lnTo>
                  <a:pt x="181553" y="81540"/>
                </a:lnTo>
                <a:close/>
              </a:path>
            </a:pathLst>
          </a:custGeom>
          <a:solidFill>
            <a:srgbClr val="6200E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958012" y="25836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按项目隔离上下文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515100" y="29718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6200EE">
              <a:alpha val="8000"/>
            </a:srgbClr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6572250" y="3028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ubicBezTo>
                  <a:pt x="0" y="177426"/>
                  <a:pt x="51174" y="228600"/>
                  <a:pt x="114300" y="228600"/>
                </a:cubicBezTo>
                <a:close/>
                <a:moveTo>
                  <a:pt x="181553" y="81540"/>
                </a:moveTo>
                <a:lnTo>
                  <a:pt x="161347" y="61335"/>
                </a:lnTo>
                <a:lnTo>
                  <a:pt x="92869" y="129813"/>
                </a:lnTo>
                <a:lnTo>
                  <a:pt x="67253" y="104197"/>
                </a:lnTo>
                <a:lnTo>
                  <a:pt x="47047" y="124403"/>
                </a:lnTo>
                <a:lnTo>
                  <a:pt x="92869" y="170224"/>
                </a:lnTo>
                <a:lnTo>
                  <a:pt x="181553" y="81540"/>
                </a:lnTo>
                <a:close/>
              </a:path>
            </a:pathLst>
          </a:custGeom>
          <a:solidFill>
            <a:srgbClr val="6200EE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958012" y="3002756"/>
            <a:ext cx="17849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自动识别 + 人工确认记忆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3905250"/>
            <a:ext cx="11049000" cy="1524000"/>
          </a:xfrm>
          <a:prstGeom prst="roundRect">
            <a:avLst>
              <a:gd name="adj" fmla="val 10000"/>
            </a:avLst>
          </a:prstGeom>
          <a:solidFill>
            <a:srgbClr val="F6F0FF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3905250"/>
            <a:ext cx="11049000" cy="457200"/>
          </a:xfrm>
          <a:prstGeom prst="roundRect">
            <a:avLst>
              <a:gd name="adj" fmla="val 33333"/>
            </a:avLst>
          </a:prstGeom>
          <a:solidFill>
            <a:srgbClr val="03DAC6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571500" y="4210050"/>
            <a:ext cx="11049000" cy="152400"/>
          </a:xfrm>
          <a:prstGeom prst="rect">
            <a:avLst/>
          </a:prstGeom>
          <a:solidFill>
            <a:srgbClr val="03DAC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84860" y="40805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项目定位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84860" y="4556760"/>
            <a:ext cx="40789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面向对象：</a:t>
            </a:r>
            <a:r>
              <a:rPr lang="zh-CN" sz="120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120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个人开发者和小型技术团队的知识型对话助手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84860" y="4842510"/>
            <a:ext cx="45590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适用场景：</a:t>
            </a:r>
            <a:r>
              <a:rPr lang="zh-CN" sz="120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120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长期项目上下文维护、技术决策记录、个人偏好管理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84860" y="5128260"/>
            <a:ext cx="46470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多模型接入：</a:t>
            </a:r>
            <a:r>
              <a:rPr lang="zh-CN" sz="120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120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Qwen / Kimi / MiniMax / GLM，适配不同推理需求</a:t>
            </a:r>
          </a:p>
        </p:txBody>
      </p:sp>
      <p:sp>
        <p:nvSpPr>
          <p:cNvPr id="46" name="Rectangle 46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200EE">
              <a:alpha val="4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1733562" y="64941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28575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86765" y="362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9180" y="30670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系统架构设计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57250"/>
            <a:ext cx="11049000" cy="1619250"/>
          </a:xfrm>
          <a:prstGeom prst="roundRect">
            <a:avLst>
              <a:gd name="adj" fmla="val 9412"/>
            </a:avLst>
          </a:prstGeom>
          <a:solidFill>
            <a:srgbClr val="F6F0FF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800100" y="1028700"/>
            <a:ext cx="952500" cy="3048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42487" y="112490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54518" y="11329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SPA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00100" y="1447800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76312" y="1593056"/>
            <a:ext cx="16510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React 19 + TypeScript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8218" y="1799749"/>
            <a:ext cx="6878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Vite 8 构建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8218" y="1971199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Ant Design 6 组件库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371850" y="1447800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548062" y="1593056"/>
            <a:ext cx="11469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Markdown 渲染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49968" y="17997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react-markdown + KaTeX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49968" y="1971199"/>
            <a:ext cx="8763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shiki 代码高亮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943600" y="1447800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119812" y="15930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功能模块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21718" y="1799749"/>
            <a:ext cx="1344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登录注册 · 聊天主界面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21718" y="19711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API Explorer · 设置中心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515350" y="1447800"/>
            <a:ext cx="28575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91562" y="15930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路由设计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93468" y="1799749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react-router-dom 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93468" y="1971199"/>
            <a:ext cx="798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SPA 路由守卫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667000"/>
            <a:ext cx="11049000" cy="1619250"/>
          </a:xfrm>
          <a:prstGeom prst="roundRect">
            <a:avLst>
              <a:gd name="adj" fmla="val 9412"/>
            </a:avLst>
          </a:prstGeom>
          <a:solidFill>
            <a:srgbClr val="E3F2FD">
              <a:alpha val="40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00100" y="2838450"/>
            <a:ext cx="952500" cy="304800"/>
          </a:xfrm>
          <a:prstGeom prst="roundRect">
            <a:avLst>
              <a:gd name="adj" fmla="val 50000"/>
            </a:avLst>
          </a:prstGeom>
          <a:solidFill>
            <a:srgbClr val="2979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42487" y="29346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54518" y="294274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979FF"/>
                </a:solidFill>
                <a:latin typeface="Arial"/>
                <a:ea typeface="Microsoft YaHei"/>
                <a:cs typeface="Arial"/>
              </a:rPr>
              <a:t>API Server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0100" y="3257550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76312" y="3402806"/>
            <a:ext cx="9973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FastAPI 0.115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8218" y="3609499"/>
            <a:ext cx="13639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Python 3.13 · uvicorn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8218" y="3780949"/>
            <a:ext cx="14744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pydantic-settings 配置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371850" y="3257550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548062" y="3402806"/>
            <a:ext cx="1225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SQLAlchemy 2.0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549968" y="3609499"/>
            <a:ext cx="1201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ORM + Alembic 迁移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49968" y="3780949"/>
            <a:ext cx="11299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Pydantic Schemas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943600" y="3257550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119812" y="3402806"/>
            <a:ext cx="6822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LLM 接入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21718" y="3609499"/>
            <a:ext cx="9998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OpenAI 兼容 SDK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121718" y="3780949"/>
            <a:ext cx="1045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6 种模型即插即用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515350" y="3257550"/>
            <a:ext cx="28575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691562" y="3402806"/>
            <a:ext cx="8398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13 路由模块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693468" y="3609499"/>
            <a:ext cx="1994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auth · chat · memory · project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693468" y="3780949"/>
            <a:ext cx="1396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audit · conversations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4476750"/>
            <a:ext cx="11049000" cy="1238250"/>
          </a:xfrm>
          <a:prstGeom prst="roundRect">
            <a:avLst>
              <a:gd name="adj" fmla="val 12308"/>
            </a:avLst>
          </a:prstGeom>
          <a:solidFill>
            <a:srgbClr val="E0F2F1">
              <a:alpha val="40000"/>
            </a:srgbClr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00100" y="4648200"/>
            <a:ext cx="952500" cy="304800"/>
          </a:xfrm>
          <a:prstGeom prst="roundRect">
            <a:avLst>
              <a:gd name="adj" fmla="val 50000"/>
            </a:avLst>
          </a:prstGeom>
          <a:solidFill>
            <a:srgbClr val="03DAC6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042487" y="474440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854518" y="4752499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Storage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00100" y="5048250"/>
            <a:ext cx="33337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77265" y="51635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关系数据库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79170" y="5370195"/>
            <a:ext cx="20331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SQLite (dev) · PostgreSQL (prod)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324350" y="5048250"/>
            <a:ext cx="33337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4501515" y="51635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向量存储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503420" y="5370195"/>
            <a:ext cx="1817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pgvector · 1536 维 · 余弦相似度</a:t>
            </a:r>
          </a:p>
        </p:txBody>
      </p:sp>
      <p:sp>
        <p:nvSpPr>
          <p:cNvPr id="56" name="Rectangle 56"/>
          <p:cNvSpPr/>
          <p:nvPr/>
        </p:nvSpPr>
        <p:spPr>
          <a:xfrm>
            <a:off x="7848600" y="5048250"/>
            <a:ext cx="35242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025765" y="5163502"/>
            <a:ext cx="783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12 张数据表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027670" y="5370195"/>
            <a:ext cx="1643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内容哈希变更检测 · ORM 映射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71500" y="6000750"/>
            <a:ext cx="11049000" cy="419100"/>
          </a:xfrm>
          <a:prstGeom prst="roundRect">
            <a:avLst>
              <a:gd name="adj" fmla="val 27273"/>
            </a:avLst>
          </a:prstGeom>
          <a:solidFill>
            <a:srgbClr val="F6F0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749618" y="6162199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请求流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21118" y="6162199"/>
            <a:ext cx="299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React SPA → API 路由层 → 业务服务层 → 数据访问层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200EE">
              <a:alpha val="4000"/>
            </a:srgbClr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11733562" y="64941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86765" y="3057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1085" y="265748"/>
            <a:ext cx="25068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核心功能：记忆系统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723900"/>
            <a:ext cx="3429000" cy="4191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90440" y="869156"/>
            <a:ext cx="13911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Global 全局 · ≤4 条</a:t>
            </a:r>
          </a:p>
        </p:txBody>
      </p:sp>
      <p:sp>
        <p:nvSpPr>
          <p:cNvPr id="8" name="Rectangle 8"/>
          <p:cNvSpPr/>
          <p:nvPr/>
        </p:nvSpPr>
        <p:spPr>
          <a:xfrm>
            <a:off x="4191000" y="723900"/>
            <a:ext cx="3429000" cy="419100"/>
          </a:xfrm>
          <a:prstGeom prst="roundRect">
            <a:avLst>
              <a:gd name="adj" fmla="val 50000"/>
            </a:avLst>
          </a:prstGeom>
          <a:solidFill>
            <a:srgbClr val="03DAC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146932" y="869156"/>
            <a:ext cx="15171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Project 项目 · ≤6 条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810500" y="723900"/>
            <a:ext cx="3619500" cy="419100"/>
          </a:xfrm>
          <a:prstGeom prst="roundRect">
            <a:avLst>
              <a:gd name="adj" fmla="val 50000"/>
            </a:avLst>
          </a:prstGeom>
          <a:solidFill>
            <a:srgbClr val="FF02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645092" y="869156"/>
            <a:ext cx="19503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Conversation 会话 · ≤6 条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333500"/>
            <a:ext cx="11049000" cy="1428750"/>
          </a:xfrm>
          <a:prstGeom prst="roundRect">
            <a:avLst>
              <a:gd name="adj" fmla="val 10667"/>
            </a:avLst>
          </a:prstGeom>
          <a:solidFill>
            <a:srgbClr val="F6F0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6765" y="148685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自动提取流水线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771650"/>
            <a:ext cx="1714500" cy="47625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1070" y="1884045"/>
            <a:ext cx="6340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① 检测意图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2022" y="2063591"/>
            <a:ext cx="9120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"请记住"等关键词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56510" y="19278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762250" y="1771650"/>
            <a:ext cx="1714500" cy="476250"/>
          </a:xfrm>
          <a:prstGeom prst="roundRect">
            <a:avLst>
              <a:gd name="adj" fmla="val 50000"/>
            </a:avLst>
          </a:prstGeom>
          <a:solidFill>
            <a:srgbClr val="2979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941320" y="188404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② LLM 评估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42272" y="2063591"/>
            <a:ext cx="10110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异步评估非显式消息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6760" y="19278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762500" y="1771650"/>
            <a:ext cx="1714500" cy="476250"/>
          </a:xfrm>
          <a:prstGeom prst="roundRect">
            <a:avLst>
              <a:gd name="adj" fmla="val 50000"/>
            </a:avLst>
          </a:prstGeom>
          <a:solidFill>
            <a:srgbClr val="03DAC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941570" y="1884045"/>
            <a:ext cx="7600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③ 结构化候选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42522" y="2063591"/>
            <a:ext cx="10165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JSON (kind/scope)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57010" y="19278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762750" y="1771650"/>
            <a:ext cx="1714500" cy="476250"/>
          </a:xfrm>
          <a:prstGeom prst="roundRect">
            <a:avLst>
              <a:gd name="adj" fmla="val 50000"/>
            </a:avLst>
          </a:prstGeom>
          <a:solidFill>
            <a:srgbClr val="FF6D0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941820" y="1884045"/>
            <a:ext cx="6340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④ 敏感过滤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42772" y="2063591"/>
            <a:ext cx="10715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密码/证件号自动过滤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57260" y="19278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763000" y="1771650"/>
            <a:ext cx="1714500" cy="476250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942070" y="1884045"/>
            <a:ext cx="6340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⑤ 去重审核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43022" y="2063591"/>
            <a:ext cx="961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精确/身份匹配去重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8670" y="2455545"/>
            <a:ext cx="49794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候选审核：高置信度(≥85)内联卡片 · 普通候选待审核 · 会话级可自动接受 · 接受/忽略/推迟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2952750"/>
            <a:ext cx="53340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71500" y="2952750"/>
            <a:ext cx="5334000" cy="419100"/>
          </a:xfrm>
          <a:prstGeom prst="roundRect">
            <a:avLst>
              <a:gd name="adj" fmla="val 36364"/>
            </a:avLst>
          </a:prstGeom>
          <a:solidFill>
            <a:srgbClr val="FF0266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571500" y="3257550"/>
            <a:ext cx="5334000" cy="114300"/>
          </a:xfrm>
          <a:prstGeom prst="rect">
            <a:avLst/>
          </a:prstGeom>
          <a:solidFill>
            <a:srgbClr val="FF026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85812" y="31170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记忆分类体系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562350"/>
            <a:ext cx="952500" cy="304800"/>
          </a:xfrm>
          <a:prstGeom prst="roundRect">
            <a:avLst>
              <a:gd name="adj" fmla="val 50000"/>
            </a:avLst>
          </a:prstGeom>
          <a:solidFill>
            <a:srgbClr val="F6F0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56804" y="3657124"/>
            <a:ext cx="6390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fact 事实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885950" y="3562350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E0F2F1">
              <a:alpha val="60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912651" y="3657124"/>
            <a:ext cx="10895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preference 偏好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62300" y="356235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FFF3E0">
              <a:alpha val="6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71067" y="3657124"/>
            <a:ext cx="8302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6D00"/>
                </a:solidFill>
                <a:latin typeface="Arial"/>
                <a:ea typeface="Microsoft YaHei"/>
                <a:cs typeface="Arial"/>
              </a:rPr>
              <a:t>project 项目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343400" y="3562350"/>
            <a:ext cx="857250" cy="304800"/>
          </a:xfrm>
          <a:prstGeom prst="roundRect">
            <a:avLst>
              <a:gd name="adj" fmla="val 50000"/>
            </a:avLst>
          </a:prstGeom>
          <a:solidFill>
            <a:srgbClr val="E3F2FD">
              <a:alpha val="5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469544" y="3657124"/>
            <a:ext cx="604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979FF"/>
                </a:solidFill>
                <a:latin typeface="Arial"/>
                <a:ea typeface="Microsoft YaHei"/>
                <a:cs typeface="Arial"/>
              </a:rPr>
              <a:t>tool 工具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00100" y="398145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FCE4EC">
              <a:alpha val="50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88390" y="4076224"/>
            <a:ext cx="8711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0266"/>
                </a:solidFill>
                <a:latin typeface="Arial"/>
                <a:ea typeface="Microsoft YaHei"/>
                <a:cs typeface="Arial"/>
              </a:rPr>
              <a:t>decision 决策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86765" y="449675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每条记忆包含：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88670" y="4760595"/>
            <a:ext cx="3659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57575"/>
                </a:solidFill>
                <a:latin typeface="Consolas"/>
                <a:ea typeface="Microsoft YaHei"/>
                <a:cs typeface="Consolas"/>
              </a:rPr>
              <a:t>content · kind · scope · confidence · importance · sensitivity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952750"/>
            <a:ext cx="55245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6096000" y="2952750"/>
            <a:ext cx="5524500" cy="419100"/>
          </a:xfrm>
          <a:prstGeom prst="roundRect">
            <a:avLst>
              <a:gd name="adj" fmla="val 36364"/>
            </a:avLst>
          </a:prstGeom>
          <a:solidFill>
            <a:srgbClr val="03DAC6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6096000" y="3257550"/>
            <a:ext cx="5524500" cy="114300"/>
          </a:xfrm>
          <a:prstGeom prst="rect">
            <a:avLst/>
          </a:prstGeom>
          <a:solidFill>
            <a:srgbClr val="03DAC6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310312" y="3117056"/>
            <a:ext cx="11312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上下文注入策略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324600" y="35623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03DAC6">
              <a:alpha val="12000"/>
            </a:srgbClr>
          </a:solidFill>
          <a:ln>
            <a:noFill/>
          </a:ln>
        </p:spPr>
      </p:sp>
      <p:sp>
        <p:nvSpPr>
          <p:cNvPr id="55" name="Freeform 55"/>
          <p:cNvSpPr/>
          <p:nvPr/>
        </p:nvSpPr>
        <p:spPr>
          <a:xfrm>
            <a:off x="6410325" y="36195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00012" y="100012"/>
                </a:moveTo>
                <a:lnTo>
                  <a:pt x="114300" y="0"/>
                </a:lnTo>
                <a:lnTo>
                  <a:pt x="85725" y="0"/>
                </a:lnTo>
                <a:lnTo>
                  <a:pt x="0" y="100012"/>
                </a:lnTo>
                <a:lnTo>
                  <a:pt x="0" y="128588"/>
                </a:lnTo>
                <a:lnTo>
                  <a:pt x="71438" y="128588"/>
                </a:lnTo>
                <a:lnTo>
                  <a:pt x="57150" y="228600"/>
                </a:lnTo>
                <a:lnTo>
                  <a:pt x="85725" y="228600"/>
                </a:lnTo>
                <a:lnTo>
                  <a:pt x="171450" y="128588"/>
                </a:lnTo>
                <a:lnTo>
                  <a:pt x="171450" y="100012"/>
                </a:lnTo>
                <a:lnTo>
                  <a:pt x="100012" y="100012"/>
                </a:lnTo>
                <a:close/>
              </a:path>
            </a:pathLst>
          </a:custGeom>
          <a:solidFill>
            <a:srgbClr val="00897B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787515" y="3658552"/>
            <a:ext cx="2189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系统消息形式注入 LLM 对话上下文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324600" y="40386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03DAC6">
              <a:alpha val="12000"/>
            </a:srgbClr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6410325" y="4095750"/>
            <a:ext cx="171451" cy="228600"/>
            <a:chOff x="6410325" y="4095750"/>
            <a:chExt cx="171451" cy="228600"/>
          </a:xfrm>
        </p:grpSpPr>
        <p:sp>
          <p:nvSpPr>
            <p:cNvPr id="58" name="Freeform 58"/>
            <p:cNvSpPr/>
            <p:nvPr/>
          </p:nvSpPr>
          <p:spPr>
            <a:xfrm>
              <a:off x="6410325" y="409575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71438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71450" y="228600"/>
                  </a:lnTo>
                  <a:lnTo>
                    <a:pt x="171450" y="100012"/>
                  </a:lnTo>
                  <a:lnTo>
                    <a:pt x="71438" y="100012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00897B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6510338" y="4095750"/>
              <a:ext cx="71438" cy="71438"/>
            </a:xfrm>
            <a:custGeom>
              <a:avLst/>
              <a:gdLst/>
              <a:ahLst/>
              <a:cxnLst/>
              <a:rect l="l" t="t" r="r" b="b"/>
              <a:pathLst>
                <a:path w="71438" h="71438">
                  <a:moveTo>
                    <a:pt x="0" y="0"/>
                  </a:moveTo>
                  <a:lnTo>
                    <a:pt x="0" y="71438"/>
                  </a:lnTo>
                  <a:lnTo>
                    <a:pt x="71438" y="71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97B"/>
            </a:solidFill>
            <a:ln>
              <a:noFill/>
            </a:ln>
          </p:spPr>
        </p:sp>
      </p:grpSp>
      <p:sp>
        <p:nvSpPr>
          <p:cNvPr id="61" name="TextBox 61"/>
          <p:cNvSpPr txBox="1"/>
          <p:nvPr/>
        </p:nvSpPr>
        <p:spPr>
          <a:xfrm>
            <a:off x="6787515" y="4134802"/>
            <a:ext cx="24979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优先使用 AI 聚合记忆文档 (Markdown)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324600" y="45148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03DAC6">
              <a:alpha val="12000"/>
            </a:srgbClr>
          </a:solidFill>
          <a:ln>
            <a:noFill/>
          </a:ln>
        </p:spPr>
      </p:sp>
      <p:sp>
        <p:nvSpPr>
          <p:cNvPr id="63" name="Freeform 63"/>
          <p:cNvSpPr/>
          <p:nvPr/>
        </p:nvSpPr>
        <p:spPr>
          <a:xfrm>
            <a:off x="6381750" y="4572000"/>
            <a:ext cx="224415" cy="224415"/>
          </a:xfrm>
          <a:custGeom>
            <a:avLst/>
            <a:gdLst/>
            <a:ahLst/>
            <a:cxnLst/>
            <a:rect l="l" t="t" r="r" b="b"/>
            <a:pathLst>
              <a:path w="224415" h="224415">
                <a:moveTo>
                  <a:pt x="159909" y="180114"/>
                </a:moveTo>
                <a:cubicBezTo>
                  <a:pt x="143212" y="192618"/>
                  <a:pt x="122477" y="200025"/>
                  <a:pt x="100012" y="200025"/>
                </a:cubicBezTo>
                <a:cubicBezTo>
                  <a:pt x="44777" y="200025"/>
                  <a:pt x="0" y="155248"/>
                  <a:pt x="0" y="100012"/>
                </a:cubicBezTo>
                <a:cubicBezTo>
                  <a:pt x="0" y="44777"/>
                  <a:pt x="44777" y="0"/>
                  <a:pt x="100012" y="0"/>
                </a:cubicBezTo>
                <a:cubicBezTo>
                  <a:pt x="155248" y="0"/>
                  <a:pt x="200025" y="44777"/>
                  <a:pt x="200025" y="100012"/>
                </a:cubicBezTo>
                <a:cubicBezTo>
                  <a:pt x="200025" y="122477"/>
                  <a:pt x="192618" y="143212"/>
                  <a:pt x="180114" y="159909"/>
                </a:cubicBezTo>
                <a:lnTo>
                  <a:pt x="224415" y="204210"/>
                </a:lnTo>
                <a:lnTo>
                  <a:pt x="204210" y="224415"/>
                </a:lnTo>
                <a:lnTo>
                  <a:pt x="159909" y="180114"/>
                </a:lnTo>
                <a:close/>
                <a:moveTo>
                  <a:pt x="79807" y="120218"/>
                </a:moveTo>
                <a:lnTo>
                  <a:pt x="59601" y="140424"/>
                </a:lnTo>
                <a:cubicBezTo>
                  <a:pt x="37283" y="118105"/>
                  <a:pt x="37283" y="81920"/>
                  <a:pt x="59601" y="59601"/>
                </a:cubicBezTo>
                <a:cubicBezTo>
                  <a:pt x="81920" y="37283"/>
                  <a:pt x="118105" y="37283"/>
                  <a:pt x="140424" y="59601"/>
                </a:cubicBezTo>
                <a:lnTo>
                  <a:pt x="120218" y="79807"/>
                </a:lnTo>
                <a:cubicBezTo>
                  <a:pt x="109059" y="68648"/>
                  <a:pt x="90966" y="68648"/>
                  <a:pt x="79807" y="79807"/>
                </a:cubicBezTo>
                <a:cubicBezTo>
                  <a:pt x="68648" y="90966"/>
                  <a:pt x="68648" y="109059"/>
                  <a:pt x="79807" y="120218"/>
                </a:cubicBezTo>
                <a:close/>
              </a:path>
            </a:pathLst>
          </a:custGeom>
          <a:solidFill>
            <a:srgbClr val="00897B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787515" y="4611052"/>
            <a:ext cx="18328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pgvector → 语义 Top-K 检索</a:t>
            </a:r>
          </a:p>
        </p:txBody>
      </p:sp>
      <p:sp>
        <p:nvSpPr>
          <p:cNvPr id="65" name="Rectangle 65"/>
          <p:cNvSpPr/>
          <p:nvPr/>
        </p:nvSpPr>
        <p:spPr>
          <a:xfrm>
            <a:off x="6324600" y="49911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03DAC6">
              <a:alpha val="12000"/>
            </a:srgbClr>
          </a:solidFill>
          <a:ln>
            <a:noFill/>
          </a:ln>
        </p:spPr>
      </p:sp>
      <p:sp>
        <p:nvSpPr>
          <p:cNvPr id="66" name="Freeform 66"/>
          <p:cNvSpPr/>
          <p:nvPr/>
        </p:nvSpPr>
        <p:spPr>
          <a:xfrm>
            <a:off x="6381750" y="5048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ubicBezTo>
                  <a:pt x="0" y="177426"/>
                  <a:pt x="51174" y="228600"/>
                  <a:pt x="114300" y="228600"/>
                </a:cubicBezTo>
                <a:close/>
                <a:moveTo>
                  <a:pt x="100012" y="42862"/>
                </a:moveTo>
                <a:lnTo>
                  <a:pt x="100012" y="120218"/>
                </a:lnTo>
                <a:lnTo>
                  <a:pt x="147060" y="167265"/>
                </a:lnTo>
                <a:lnTo>
                  <a:pt x="167265" y="147060"/>
                </a:lnTo>
                <a:lnTo>
                  <a:pt x="128588" y="108382"/>
                </a:lnTo>
                <a:lnTo>
                  <a:pt x="128588" y="42862"/>
                </a:lnTo>
                <a:lnTo>
                  <a:pt x="100012" y="42862"/>
                </a:lnTo>
                <a:close/>
              </a:path>
            </a:pathLst>
          </a:custGeom>
          <a:solidFill>
            <a:srgbClr val="00897B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6787515" y="5087302"/>
            <a:ext cx="18048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仅 SQLite → 按时间排序降级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312218" y="5571649"/>
            <a:ext cx="16970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3DAC6"/>
                </a:solidFill>
                <a:latin typeface="Arial"/>
                <a:ea typeface="Microsoft YaHei"/>
                <a:cs typeface="Arial"/>
              </a:rPr>
              <a:t>记忆注入不阻塞聊天 SSE 流</a:t>
            </a:r>
          </a:p>
        </p:txBody>
      </p:sp>
      <p:sp>
        <p:nvSpPr>
          <p:cNvPr id="69" name="Rectangle 69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200EE">
              <a:alpha val="4000"/>
            </a:srgbClr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11733562" y="64941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86765" y="458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2530" y="4400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企业级特性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47750"/>
            <a:ext cx="542925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5429250" cy="457200"/>
          </a:xfrm>
          <a:prstGeom prst="roundRect">
            <a:avLst>
              <a:gd name="adj" fmla="val 33333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352550"/>
            <a:ext cx="5429250" cy="152400"/>
          </a:xfrm>
          <a:prstGeom prst="rect">
            <a:avLst/>
          </a:prstGeom>
          <a:solidFill>
            <a:srgbClr val="6200EE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23900" y="11430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266700"/>
                </a:moveTo>
                <a:cubicBezTo>
                  <a:pt x="206998" y="266700"/>
                  <a:pt x="266700" y="206998"/>
                  <a:pt x="266700" y="133350"/>
                </a:cubicBezTo>
                <a:cubicBezTo>
                  <a:pt x="266700" y="59703"/>
                  <a:pt x="206998" y="0"/>
                  <a:pt x="133350" y="0"/>
                </a:cubicBezTo>
                <a:cubicBezTo>
                  <a:pt x="59703" y="0"/>
                  <a:pt x="0" y="59703"/>
                  <a:pt x="0" y="133350"/>
                </a:cubicBezTo>
                <a:cubicBezTo>
                  <a:pt x="0" y="206998"/>
                  <a:pt x="59703" y="266700"/>
                  <a:pt x="133350" y="266700"/>
                </a:cubicBezTo>
                <a:close/>
                <a:moveTo>
                  <a:pt x="116681" y="50006"/>
                </a:moveTo>
                <a:lnTo>
                  <a:pt x="116681" y="140254"/>
                </a:lnTo>
                <a:lnTo>
                  <a:pt x="171570" y="195143"/>
                </a:lnTo>
                <a:lnTo>
                  <a:pt x="195143" y="171570"/>
                </a:lnTo>
                <a:lnTo>
                  <a:pt x="150019" y="126446"/>
                </a:lnTo>
                <a:lnTo>
                  <a:pt x="150019" y="50006"/>
                </a:lnTo>
                <a:lnTo>
                  <a:pt x="116681" y="5000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70610" y="12230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记忆版本追踪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812" y="1688306"/>
            <a:ext cx="25788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每次变更创建版本快照，链表结构追溯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5812" y="1974056"/>
            <a:ext cx="25713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version_number 递增，记录变更原因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5812" y="225980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完整回溯任意历史版本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5812" y="2545556"/>
            <a:ext cx="28789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支持 create / update / delete / archive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91250" y="1047750"/>
            <a:ext cx="542925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191250" y="1047750"/>
            <a:ext cx="5429250" cy="457200"/>
          </a:xfrm>
          <a:prstGeom prst="roundRect">
            <a:avLst>
              <a:gd name="adj" fmla="val 33333"/>
            </a:avLst>
          </a:prstGeom>
          <a:solidFill>
            <a:srgbClr val="2979FF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191250" y="1352550"/>
            <a:ext cx="5429250" cy="152400"/>
          </a:xfrm>
          <a:prstGeom prst="rect">
            <a:avLst/>
          </a:prstGeom>
          <a:solidFill>
            <a:srgbClr val="2979F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6360319" y="1143000"/>
            <a:ext cx="233362" cy="266700"/>
          </a:xfrm>
          <a:custGeom>
            <a:avLst/>
            <a:gdLst/>
            <a:ahLst/>
            <a:cxnLst/>
            <a:rect l="l" t="t" r="r" b="b"/>
            <a:pathLst>
              <a:path w="233362" h="266700">
                <a:moveTo>
                  <a:pt x="116681" y="266700"/>
                </a:moveTo>
                <a:lnTo>
                  <a:pt x="55842" y="223243"/>
                </a:lnTo>
                <a:cubicBezTo>
                  <a:pt x="20798" y="198211"/>
                  <a:pt x="0" y="157798"/>
                  <a:pt x="0" y="114732"/>
                </a:cubicBezTo>
                <a:lnTo>
                  <a:pt x="0" y="50006"/>
                </a:lnTo>
                <a:lnTo>
                  <a:pt x="116681" y="0"/>
                </a:lnTo>
                <a:lnTo>
                  <a:pt x="233362" y="50006"/>
                </a:lnTo>
                <a:lnTo>
                  <a:pt x="233362" y="114732"/>
                </a:lnTo>
                <a:cubicBezTo>
                  <a:pt x="233362" y="157798"/>
                  <a:pt x="212565" y="198211"/>
                  <a:pt x="177521" y="223243"/>
                </a:cubicBezTo>
                <a:lnTo>
                  <a:pt x="116681" y="266700"/>
                </a:lnTo>
                <a:close/>
                <a:moveTo>
                  <a:pt x="186808" y="95130"/>
                </a:moveTo>
                <a:lnTo>
                  <a:pt x="163235" y="71557"/>
                </a:lnTo>
                <a:lnTo>
                  <a:pt x="100012" y="134780"/>
                </a:lnTo>
                <a:lnTo>
                  <a:pt x="70127" y="104895"/>
                </a:lnTo>
                <a:lnTo>
                  <a:pt x="46554" y="128468"/>
                </a:lnTo>
                <a:lnTo>
                  <a:pt x="100012" y="181926"/>
                </a:lnTo>
                <a:lnTo>
                  <a:pt x="186808" y="951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690360" y="12230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操作审计合规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5562" y="168830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所有记忆操作记录审计日志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05562" y="1974056"/>
            <a:ext cx="28339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捕获变更前后状态 (before/after JSON)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05562" y="2259806"/>
            <a:ext cx="28564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区分操作来源：manual / api / automatic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05562" y="2545556"/>
            <a:ext cx="14687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记录 IP 地址和请求 ID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714750"/>
            <a:ext cx="542925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3714750"/>
            <a:ext cx="5429250" cy="457200"/>
          </a:xfrm>
          <a:prstGeom prst="roundRect">
            <a:avLst>
              <a:gd name="adj" fmla="val 33333"/>
            </a:avLst>
          </a:prstGeom>
          <a:solidFill>
            <a:srgbClr val="03DAC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4019550"/>
            <a:ext cx="5429250" cy="152400"/>
          </a:xfrm>
          <a:prstGeom prst="rect">
            <a:avLst/>
          </a:prstGeom>
          <a:solidFill>
            <a:srgbClr val="03DAC6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757238" y="3810000"/>
            <a:ext cx="200025" cy="266700"/>
          </a:xfrm>
          <a:custGeom>
            <a:avLst/>
            <a:gdLst/>
            <a:ahLst/>
            <a:cxnLst/>
            <a:rect l="l" t="t" r="r" b="b"/>
            <a:pathLst>
              <a:path w="200025" h="266700">
                <a:moveTo>
                  <a:pt x="33338" y="100012"/>
                </a:moveTo>
                <a:lnTo>
                  <a:pt x="33338" y="66675"/>
                </a:lnTo>
                <a:cubicBezTo>
                  <a:pt x="33338" y="29851"/>
                  <a:pt x="63189" y="0"/>
                  <a:pt x="100012" y="0"/>
                </a:cubicBezTo>
                <a:cubicBezTo>
                  <a:pt x="136835" y="0"/>
                  <a:pt x="166688" y="29851"/>
                  <a:pt x="166688" y="66675"/>
                </a:cubicBezTo>
                <a:lnTo>
                  <a:pt x="166688" y="100012"/>
                </a:lnTo>
                <a:lnTo>
                  <a:pt x="200025" y="100012"/>
                </a:lnTo>
                <a:lnTo>
                  <a:pt x="200025" y="266700"/>
                </a:lnTo>
                <a:lnTo>
                  <a:pt x="0" y="266700"/>
                </a:lnTo>
                <a:lnTo>
                  <a:pt x="0" y="100012"/>
                </a:lnTo>
                <a:lnTo>
                  <a:pt x="33338" y="100012"/>
                </a:lnTo>
                <a:close/>
                <a:moveTo>
                  <a:pt x="66675" y="66675"/>
                </a:moveTo>
                <a:cubicBezTo>
                  <a:pt x="66675" y="48263"/>
                  <a:pt x="81601" y="33338"/>
                  <a:pt x="100012" y="33338"/>
                </a:cubicBezTo>
                <a:cubicBezTo>
                  <a:pt x="118424" y="33338"/>
                  <a:pt x="133350" y="48263"/>
                  <a:pt x="133350" y="66675"/>
                </a:cubicBezTo>
                <a:lnTo>
                  <a:pt x="133350" y="100012"/>
                </a:lnTo>
                <a:lnTo>
                  <a:pt x="66675" y="100012"/>
                </a:lnTo>
                <a:lnTo>
                  <a:pt x="66675" y="66675"/>
                </a:lnTo>
                <a:close/>
                <a:moveTo>
                  <a:pt x="83344" y="216694"/>
                </a:moveTo>
                <a:lnTo>
                  <a:pt x="83344" y="150019"/>
                </a:lnTo>
                <a:lnTo>
                  <a:pt x="116681" y="150019"/>
                </a:lnTo>
                <a:lnTo>
                  <a:pt x="116681" y="216694"/>
                </a:lnTo>
                <a:lnTo>
                  <a:pt x="83344" y="2166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70610" y="38900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认证与安全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5812" y="4355306"/>
            <a:ext cx="18963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scrypt 密码哈希 + 16B 盐值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5812" y="4641056"/>
            <a:ext cx="20313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Bearer Token (SHA256 存储)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5812" y="4926806"/>
            <a:ext cx="21588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所有查询强制 user_id 数据隔离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5812" y="5212556"/>
            <a:ext cx="30214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文件上传限制：≤6 附件/消息，单文件 ≤10MB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191250" y="3714750"/>
            <a:ext cx="542925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191250" y="3714750"/>
            <a:ext cx="5429250" cy="457200"/>
          </a:xfrm>
          <a:prstGeom prst="roundRect">
            <a:avLst>
              <a:gd name="adj" fmla="val 33333"/>
            </a:avLst>
          </a:prstGeom>
          <a:solidFill>
            <a:srgbClr val="FF0266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191250" y="4019550"/>
            <a:ext cx="5429250" cy="152400"/>
          </a:xfrm>
          <a:prstGeom prst="rect">
            <a:avLst/>
          </a:prstGeom>
          <a:solidFill>
            <a:srgbClr val="FF0266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6360319" y="3810000"/>
            <a:ext cx="233362" cy="266700"/>
          </a:xfrm>
          <a:custGeom>
            <a:avLst/>
            <a:gdLst/>
            <a:ahLst/>
            <a:cxnLst/>
            <a:rect l="l" t="t" r="r" b="b"/>
            <a:pathLst>
              <a:path w="233362" h="266700">
                <a:moveTo>
                  <a:pt x="83344" y="0"/>
                </a:moveTo>
                <a:lnTo>
                  <a:pt x="83344" y="66675"/>
                </a:lnTo>
                <a:lnTo>
                  <a:pt x="150019" y="66675"/>
                </a:lnTo>
                <a:lnTo>
                  <a:pt x="150019" y="0"/>
                </a:lnTo>
                <a:lnTo>
                  <a:pt x="183356" y="0"/>
                </a:lnTo>
                <a:lnTo>
                  <a:pt x="183356" y="66675"/>
                </a:lnTo>
                <a:lnTo>
                  <a:pt x="233362" y="66675"/>
                </a:lnTo>
                <a:lnTo>
                  <a:pt x="233362" y="100012"/>
                </a:lnTo>
                <a:lnTo>
                  <a:pt x="200025" y="100012"/>
                </a:lnTo>
                <a:lnTo>
                  <a:pt x="200025" y="133350"/>
                </a:lnTo>
                <a:cubicBezTo>
                  <a:pt x="200025" y="173672"/>
                  <a:pt x="171391" y="207304"/>
                  <a:pt x="133350" y="215027"/>
                </a:cubicBezTo>
                <a:lnTo>
                  <a:pt x="133350" y="266700"/>
                </a:lnTo>
                <a:lnTo>
                  <a:pt x="100012" y="266700"/>
                </a:lnTo>
                <a:lnTo>
                  <a:pt x="100012" y="215027"/>
                </a:lnTo>
                <a:cubicBezTo>
                  <a:pt x="61970" y="207304"/>
                  <a:pt x="33338" y="173672"/>
                  <a:pt x="33338" y="133350"/>
                </a:cubicBezTo>
                <a:lnTo>
                  <a:pt x="33338" y="100012"/>
                </a:lnTo>
                <a:lnTo>
                  <a:pt x="0" y="100012"/>
                </a:lnTo>
                <a:lnTo>
                  <a:pt x="0" y="66675"/>
                </a:lnTo>
                <a:lnTo>
                  <a:pt x="50006" y="66675"/>
                </a:lnTo>
                <a:lnTo>
                  <a:pt x="50006" y="0"/>
                </a:lnTo>
                <a:lnTo>
                  <a:pt x="833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690360" y="3890010"/>
            <a:ext cx="13074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RESTful API 设计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05562" y="4355306"/>
            <a:ext cx="23013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13 个路由模块，覆盖完整业务场景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05562" y="4641056"/>
            <a:ext cx="24738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V1 端点：可选认证 + 可配置记忆注入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05562" y="4926806"/>
            <a:ext cx="19938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SSE 流式 / 非流式双模式切换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05562" y="5212556"/>
            <a:ext cx="25788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内置 API Explorer：7 子组件调试工具</a:t>
            </a:r>
          </a:p>
        </p:txBody>
      </p:sp>
      <p:sp>
        <p:nvSpPr>
          <p:cNvPr id="42" name="Rectangle 42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200EE">
              <a:alpha val="4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1733562" y="64941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86765" y="458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2530" y="44005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数据模型设计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4191000" y="1047750"/>
            <a:ext cx="3810000" cy="4953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370487" y="1200150"/>
            <a:ext cx="34510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 张数据表 · SQLAlchemy 2.0 ORM</a:t>
            </a:r>
          </a:p>
        </p:txBody>
      </p:sp>
      <p:sp>
        <p:nvSpPr>
          <p:cNvPr id="8" name="Line 8"/>
          <p:cNvSpPr/>
          <p:nvPr/>
        </p:nvSpPr>
        <p:spPr>
          <a:xfrm>
            <a:off x="2000250" y="154305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2857500" y="0"/>
                </a:moveTo>
                <a:lnTo>
                  <a:pt x="0" y="36195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9" name="Line 9"/>
          <p:cNvSpPr/>
          <p:nvPr/>
        </p:nvSpPr>
        <p:spPr>
          <a:xfrm>
            <a:off x="4762500" y="1543050"/>
            <a:ext cx="762000" cy="361950"/>
          </a:xfrm>
          <a:custGeom>
            <a:avLst/>
            <a:gdLst/>
            <a:ahLst/>
            <a:cxnLst/>
            <a:rect l="l" t="t" r="r" b="b"/>
            <a:pathLst>
              <a:path w="762000" h="361950">
                <a:moveTo>
                  <a:pt x="762000" y="0"/>
                </a:moveTo>
                <a:lnTo>
                  <a:pt x="0" y="36195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10" name="Line 10"/>
          <p:cNvSpPr/>
          <p:nvPr/>
        </p:nvSpPr>
        <p:spPr>
          <a:xfrm>
            <a:off x="6667500" y="1543050"/>
            <a:ext cx="762000" cy="361950"/>
          </a:xfrm>
          <a:custGeom>
            <a:avLst/>
            <a:gdLst/>
            <a:ahLst/>
            <a:cxnLst/>
            <a:rect l="l" t="t" r="r" b="b"/>
            <a:pathLst>
              <a:path w="762000" h="361950">
                <a:moveTo>
                  <a:pt x="0" y="0"/>
                </a:moveTo>
                <a:lnTo>
                  <a:pt x="762000" y="36195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11" name="Line 11"/>
          <p:cNvSpPr/>
          <p:nvPr/>
        </p:nvSpPr>
        <p:spPr>
          <a:xfrm>
            <a:off x="7334250" y="1543050"/>
            <a:ext cx="2952750" cy="361950"/>
          </a:xfrm>
          <a:custGeom>
            <a:avLst/>
            <a:gdLst/>
            <a:ahLst/>
            <a:cxnLst/>
            <a:rect l="l" t="t" r="r" b="b"/>
            <a:pathLst>
              <a:path w="2952750" h="361950">
                <a:moveTo>
                  <a:pt x="0" y="0"/>
                </a:moveTo>
                <a:lnTo>
                  <a:pt x="2952750" y="36195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71500" y="19050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575673" y="204073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用户系统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4765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F6F0FF"/>
          </a:solidFill>
          <a:ln w="9525">
            <a:solidFill>
              <a:srgbClr val="6200EE">
                <a:alpha val="3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2907" y="2599849"/>
            <a:ext cx="4001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users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866900" y="2476500"/>
            <a:ext cx="1333500" cy="342900"/>
          </a:xfrm>
          <a:prstGeom prst="roundRect">
            <a:avLst>
              <a:gd name="adj" fmla="val 33333"/>
            </a:avLst>
          </a:prstGeom>
          <a:solidFill>
            <a:srgbClr val="F6F0FF"/>
          </a:solidFill>
          <a:ln w="9525">
            <a:solidFill>
              <a:srgbClr val="6200EE">
                <a:alpha val="3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2050284" y="2599849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user_sessions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143000" y="295275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F6F0FF"/>
          </a:solidFill>
          <a:ln w="9525">
            <a:solidFill>
              <a:srgbClr val="6200EE">
                <a:alpha val="3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418845" y="3076099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projects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524250" y="1905000"/>
            <a:ext cx="2476500" cy="400050"/>
          </a:xfrm>
          <a:prstGeom prst="roundRect">
            <a:avLst>
              <a:gd name="adj" fmla="val 50000"/>
            </a:avLst>
          </a:prstGeom>
          <a:solidFill>
            <a:srgbClr val="03DAC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433173" y="204073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对话系统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524250" y="2476500"/>
            <a:ext cx="1428750" cy="342900"/>
          </a:xfrm>
          <a:prstGeom prst="roundRect">
            <a:avLst>
              <a:gd name="adj" fmla="val 33333"/>
            </a:avLst>
          </a:prstGeom>
          <a:solidFill>
            <a:srgbClr val="E0F2F1">
              <a:alpha val="50000"/>
            </a:srgbClr>
          </a:solidFill>
          <a:ln w="9525">
            <a:solidFill>
              <a:srgbClr val="03DAC6">
                <a:alpha val="4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755259" y="2599849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conversations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105400" y="24765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E0F2F1">
              <a:alpha val="50000"/>
            </a:srgbClr>
          </a:solidFill>
          <a:ln w="9525">
            <a:solidFill>
              <a:srgbClr val="03DAC6">
                <a:alpha val="40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50528" y="2599849"/>
            <a:ext cx="6527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messages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381500" y="2952750"/>
            <a:ext cx="1333500" cy="342900"/>
          </a:xfrm>
          <a:prstGeom prst="roundRect">
            <a:avLst>
              <a:gd name="adj" fmla="val 33333"/>
            </a:avLst>
          </a:prstGeom>
          <a:solidFill>
            <a:srgbClr val="E0F2F1">
              <a:alpha val="50000"/>
            </a:srgbClr>
          </a:solidFill>
          <a:ln w="9525">
            <a:solidFill>
              <a:srgbClr val="03DAC6">
                <a:alpha val="4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609252" y="3076099"/>
            <a:ext cx="8779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attachments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86500" y="1905000"/>
            <a:ext cx="2476500" cy="400050"/>
          </a:xfrm>
          <a:prstGeom prst="roundRect">
            <a:avLst>
              <a:gd name="adj" fmla="val 50000"/>
            </a:avLst>
          </a:prstGeom>
          <a:solidFill>
            <a:srgbClr val="FF026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195423" y="204073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记忆系统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24765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FCE4EC">
              <a:alpha val="40000"/>
            </a:srgbClr>
          </a:solidFill>
          <a:ln w="9525">
            <a:solidFill>
              <a:srgbClr val="FF0266">
                <a:alpha val="30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535041" y="2599849"/>
            <a:ext cx="645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0266"/>
                </a:solidFill>
                <a:latin typeface="Arial"/>
                <a:ea typeface="Microsoft YaHei"/>
                <a:cs typeface="Arial"/>
              </a:rPr>
              <a:t>memories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581900" y="2476500"/>
            <a:ext cx="1333500" cy="342900"/>
          </a:xfrm>
          <a:prstGeom prst="roundRect">
            <a:avLst>
              <a:gd name="adj" fmla="val 33333"/>
            </a:avLst>
          </a:prstGeom>
          <a:solidFill>
            <a:srgbClr val="FCE4EC">
              <a:alpha val="40000"/>
            </a:srgbClr>
          </a:solidFill>
          <a:ln w="9525">
            <a:solidFill>
              <a:srgbClr val="FF0266">
                <a:alpha val="3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587811" y="2599849"/>
            <a:ext cx="13216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0266"/>
                </a:solidFill>
                <a:latin typeface="Arial"/>
                <a:ea typeface="Microsoft YaHei"/>
                <a:cs typeface="Arial"/>
              </a:rPr>
              <a:t>memory_candidates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953250" y="2952750"/>
            <a:ext cx="1428750" cy="342900"/>
          </a:xfrm>
          <a:prstGeom prst="roundRect">
            <a:avLst>
              <a:gd name="adj" fmla="val 33333"/>
            </a:avLst>
          </a:prstGeom>
          <a:solidFill>
            <a:srgbClr val="FCE4EC">
              <a:alpha val="40000"/>
            </a:srgbClr>
          </a:solidFill>
          <a:ln w="9525">
            <a:solidFill>
              <a:srgbClr val="FF0266">
                <a:alpha val="30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013612" y="3076099"/>
            <a:ext cx="1308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0266"/>
                </a:solidFill>
                <a:latin typeface="Arial"/>
                <a:ea typeface="Microsoft YaHei"/>
                <a:cs typeface="Arial"/>
              </a:rPr>
              <a:t>memory_documents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144000" y="1905000"/>
            <a:ext cx="2476500" cy="400050"/>
          </a:xfrm>
          <a:prstGeom prst="roundRect">
            <a:avLst>
              <a:gd name="adj" fmla="val 50000"/>
            </a:avLst>
          </a:prstGeom>
          <a:solidFill>
            <a:srgbClr val="FF6D0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052923" y="204073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记忆治理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0" y="2476500"/>
            <a:ext cx="1428750" cy="342900"/>
          </a:xfrm>
          <a:prstGeom prst="roundRect">
            <a:avLst>
              <a:gd name="adj" fmla="val 33333"/>
            </a:avLst>
          </a:prstGeom>
          <a:solidFill>
            <a:srgbClr val="FFF3E0">
              <a:alpha val="50000"/>
            </a:srgbClr>
          </a:solidFill>
          <a:ln w="9525">
            <a:solidFill>
              <a:srgbClr val="FF6D00">
                <a:alpha val="30000"/>
              </a:srgbClr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298776" y="2607945"/>
            <a:ext cx="11191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6D00"/>
                </a:solidFill>
                <a:latin typeface="Arial"/>
                <a:ea typeface="Microsoft YaHei"/>
                <a:cs typeface="Arial"/>
              </a:rPr>
              <a:t>memory_histories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0191750" y="2952750"/>
            <a:ext cx="1333500" cy="342900"/>
          </a:xfrm>
          <a:prstGeom prst="roundRect">
            <a:avLst>
              <a:gd name="adj" fmla="val 33333"/>
            </a:avLst>
          </a:prstGeom>
          <a:solidFill>
            <a:srgbClr val="FFF3E0">
              <a:alpha val="50000"/>
            </a:srgbClr>
          </a:solidFill>
          <a:ln w="9525">
            <a:solidFill>
              <a:srgbClr val="FF6D00">
                <a:alpha val="30000"/>
              </a:srgbClr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10264247" y="3084195"/>
            <a:ext cx="11885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6D00"/>
                </a:solidFill>
                <a:latin typeface="Arial"/>
                <a:ea typeface="Microsoft YaHei"/>
                <a:cs typeface="Arial"/>
              </a:rPr>
              <a:t>memory_audit_logs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144000" y="2952750"/>
            <a:ext cx="1428750" cy="342900"/>
          </a:xfrm>
          <a:prstGeom prst="roundRect">
            <a:avLst>
              <a:gd name="adj" fmla="val 33333"/>
            </a:avLst>
          </a:prstGeom>
          <a:solidFill>
            <a:srgbClr val="FFF3E0">
              <a:alpha val="50000"/>
            </a:srgbClr>
          </a:solidFill>
          <a:ln w="9525">
            <a:solidFill>
              <a:srgbClr val="FF6D00">
                <a:alpha val="30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235769" y="3084195"/>
            <a:ext cx="12452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6D00"/>
                </a:solidFill>
                <a:latin typeface="Arial"/>
                <a:ea typeface="Microsoft YaHei"/>
                <a:cs typeface="Arial"/>
              </a:rPr>
              <a:t>memory_embeddings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3619500"/>
            <a:ext cx="11049000" cy="2571750"/>
          </a:xfrm>
          <a:prstGeom prst="roundRect">
            <a:avLst>
              <a:gd name="adj" fmla="val 5926"/>
            </a:avLst>
          </a:prstGeom>
          <a:solidFill>
            <a:srgbClr val="F6F0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84860" y="379476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核心实体关系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7718" y="4180999"/>
            <a:ext cx="41137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12121"/>
                </a:solidFill>
                <a:latin typeface="Consolas"/>
                <a:ea typeface="Microsoft YaHei"/>
                <a:cs typeface="Consolas"/>
              </a:rPr>
              <a:t>users ─1:N─▶ conversations ─1:N─▶ messages ─1:N─▶ attachments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87718" y="4485799"/>
            <a:ext cx="28981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12121"/>
                </a:solidFill>
                <a:latin typeface="Consolas"/>
                <a:ea typeface="Microsoft YaHei"/>
                <a:cs typeface="Consolas"/>
              </a:rPr>
              <a:t>messages ──── 含版本链 (parent_message_id)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87718" y="4790599"/>
            <a:ext cx="38797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12121"/>
                </a:solidFill>
                <a:latin typeface="Consolas"/>
                <a:ea typeface="Microsoft YaHei"/>
                <a:cs typeface="Consolas"/>
              </a:rPr>
              <a:t>memory_candidates ──▶ memories ─1:N─▶ memory_embeddings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87718" y="5095399"/>
            <a:ext cx="32816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12121"/>
                </a:solidFill>
                <a:latin typeface="Consolas"/>
                <a:ea typeface="Microsoft YaHei"/>
                <a:cs typeface="Consolas"/>
              </a:rPr>
              <a:t>memories ────▶ memory_documents (按 scope 聚合)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7718" y="5400199"/>
            <a:ext cx="29241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12121"/>
                </a:solidFill>
                <a:latin typeface="Consolas"/>
                <a:ea typeface="Microsoft YaHei"/>
                <a:cs typeface="Consolas"/>
              </a:rPr>
              <a:t>memories ─1:N─▶ memory_histories (版本追踪)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87718" y="5704999"/>
            <a:ext cx="26250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12121"/>
                </a:solidFill>
                <a:latin typeface="Consolas"/>
                <a:ea typeface="Microsoft YaHei"/>
                <a:cs typeface="Consolas"/>
              </a:rPr>
              <a:t>所有操作 ────▶ memory_audit_logs (审计)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87718" y="5952649"/>
            <a:ext cx="568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向量嵌入: pgvector 1536 维 (PostgreSQL) · 记忆作用域: global | project | conversation</a:t>
            </a:r>
          </a:p>
        </p:txBody>
      </p:sp>
      <p:sp>
        <p:nvSpPr>
          <p:cNvPr id="53" name="Rectangle 53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200EE">
              <a:alpha val="4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1733562" y="64941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86765" y="458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2530" y="44005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项目成果总结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47750"/>
            <a:ext cx="3524250" cy="1238250"/>
          </a:xfrm>
          <a:prstGeom prst="roundRect">
            <a:avLst>
              <a:gd name="adj" fmla="val 12308"/>
            </a:avLst>
          </a:prstGeom>
          <a:solidFill>
            <a:srgbClr val="F6F0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86765" y="1296352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数据表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0570" y="1522095"/>
            <a:ext cx="56321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6200EE"/>
                </a:solidFill>
                <a:latin typeface="Georgia"/>
                <a:ea typeface="SimSun"/>
                <a:cs typeface="Georgia"/>
              </a:rPr>
              <a:t>12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4460" y="1813560"/>
            <a:ext cx="5185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tables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333875" y="1047750"/>
            <a:ext cx="3524250" cy="1238250"/>
          </a:xfrm>
          <a:prstGeom prst="roundRect">
            <a:avLst>
              <a:gd name="adj" fmla="val 12308"/>
            </a:avLst>
          </a:prstGeom>
          <a:solidFill>
            <a:srgbClr val="E3F2FD">
              <a:alpha val="4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49140" y="12963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路由模块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12945" y="1522095"/>
            <a:ext cx="56321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2979FF"/>
                </a:solidFill>
                <a:latin typeface="Georgia"/>
                <a:ea typeface="SimSun"/>
                <a:cs typeface="Georgia"/>
              </a:rPr>
              <a:t>13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56835" y="1813560"/>
            <a:ext cx="5585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routes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96250" y="1047750"/>
            <a:ext cx="3524250" cy="1238250"/>
          </a:xfrm>
          <a:prstGeom prst="roundRect">
            <a:avLst>
              <a:gd name="adj" fmla="val 12308"/>
            </a:avLst>
          </a:prstGeom>
          <a:solidFill>
            <a:srgbClr val="E0F2F1">
              <a:alpha val="4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311515" y="12963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服务模块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75320" y="1522095"/>
            <a:ext cx="56321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03DAC6"/>
                </a:solidFill>
                <a:latin typeface="Georgia"/>
                <a:ea typeface="SimSun"/>
                <a:cs typeface="Georgia"/>
              </a:rPr>
              <a:t>13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19210" y="1813560"/>
            <a:ext cx="6945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services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476500"/>
            <a:ext cx="3524250" cy="1238250"/>
          </a:xfrm>
          <a:prstGeom prst="roundRect">
            <a:avLst>
              <a:gd name="adj" fmla="val 12308"/>
            </a:avLst>
          </a:prstGeom>
          <a:solidFill>
            <a:srgbClr val="FCE4EC">
              <a:alpha val="4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6765" y="2725102"/>
            <a:ext cx="5447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API 端点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570" y="2950845"/>
            <a:ext cx="1000073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0266"/>
                </a:solidFill>
                <a:latin typeface="Georgia"/>
                <a:ea typeface="SimSun"/>
                <a:cs typeface="Georgia"/>
              </a:rPr>
              <a:t>30+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333875" y="2476500"/>
            <a:ext cx="3524250" cy="1238250"/>
          </a:xfrm>
          <a:prstGeom prst="roundRect">
            <a:avLst>
              <a:gd name="adj" fmla="val 12308"/>
            </a:avLst>
          </a:prstGeom>
          <a:solidFill>
            <a:srgbClr val="FFF3E0">
              <a:alpha val="4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549140" y="27251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前端组件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2945" y="2950845"/>
            <a:ext cx="1000073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6D00"/>
                </a:solidFill>
                <a:latin typeface="Georgia"/>
                <a:ea typeface="SimSun"/>
                <a:cs typeface="Georgia"/>
              </a:rPr>
              <a:t>20+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096250" y="2476500"/>
            <a:ext cx="3524250" cy="1238250"/>
          </a:xfrm>
          <a:prstGeom prst="roundRect">
            <a:avLst>
              <a:gd name="adj" fmla="val 12308"/>
            </a:avLst>
          </a:prstGeom>
          <a:solidFill>
            <a:srgbClr val="E8F5E9">
              <a:alpha val="4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11515" y="2725102"/>
            <a:ext cx="60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LLM 模型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5320" y="2950845"/>
            <a:ext cx="39939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00C853"/>
                </a:solidFill>
                <a:latin typeface="Georgia"/>
                <a:ea typeface="SimSun"/>
                <a:cs typeface="Georgia"/>
              </a:rPr>
              <a:t>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85860" y="3242310"/>
            <a:ext cx="5505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models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4000500"/>
            <a:ext cx="11049000" cy="2286000"/>
          </a:xfrm>
          <a:prstGeom prst="roundRect">
            <a:avLst>
              <a:gd name="adj" fmla="val 6667"/>
            </a:avLst>
          </a:prstGeom>
          <a:solidFill>
            <a:srgbClr val="F6F0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84860" y="41948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0100" y="45339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6200EE">
              <a:alpha val="10000"/>
            </a:srgbClr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885825" y="4591050"/>
            <a:ext cx="171450" cy="228600"/>
            <a:chOff x="885825" y="4591050"/>
            <a:chExt cx="171450" cy="228600"/>
          </a:xfrm>
        </p:grpSpPr>
        <p:sp>
          <p:nvSpPr>
            <p:cNvPr id="31" name="Freeform 31"/>
            <p:cNvSpPr/>
            <p:nvPr/>
          </p:nvSpPr>
          <p:spPr>
            <a:xfrm>
              <a:off x="885825" y="4682490"/>
              <a:ext cx="171450" cy="65722"/>
            </a:xfrm>
            <a:custGeom>
              <a:avLst/>
              <a:gdLst/>
              <a:ahLst/>
              <a:cxnLst/>
              <a:rect l="l" t="t" r="r" b="b"/>
              <a:pathLst>
                <a:path w="171450" h="65722">
                  <a:moveTo>
                    <a:pt x="159121" y="7289"/>
                  </a:moveTo>
                  <a:cubicBezTo>
                    <a:pt x="163140" y="5279"/>
                    <a:pt x="167339" y="2855"/>
                    <a:pt x="171450" y="0"/>
                  </a:cubicBezTo>
                  <a:lnTo>
                    <a:pt x="171450" y="22860"/>
                  </a:lnTo>
                  <a:cubicBezTo>
                    <a:pt x="171450" y="46532"/>
                    <a:pt x="133069" y="65722"/>
                    <a:pt x="85725" y="65722"/>
                  </a:cubicBezTo>
                  <a:cubicBezTo>
                    <a:pt x="38380" y="65722"/>
                    <a:pt x="0" y="46532"/>
                    <a:pt x="0" y="22860"/>
                  </a:cubicBezTo>
                  <a:lnTo>
                    <a:pt x="0" y="0"/>
                  </a:lnTo>
                  <a:cubicBezTo>
                    <a:pt x="4111" y="2855"/>
                    <a:pt x="8309" y="5279"/>
                    <a:pt x="12329" y="7289"/>
                  </a:cubicBezTo>
                  <a:cubicBezTo>
                    <a:pt x="32589" y="17419"/>
                    <a:pt x="58578" y="22860"/>
                    <a:pt x="85725" y="22860"/>
                  </a:cubicBezTo>
                  <a:cubicBezTo>
                    <a:pt x="112872" y="22860"/>
                    <a:pt x="138860" y="17419"/>
                    <a:pt x="159121" y="7289"/>
                  </a:cubicBezTo>
                  <a:close/>
                </a:path>
              </a:pathLst>
            </a:custGeom>
            <a:solidFill>
              <a:srgbClr val="6200EE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85825" y="4753928"/>
              <a:ext cx="171450" cy="65722"/>
            </a:xfrm>
            <a:custGeom>
              <a:avLst/>
              <a:gdLst/>
              <a:ahLst/>
              <a:cxnLst/>
              <a:rect l="l" t="t" r="r" b="b"/>
              <a:pathLst>
                <a:path w="171450" h="65722">
                  <a:moveTo>
                    <a:pt x="0" y="0"/>
                  </a:moveTo>
                  <a:lnTo>
                    <a:pt x="0" y="22860"/>
                  </a:lnTo>
                  <a:cubicBezTo>
                    <a:pt x="0" y="46533"/>
                    <a:pt x="38380" y="65722"/>
                    <a:pt x="85725" y="65722"/>
                  </a:cubicBezTo>
                  <a:cubicBezTo>
                    <a:pt x="133069" y="65722"/>
                    <a:pt x="171450" y="46533"/>
                    <a:pt x="171450" y="22860"/>
                  </a:cubicBezTo>
                  <a:lnTo>
                    <a:pt x="171450" y="0"/>
                  </a:lnTo>
                  <a:cubicBezTo>
                    <a:pt x="167339" y="2855"/>
                    <a:pt x="163140" y="5279"/>
                    <a:pt x="159121" y="7289"/>
                  </a:cubicBezTo>
                  <a:cubicBezTo>
                    <a:pt x="138860" y="17419"/>
                    <a:pt x="112872" y="22860"/>
                    <a:pt x="85725" y="22860"/>
                  </a:cubicBezTo>
                  <a:cubicBezTo>
                    <a:pt x="58578" y="22860"/>
                    <a:pt x="32589" y="17419"/>
                    <a:pt x="12329" y="7289"/>
                  </a:cubicBezTo>
                  <a:cubicBezTo>
                    <a:pt x="8309" y="5279"/>
                    <a:pt x="4111" y="2855"/>
                    <a:pt x="0" y="0"/>
                  </a:cubicBezTo>
                  <a:close/>
                </a:path>
              </a:pathLst>
            </a:custGeom>
            <a:solidFill>
              <a:srgbClr val="6200EE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85825" y="4591050"/>
              <a:ext cx="171450" cy="85725"/>
            </a:xfrm>
            <a:custGeom>
              <a:avLst/>
              <a:gdLst/>
              <a:ahLst/>
              <a:cxnLst/>
              <a:rect l="l" t="t" r="r" b="b"/>
              <a:pathLst>
                <a:path w="171450" h="85725">
                  <a:moveTo>
                    <a:pt x="85725" y="0"/>
                  </a:moveTo>
                  <a:cubicBezTo>
                    <a:pt x="133069" y="0"/>
                    <a:pt x="171450" y="19190"/>
                    <a:pt x="171450" y="42862"/>
                  </a:cubicBezTo>
                  <a:cubicBezTo>
                    <a:pt x="171450" y="66535"/>
                    <a:pt x="133069" y="85725"/>
                    <a:pt x="85725" y="85725"/>
                  </a:cubicBezTo>
                  <a:cubicBezTo>
                    <a:pt x="38380" y="85725"/>
                    <a:pt x="0" y="66535"/>
                    <a:pt x="0" y="42862"/>
                  </a:cubicBezTo>
                  <a:cubicBezTo>
                    <a:pt x="0" y="19190"/>
                    <a:pt x="38380" y="0"/>
                    <a:pt x="85725" y="0"/>
                  </a:cubicBezTo>
                  <a:close/>
                </a:path>
              </a:pathLst>
            </a:custGeom>
            <a:solidFill>
              <a:srgbClr val="6200EE"/>
            </a:solidFill>
            <a:ln>
              <a:noFill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1243965" y="464915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记忆优先架构设计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0100" y="49911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6200EE">
              <a:alpha val="10000"/>
            </a:srgbClr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857250" y="5048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ubicBezTo>
                  <a:pt x="0" y="177426"/>
                  <a:pt x="51174" y="228600"/>
                  <a:pt x="114300" y="228600"/>
                </a:cubicBezTo>
                <a:close/>
                <a:moveTo>
                  <a:pt x="181553" y="81540"/>
                </a:moveTo>
                <a:lnTo>
                  <a:pt x="161347" y="61335"/>
                </a:lnTo>
                <a:lnTo>
                  <a:pt x="92869" y="129813"/>
                </a:lnTo>
                <a:lnTo>
                  <a:pt x="67253" y="104197"/>
                </a:lnTo>
                <a:lnTo>
                  <a:pt x="47047" y="124403"/>
                </a:lnTo>
                <a:lnTo>
                  <a:pt x="92869" y="170224"/>
                </a:lnTo>
                <a:lnTo>
                  <a:pt x="181553" y="81540"/>
                </a:lnTo>
                <a:close/>
              </a:path>
            </a:pathLst>
          </a:custGeom>
          <a:solidFill>
            <a:srgbClr val="6200EE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243965" y="5106352"/>
            <a:ext cx="19893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Human-in-the-loop 候选审核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00100" y="54483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6200EE">
              <a:alpha val="10000"/>
            </a:srgbClr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857250" y="5505450"/>
            <a:ext cx="224415" cy="224415"/>
          </a:xfrm>
          <a:custGeom>
            <a:avLst/>
            <a:gdLst/>
            <a:ahLst/>
            <a:cxnLst/>
            <a:rect l="l" t="t" r="r" b="b"/>
            <a:pathLst>
              <a:path w="224415" h="224415">
                <a:moveTo>
                  <a:pt x="159909" y="180114"/>
                </a:moveTo>
                <a:cubicBezTo>
                  <a:pt x="143212" y="192618"/>
                  <a:pt x="122477" y="200025"/>
                  <a:pt x="100012" y="200025"/>
                </a:cubicBezTo>
                <a:cubicBezTo>
                  <a:pt x="44777" y="200025"/>
                  <a:pt x="0" y="155248"/>
                  <a:pt x="0" y="100012"/>
                </a:cubicBezTo>
                <a:cubicBezTo>
                  <a:pt x="0" y="44777"/>
                  <a:pt x="44777" y="0"/>
                  <a:pt x="100012" y="0"/>
                </a:cubicBezTo>
                <a:cubicBezTo>
                  <a:pt x="155248" y="0"/>
                  <a:pt x="200025" y="44777"/>
                  <a:pt x="200025" y="100012"/>
                </a:cubicBezTo>
                <a:cubicBezTo>
                  <a:pt x="200025" y="122477"/>
                  <a:pt x="192618" y="143212"/>
                  <a:pt x="180114" y="159909"/>
                </a:cubicBezTo>
                <a:lnTo>
                  <a:pt x="224415" y="204210"/>
                </a:lnTo>
                <a:lnTo>
                  <a:pt x="204210" y="224415"/>
                </a:lnTo>
                <a:lnTo>
                  <a:pt x="159909" y="180114"/>
                </a:lnTo>
                <a:close/>
                <a:moveTo>
                  <a:pt x="79807" y="120218"/>
                </a:moveTo>
                <a:lnTo>
                  <a:pt x="59601" y="140424"/>
                </a:lnTo>
                <a:cubicBezTo>
                  <a:pt x="37283" y="118105"/>
                  <a:pt x="37283" y="81920"/>
                  <a:pt x="59601" y="59601"/>
                </a:cubicBezTo>
                <a:cubicBezTo>
                  <a:pt x="81920" y="37283"/>
                  <a:pt x="118105" y="37283"/>
                  <a:pt x="140424" y="59601"/>
                </a:cubicBezTo>
                <a:lnTo>
                  <a:pt x="120218" y="79807"/>
                </a:lnTo>
                <a:cubicBezTo>
                  <a:pt x="109059" y="68648"/>
                  <a:pt x="90966" y="68648"/>
                  <a:pt x="79807" y="79807"/>
                </a:cubicBezTo>
                <a:cubicBezTo>
                  <a:pt x="68648" y="90966"/>
                  <a:pt x="68648" y="109059"/>
                  <a:pt x="79807" y="120218"/>
                </a:cubicBezTo>
                <a:close/>
              </a:path>
            </a:pathLst>
          </a:custGeom>
          <a:solidFill>
            <a:srgbClr val="6200E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243965" y="5563552"/>
            <a:ext cx="1518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语义 + 时间双模式检索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572000" y="45339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03DAC6">
              <a:alpha val="15000"/>
            </a:srgbClr>
          </a:solidFill>
          <a:ln>
            <a:noFill/>
          </a:ln>
        </p:spPr>
      </p:sp>
      <p:grpSp>
        <p:nvGrpSpPr>
          <p:cNvPr id="46" name="Group 46"/>
          <p:cNvGrpSpPr/>
          <p:nvPr/>
        </p:nvGrpSpPr>
        <p:grpSpPr>
          <a:xfrm>
            <a:off x="4643438" y="4591050"/>
            <a:ext cx="200025" cy="228600"/>
            <a:chOff x="4643438" y="4591050"/>
            <a:chExt cx="200025" cy="228600"/>
          </a:xfrm>
        </p:grpSpPr>
        <p:sp>
          <p:nvSpPr>
            <p:cNvPr id="43" name="Freeform 43"/>
            <p:cNvSpPr/>
            <p:nvPr/>
          </p:nvSpPr>
          <p:spPr>
            <a:xfrm>
              <a:off x="4643438" y="4591050"/>
              <a:ext cx="200025" cy="114300"/>
            </a:xfrm>
            <a:custGeom>
              <a:avLst/>
              <a:gdLst/>
              <a:ahLst/>
              <a:cxnLst/>
              <a:rect l="l" t="t" r="r" b="b"/>
              <a:pathLst>
                <a:path w="200025" h="114300">
                  <a:moveTo>
                    <a:pt x="0" y="71438"/>
                  </a:moveTo>
                  <a:lnTo>
                    <a:pt x="0" y="42862"/>
                  </a:lnTo>
                  <a:lnTo>
                    <a:pt x="100012" y="0"/>
                  </a:lnTo>
                  <a:lnTo>
                    <a:pt x="200025" y="42862"/>
                  </a:lnTo>
                  <a:lnTo>
                    <a:pt x="200025" y="71438"/>
                  </a:lnTo>
                  <a:lnTo>
                    <a:pt x="100012" y="114300"/>
                  </a:lnTo>
                  <a:lnTo>
                    <a:pt x="0" y="71438"/>
                  </a:lnTo>
                  <a:close/>
                </a:path>
              </a:pathLst>
            </a:custGeom>
            <a:solidFill>
              <a:srgbClr val="00897B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4643438" y="4748212"/>
              <a:ext cx="200025" cy="71438"/>
            </a:xfrm>
            <a:custGeom>
              <a:avLst/>
              <a:gdLst/>
              <a:ahLst/>
              <a:cxnLst/>
              <a:rect l="l" t="t" r="r" b="b"/>
              <a:pathLst>
                <a:path w="200025" h="71438">
                  <a:moveTo>
                    <a:pt x="100012" y="71438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100012" y="42862"/>
                  </a:lnTo>
                  <a:lnTo>
                    <a:pt x="200025" y="0"/>
                  </a:lnTo>
                  <a:lnTo>
                    <a:pt x="200025" y="28575"/>
                  </a:lnTo>
                  <a:lnTo>
                    <a:pt x="100012" y="71438"/>
                  </a:lnTo>
                  <a:close/>
                </a:path>
              </a:pathLst>
            </a:custGeom>
            <a:solidFill>
              <a:srgbClr val="00897B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4643438" y="4691062"/>
              <a:ext cx="200025" cy="71438"/>
            </a:xfrm>
            <a:custGeom>
              <a:avLst/>
              <a:gdLst/>
              <a:ahLst/>
              <a:cxnLst/>
              <a:rect l="l" t="t" r="r" b="b"/>
              <a:pathLst>
                <a:path w="200025" h="71438">
                  <a:moveTo>
                    <a:pt x="0" y="28575"/>
                  </a:moveTo>
                  <a:lnTo>
                    <a:pt x="100012" y="71438"/>
                  </a:lnTo>
                  <a:lnTo>
                    <a:pt x="200025" y="28575"/>
                  </a:lnTo>
                  <a:lnTo>
                    <a:pt x="200025" y="0"/>
                  </a:lnTo>
                  <a:lnTo>
                    <a:pt x="100012" y="42862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0897B"/>
            </a:solidFill>
            <a:ln>
              <a:noFill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5015865" y="464915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全链路优雅降级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017770" y="4855845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pgvector → SQLite 自动切换</a:t>
            </a:r>
          </a:p>
        </p:txBody>
      </p:sp>
      <p:sp>
        <p:nvSpPr>
          <p:cNvPr id="49" name="Rectangle 49"/>
          <p:cNvSpPr/>
          <p:nvPr/>
        </p:nvSpPr>
        <p:spPr>
          <a:xfrm>
            <a:off x="4572000" y="51435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03DAC6">
              <a:alpha val="15000"/>
            </a:srgbClr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4657725" y="5200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00012" y="100012"/>
                </a:moveTo>
                <a:lnTo>
                  <a:pt x="114300" y="0"/>
                </a:lnTo>
                <a:lnTo>
                  <a:pt x="85725" y="0"/>
                </a:lnTo>
                <a:lnTo>
                  <a:pt x="0" y="100012"/>
                </a:lnTo>
                <a:lnTo>
                  <a:pt x="0" y="128588"/>
                </a:lnTo>
                <a:lnTo>
                  <a:pt x="71438" y="128588"/>
                </a:lnTo>
                <a:lnTo>
                  <a:pt x="57150" y="228600"/>
                </a:lnTo>
                <a:lnTo>
                  <a:pt x="85725" y="228600"/>
                </a:lnTo>
                <a:lnTo>
                  <a:pt x="171450" y="128588"/>
                </a:lnTo>
                <a:lnTo>
                  <a:pt x="171450" y="100012"/>
                </a:lnTo>
                <a:lnTo>
                  <a:pt x="100012" y="100012"/>
                </a:lnTo>
                <a:close/>
              </a:path>
            </a:pathLst>
          </a:custGeom>
          <a:solidFill>
            <a:srgbClr val="00897B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015865" y="5258752"/>
            <a:ext cx="1364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SSE 流式 + 后台异步</a:t>
            </a:r>
          </a:p>
        </p:txBody>
      </p:sp>
      <p:sp>
        <p:nvSpPr>
          <p:cNvPr id="52" name="Rectangle 52"/>
          <p:cNvSpPr/>
          <p:nvPr/>
        </p:nvSpPr>
        <p:spPr>
          <a:xfrm>
            <a:off x="4572000" y="56578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03DAC6">
              <a:alpha val="15000"/>
            </a:srgbClr>
          </a:solidFill>
          <a:ln>
            <a:noFill/>
          </a:ln>
        </p:spPr>
      </p:sp>
      <p:sp>
        <p:nvSpPr>
          <p:cNvPr id="53" name="Freeform 53"/>
          <p:cNvSpPr/>
          <p:nvPr/>
        </p:nvSpPr>
        <p:spPr>
          <a:xfrm>
            <a:off x="4629150" y="571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ubicBezTo>
                  <a:pt x="0" y="177426"/>
                  <a:pt x="51174" y="228600"/>
                  <a:pt x="114300" y="228600"/>
                </a:cubicBezTo>
                <a:close/>
                <a:moveTo>
                  <a:pt x="100012" y="42862"/>
                </a:moveTo>
                <a:lnTo>
                  <a:pt x="100012" y="120218"/>
                </a:lnTo>
                <a:lnTo>
                  <a:pt x="147060" y="167265"/>
                </a:lnTo>
                <a:lnTo>
                  <a:pt x="167265" y="147060"/>
                </a:lnTo>
                <a:lnTo>
                  <a:pt x="128588" y="108382"/>
                </a:lnTo>
                <a:lnTo>
                  <a:pt x="128588" y="42862"/>
                </a:lnTo>
                <a:lnTo>
                  <a:pt x="100012" y="42862"/>
                </a:lnTo>
                <a:close/>
              </a:path>
            </a:pathLst>
          </a:custGeom>
          <a:solidFill>
            <a:srgbClr val="00897B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015865" y="577310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版本追踪和审计合规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191500" y="45339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0266">
              <a:alpha val="8000"/>
            </a:srgbClr>
          </a:solidFill>
          <a:ln>
            <a:noFill/>
          </a:ln>
        </p:spPr>
      </p:sp>
      <p:sp>
        <p:nvSpPr>
          <p:cNvPr id="56" name="Freeform 56"/>
          <p:cNvSpPr/>
          <p:nvPr/>
        </p:nvSpPr>
        <p:spPr>
          <a:xfrm>
            <a:off x="8262938" y="45910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438" y="0"/>
                </a:moveTo>
                <a:lnTo>
                  <a:pt x="71438" y="57150"/>
                </a:lnTo>
                <a:lnTo>
                  <a:pt x="128588" y="57150"/>
                </a:lnTo>
                <a:lnTo>
                  <a:pt x="128588" y="0"/>
                </a:lnTo>
                <a:lnTo>
                  <a:pt x="157162" y="0"/>
                </a:lnTo>
                <a:lnTo>
                  <a:pt x="157162" y="57150"/>
                </a:lnTo>
                <a:lnTo>
                  <a:pt x="200025" y="57150"/>
                </a:lnTo>
                <a:lnTo>
                  <a:pt x="200025" y="85725"/>
                </a:lnTo>
                <a:lnTo>
                  <a:pt x="171450" y="85725"/>
                </a:lnTo>
                <a:lnTo>
                  <a:pt x="171450" y="114300"/>
                </a:lnTo>
                <a:cubicBezTo>
                  <a:pt x="171450" y="148861"/>
                  <a:pt x="146907" y="177689"/>
                  <a:pt x="114300" y="184309"/>
                </a:cubicBezTo>
                <a:lnTo>
                  <a:pt x="114300" y="228600"/>
                </a:lnTo>
                <a:lnTo>
                  <a:pt x="85725" y="228600"/>
                </a:lnTo>
                <a:lnTo>
                  <a:pt x="85725" y="184309"/>
                </a:lnTo>
                <a:cubicBezTo>
                  <a:pt x="53117" y="177689"/>
                  <a:pt x="28575" y="148861"/>
                  <a:pt x="28575" y="114300"/>
                </a:cubicBezTo>
                <a:lnTo>
                  <a:pt x="28575" y="85725"/>
                </a:lnTo>
                <a:lnTo>
                  <a:pt x="0" y="85725"/>
                </a:lnTo>
                <a:lnTo>
                  <a:pt x="0" y="57150"/>
                </a:lnTo>
                <a:lnTo>
                  <a:pt x="42862" y="57150"/>
                </a:lnTo>
                <a:lnTo>
                  <a:pt x="42862" y="0"/>
                </a:lnTo>
                <a:lnTo>
                  <a:pt x="71438" y="0"/>
                </a:lnTo>
                <a:close/>
              </a:path>
            </a:pathLst>
          </a:custGeom>
          <a:solidFill>
            <a:srgbClr val="FF0266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635365" y="4649152"/>
            <a:ext cx="11366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OpenAI 兼容接口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637270" y="485584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多模型即插即用</a:t>
            </a:r>
          </a:p>
        </p:txBody>
      </p:sp>
      <p:sp>
        <p:nvSpPr>
          <p:cNvPr id="59" name="Rectangle 59"/>
          <p:cNvSpPr/>
          <p:nvPr/>
        </p:nvSpPr>
        <p:spPr>
          <a:xfrm>
            <a:off x="8191500" y="51435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0266">
              <a:alpha val="8000"/>
            </a:srgbClr>
          </a:solidFill>
          <a:ln>
            <a:noFill/>
          </a:ln>
        </p:spPr>
      </p:sp>
      <p:grpSp>
        <p:nvGrpSpPr>
          <p:cNvPr id="63" name="Group 63"/>
          <p:cNvGrpSpPr/>
          <p:nvPr/>
        </p:nvGrpSpPr>
        <p:grpSpPr>
          <a:xfrm>
            <a:off x="8248650" y="5212917"/>
            <a:ext cx="228600" cy="204066"/>
            <a:chOff x="8248650" y="5212917"/>
            <a:chExt cx="228600" cy="204066"/>
          </a:xfrm>
        </p:grpSpPr>
        <p:sp>
          <p:nvSpPr>
            <p:cNvPr id="60" name="Freeform 60"/>
            <p:cNvSpPr/>
            <p:nvPr/>
          </p:nvSpPr>
          <p:spPr>
            <a:xfrm>
              <a:off x="8334519" y="5212917"/>
              <a:ext cx="56863" cy="204066"/>
            </a:xfrm>
            <a:custGeom>
              <a:avLst/>
              <a:gdLst/>
              <a:ahLst/>
              <a:cxnLst/>
              <a:rect l="l" t="t" r="r" b="b"/>
              <a:pathLst>
                <a:path w="56863" h="204066">
                  <a:moveTo>
                    <a:pt x="28575" y="0"/>
                  </a:moveTo>
                  <a:lnTo>
                    <a:pt x="0" y="200025"/>
                  </a:lnTo>
                  <a:lnTo>
                    <a:pt x="28288" y="204066"/>
                  </a:lnTo>
                  <a:lnTo>
                    <a:pt x="56863" y="4041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FF0266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8407038" y="5264944"/>
              <a:ext cx="70212" cy="100012"/>
            </a:xfrm>
            <a:custGeom>
              <a:avLst/>
              <a:gdLst/>
              <a:ahLst/>
              <a:cxnLst/>
              <a:rect l="l" t="t" r="r" b="b"/>
              <a:pathLst>
                <a:path w="70212" h="100012">
                  <a:moveTo>
                    <a:pt x="20205" y="100012"/>
                  </a:moveTo>
                  <a:lnTo>
                    <a:pt x="0" y="79807"/>
                  </a:lnTo>
                  <a:lnTo>
                    <a:pt x="29801" y="50006"/>
                  </a:lnTo>
                  <a:lnTo>
                    <a:pt x="0" y="20206"/>
                  </a:lnTo>
                  <a:lnTo>
                    <a:pt x="20205" y="0"/>
                  </a:lnTo>
                  <a:lnTo>
                    <a:pt x="70212" y="50006"/>
                  </a:lnTo>
                  <a:lnTo>
                    <a:pt x="20205" y="100012"/>
                  </a:lnTo>
                  <a:close/>
                </a:path>
              </a:pathLst>
            </a:custGeom>
            <a:solidFill>
              <a:srgbClr val="FF0266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8248650" y="5264944"/>
              <a:ext cx="70212" cy="100012"/>
            </a:xfrm>
            <a:custGeom>
              <a:avLst/>
              <a:gdLst/>
              <a:ahLst/>
              <a:cxnLst/>
              <a:rect l="l" t="t" r="r" b="b"/>
              <a:pathLst>
                <a:path w="70212" h="100012">
                  <a:moveTo>
                    <a:pt x="40411" y="50006"/>
                  </a:moveTo>
                  <a:lnTo>
                    <a:pt x="70212" y="79807"/>
                  </a:lnTo>
                  <a:lnTo>
                    <a:pt x="50006" y="100012"/>
                  </a:lnTo>
                  <a:lnTo>
                    <a:pt x="0" y="50006"/>
                  </a:lnTo>
                  <a:lnTo>
                    <a:pt x="50006" y="0"/>
                  </a:lnTo>
                  <a:lnTo>
                    <a:pt x="70212" y="20206"/>
                  </a:lnTo>
                  <a:lnTo>
                    <a:pt x="40411" y="50006"/>
                  </a:lnTo>
                  <a:close/>
                </a:path>
              </a:pathLst>
            </a:custGeom>
            <a:solidFill>
              <a:srgbClr val="FF0266"/>
            </a:solidFill>
            <a:ln>
              <a:noFill/>
            </a:ln>
          </p:spPr>
        </p:sp>
      </p:grpSp>
      <p:sp>
        <p:nvSpPr>
          <p:cNvPr id="64" name="TextBox 64"/>
          <p:cNvSpPr txBox="1"/>
          <p:nvPr/>
        </p:nvSpPr>
        <p:spPr>
          <a:xfrm>
            <a:off x="8635365" y="5258752"/>
            <a:ext cx="1371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前后端分离 · 单仓库</a:t>
            </a:r>
          </a:p>
        </p:txBody>
      </p:sp>
      <p:sp>
        <p:nvSpPr>
          <p:cNvPr id="65" name="Rectangle 65"/>
          <p:cNvSpPr/>
          <p:nvPr/>
        </p:nvSpPr>
        <p:spPr>
          <a:xfrm>
            <a:off x="8191500" y="56578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F0266">
              <a:alpha val="8000"/>
            </a:srgbClr>
          </a:solidFill>
          <a:ln>
            <a:noFill/>
          </a:ln>
        </p:spPr>
      </p:sp>
      <p:sp>
        <p:nvSpPr>
          <p:cNvPr id="66" name="Freeform 66"/>
          <p:cNvSpPr/>
          <p:nvPr/>
        </p:nvSpPr>
        <p:spPr>
          <a:xfrm>
            <a:off x="8253248" y="5715000"/>
            <a:ext cx="219404" cy="228600"/>
          </a:xfrm>
          <a:custGeom>
            <a:avLst/>
            <a:gdLst/>
            <a:ahLst/>
            <a:cxnLst/>
            <a:rect l="l" t="t" r="r" b="b"/>
            <a:pathLst>
              <a:path w="219404" h="228600">
                <a:moveTo>
                  <a:pt x="88271" y="0"/>
                </a:moveTo>
                <a:lnTo>
                  <a:pt x="131134" y="0"/>
                </a:lnTo>
                <a:lnTo>
                  <a:pt x="139619" y="33940"/>
                </a:lnTo>
                <a:cubicBezTo>
                  <a:pt x="148673" y="37312"/>
                  <a:pt x="157004" y="42170"/>
                  <a:pt x="164313" y="48219"/>
                </a:cubicBezTo>
                <a:lnTo>
                  <a:pt x="197973" y="38590"/>
                </a:lnTo>
                <a:lnTo>
                  <a:pt x="219404" y="75710"/>
                </a:lnTo>
                <a:lnTo>
                  <a:pt x="194246" y="100036"/>
                </a:lnTo>
                <a:cubicBezTo>
                  <a:pt x="195023" y="104675"/>
                  <a:pt x="195427" y="109440"/>
                  <a:pt x="195427" y="114300"/>
                </a:cubicBezTo>
                <a:cubicBezTo>
                  <a:pt x="195427" y="119160"/>
                  <a:pt x="195023" y="123925"/>
                  <a:pt x="194246" y="128564"/>
                </a:cubicBezTo>
                <a:lnTo>
                  <a:pt x="219404" y="152891"/>
                </a:lnTo>
                <a:lnTo>
                  <a:pt x="197973" y="190009"/>
                </a:lnTo>
                <a:lnTo>
                  <a:pt x="164313" y="180381"/>
                </a:lnTo>
                <a:cubicBezTo>
                  <a:pt x="157004" y="186429"/>
                  <a:pt x="148673" y="191288"/>
                  <a:pt x="139619" y="194660"/>
                </a:cubicBezTo>
                <a:lnTo>
                  <a:pt x="131134" y="228600"/>
                </a:lnTo>
                <a:lnTo>
                  <a:pt x="88271" y="228600"/>
                </a:lnTo>
                <a:lnTo>
                  <a:pt x="79786" y="194660"/>
                </a:lnTo>
                <a:cubicBezTo>
                  <a:pt x="70732" y="191288"/>
                  <a:pt x="62401" y="186429"/>
                  <a:pt x="55091" y="180381"/>
                </a:cubicBezTo>
                <a:lnTo>
                  <a:pt x="21431" y="190009"/>
                </a:lnTo>
                <a:lnTo>
                  <a:pt x="0" y="152891"/>
                </a:lnTo>
                <a:lnTo>
                  <a:pt x="25159" y="128564"/>
                </a:lnTo>
                <a:cubicBezTo>
                  <a:pt x="24382" y="123925"/>
                  <a:pt x="23977" y="119160"/>
                  <a:pt x="23977" y="114300"/>
                </a:cubicBezTo>
                <a:cubicBezTo>
                  <a:pt x="23977" y="109440"/>
                  <a:pt x="24382" y="104675"/>
                  <a:pt x="25159" y="100036"/>
                </a:cubicBezTo>
                <a:lnTo>
                  <a:pt x="0" y="75710"/>
                </a:lnTo>
                <a:lnTo>
                  <a:pt x="21431" y="38590"/>
                </a:lnTo>
                <a:lnTo>
                  <a:pt x="55091" y="48219"/>
                </a:lnTo>
                <a:cubicBezTo>
                  <a:pt x="62401" y="42170"/>
                  <a:pt x="70732" y="37312"/>
                  <a:pt x="79786" y="33940"/>
                </a:cubicBezTo>
                <a:lnTo>
                  <a:pt x="88271" y="0"/>
                </a:lnTo>
                <a:close/>
                <a:moveTo>
                  <a:pt x="109702" y="142875"/>
                </a:moveTo>
                <a:cubicBezTo>
                  <a:pt x="125484" y="142875"/>
                  <a:pt x="138277" y="130082"/>
                  <a:pt x="138277" y="114300"/>
                </a:cubicBezTo>
                <a:cubicBezTo>
                  <a:pt x="138277" y="98518"/>
                  <a:pt x="125484" y="85725"/>
                  <a:pt x="109702" y="85725"/>
                </a:cubicBezTo>
                <a:cubicBezTo>
                  <a:pt x="93921" y="85725"/>
                  <a:pt x="81127" y="98518"/>
                  <a:pt x="81127" y="114300"/>
                </a:cubicBezTo>
                <a:cubicBezTo>
                  <a:pt x="81127" y="130082"/>
                  <a:pt x="93921" y="142875"/>
                  <a:pt x="109702" y="142875"/>
                </a:cubicBezTo>
                <a:close/>
              </a:path>
            </a:pathLst>
          </a:custGeom>
          <a:solidFill>
            <a:srgbClr val="FF0266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8635365" y="5773102"/>
            <a:ext cx="12248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内置 API Explorer</a:t>
            </a:r>
          </a:p>
        </p:txBody>
      </p:sp>
      <p:sp>
        <p:nvSpPr>
          <p:cNvPr id="68" name="Rectangle 68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200EE">
              <a:alpha val="4000"/>
            </a:srgbClr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11733562" y="64941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6200EE">
              <a:alpha val="3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666750" y="4762500"/>
            <a:ext cx="2857500" cy="2857500"/>
          </a:xfrm>
          <a:prstGeom prst="ellipse">
            <a:avLst/>
          </a:prstGeom>
          <a:solidFill>
            <a:srgbClr val="03DAC6">
              <a:alpha val="4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3810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86765" y="458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2530" y="4400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未来展望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43000"/>
            <a:ext cx="3524250" cy="5048250"/>
          </a:xfrm>
          <a:prstGeom prst="roundRect">
            <a:avLst>
              <a:gd name="adj" fmla="val 4324"/>
            </a:avLst>
          </a:prstGeom>
          <a:solidFill>
            <a:srgbClr val="F6F0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3524250" cy="495300"/>
          </a:xfrm>
          <a:prstGeom prst="roundRect">
            <a:avLst>
              <a:gd name="adj" fmla="val 30769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85900"/>
            <a:ext cx="3524250" cy="152400"/>
          </a:xfrm>
          <a:prstGeom prst="rect">
            <a:avLst/>
          </a:prstGeom>
          <a:solidFill>
            <a:srgbClr val="6200EE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795338" y="1257300"/>
            <a:ext cx="200025" cy="266700"/>
            <a:chOff x="795338" y="1257300"/>
            <a:chExt cx="200025" cy="266700"/>
          </a:xfrm>
        </p:grpSpPr>
        <p:sp>
          <p:nvSpPr>
            <p:cNvPr id="11" name="Freeform 11"/>
            <p:cNvSpPr/>
            <p:nvPr/>
          </p:nvSpPr>
          <p:spPr>
            <a:xfrm>
              <a:off x="795338" y="1363980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185642" y="8504"/>
                  </a:moveTo>
                  <a:cubicBezTo>
                    <a:pt x="190330" y="6159"/>
                    <a:pt x="195229" y="3330"/>
                    <a:pt x="200025" y="0"/>
                  </a:cubicBezTo>
                  <a:lnTo>
                    <a:pt x="200025" y="26670"/>
                  </a:lnTo>
                  <a:cubicBezTo>
                    <a:pt x="200025" y="54287"/>
                    <a:pt x="155248" y="76676"/>
                    <a:pt x="100012" y="76676"/>
                  </a:cubicBezTo>
                  <a:cubicBezTo>
                    <a:pt x="44777" y="76676"/>
                    <a:pt x="0" y="54287"/>
                    <a:pt x="0" y="26670"/>
                  </a:cubicBezTo>
                  <a:lnTo>
                    <a:pt x="0" y="0"/>
                  </a:lnTo>
                  <a:cubicBezTo>
                    <a:pt x="4796" y="3330"/>
                    <a:pt x="9694" y="6159"/>
                    <a:pt x="14384" y="8504"/>
                  </a:cubicBezTo>
                  <a:cubicBezTo>
                    <a:pt x="38021" y="20322"/>
                    <a:pt x="68342" y="26670"/>
                    <a:pt x="100012" y="26670"/>
                  </a:cubicBezTo>
                  <a:cubicBezTo>
                    <a:pt x="131683" y="26670"/>
                    <a:pt x="162004" y="20322"/>
                    <a:pt x="185642" y="8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95338" y="1447324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0" y="0"/>
                  </a:moveTo>
                  <a:lnTo>
                    <a:pt x="0" y="26670"/>
                  </a:lnTo>
                  <a:cubicBezTo>
                    <a:pt x="0" y="54288"/>
                    <a:pt x="44777" y="76676"/>
                    <a:pt x="100012" y="76676"/>
                  </a:cubicBezTo>
                  <a:cubicBezTo>
                    <a:pt x="155248" y="76676"/>
                    <a:pt x="200025" y="54288"/>
                    <a:pt x="200025" y="26670"/>
                  </a:cubicBezTo>
                  <a:lnTo>
                    <a:pt x="200025" y="0"/>
                  </a:lnTo>
                  <a:cubicBezTo>
                    <a:pt x="195229" y="3330"/>
                    <a:pt x="190330" y="6159"/>
                    <a:pt x="185642" y="8504"/>
                  </a:cubicBezTo>
                  <a:cubicBezTo>
                    <a:pt x="162004" y="20323"/>
                    <a:pt x="131683" y="26670"/>
                    <a:pt x="100012" y="26670"/>
                  </a:cubicBezTo>
                  <a:cubicBezTo>
                    <a:pt x="68342" y="26670"/>
                    <a:pt x="38021" y="20323"/>
                    <a:pt x="14384" y="8504"/>
                  </a:cubicBezTo>
                  <a:cubicBezTo>
                    <a:pt x="9694" y="6159"/>
                    <a:pt x="4796" y="333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95338" y="1257300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100012" y="0"/>
                  </a:moveTo>
                  <a:cubicBezTo>
                    <a:pt x="155248" y="0"/>
                    <a:pt x="200025" y="22389"/>
                    <a:pt x="200025" y="50006"/>
                  </a:cubicBezTo>
                  <a:cubicBezTo>
                    <a:pt x="200025" y="77624"/>
                    <a:pt x="155248" y="100012"/>
                    <a:pt x="100012" y="100012"/>
                  </a:cubicBezTo>
                  <a:cubicBezTo>
                    <a:pt x="44777" y="100012"/>
                    <a:pt x="0" y="77624"/>
                    <a:pt x="0" y="50006"/>
                  </a:cubicBezTo>
                  <a:cubicBezTo>
                    <a:pt x="0" y="22389"/>
                    <a:pt x="44777" y="0"/>
                    <a:pt x="1000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106805" y="13211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记忆系统增强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00100" y="1905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6200EE">
              <a:alpha val="1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2057" y="1985010"/>
            <a:ext cx="808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3960" y="19850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记忆关联图谱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5865" y="22488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构建知识图谱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00100" y="2667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6200EE">
              <a:alpha val="1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91054" y="27470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3960" y="27470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记忆时效性自动过期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5865" y="30108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时间衰减自动归档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00100" y="3429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6200EE">
              <a:alpha val="1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91054" y="35090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3960" y="3509010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跨用户记忆共享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5865" y="37728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团队协作记忆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00100" y="4191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6200EE">
              <a:alpha val="1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91054" y="42710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6200E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03960" y="42710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记忆质量评分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5865" y="45348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自动清洗低价值条目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333875" y="1143000"/>
            <a:ext cx="3524250" cy="5048250"/>
          </a:xfrm>
          <a:prstGeom prst="roundRect">
            <a:avLst>
              <a:gd name="adj" fmla="val 4324"/>
            </a:avLst>
          </a:prstGeom>
          <a:solidFill>
            <a:srgbClr val="E3F2FD">
              <a:alpha val="30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4333875" y="1143000"/>
            <a:ext cx="3524250" cy="495300"/>
          </a:xfrm>
          <a:prstGeom prst="roundRect">
            <a:avLst>
              <a:gd name="adj" fmla="val 30769"/>
            </a:avLst>
          </a:prstGeom>
          <a:solidFill>
            <a:srgbClr val="2979FF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4333875" y="1485900"/>
            <a:ext cx="3524250" cy="152400"/>
          </a:xfrm>
          <a:prstGeom prst="rect">
            <a:avLst/>
          </a:prstGeom>
          <a:solidFill>
            <a:srgbClr val="2979FF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4541044" y="1257300"/>
            <a:ext cx="233362" cy="266700"/>
            <a:chOff x="4541044" y="1257300"/>
            <a:chExt cx="233362" cy="266700"/>
          </a:xfrm>
        </p:grpSpPr>
        <p:sp>
          <p:nvSpPr>
            <p:cNvPr id="35" name="Freeform 35"/>
            <p:cNvSpPr/>
            <p:nvPr/>
          </p:nvSpPr>
          <p:spPr>
            <a:xfrm>
              <a:off x="4541044" y="1257300"/>
              <a:ext cx="233362" cy="133350"/>
            </a:xfrm>
            <a:custGeom>
              <a:avLst/>
              <a:gdLst/>
              <a:ahLst/>
              <a:cxnLst/>
              <a:rect l="l" t="t" r="r" b="b"/>
              <a:pathLst>
                <a:path w="233362" h="133350">
                  <a:moveTo>
                    <a:pt x="0" y="83344"/>
                  </a:move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83344"/>
                  </a:lnTo>
                  <a:lnTo>
                    <a:pt x="116681" y="13335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4541044" y="1440656"/>
              <a:ext cx="233362" cy="83344"/>
            </a:xfrm>
            <a:custGeom>
              <a:avLst/>
              <a:gdLst/>
              <a:ahLst/>
              <a:cxnLst/>
              <a:rect l="l" t="t" r="r" b="b"/>
              <a:pathLst>
                <a:path w="233362" h="83344">
                  <a:moveTo>
                    <a:pt x="116681" y="83344"/>
                  </a:moveTo>
                  <a:lnTo>
                    <a:pt x="0" y="33338"/>
                  </a:lnTo>
                  <a:lnTo>
                    <a:pt x="0" y="0"/>
                  </a:lnTo>
                  <a:lnTo>
                    <a:pt x="116681" y="50006"/>
                  </a:lnTo>
                  <a:lnTo>
                    <a:pt x="233362" y="0"/>
                  </a:lnTo>
                  <a:lnTo>
                    <a:pt x="233362" y="33338"/>
                  </a:lnTo>
                  <a:lnTo>
                    <a:pt x="116681" y="833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4541044" y="1373981"/>
              <a:ext cx="233362" cy="83344"/>
            </a:xfrm>
            <a:custGeom>
              <a:avLst/>
              <a:gdLst/>
              <a:ahLst/>
              <a:cxnLst/>
              <a:rect l="l" t="t" r="r" b="b"/>
              <a:pathLst>
                <a:path w="233362" h="83344">
                  <a:moveTo>
                    <a:pt x="0" y="33338"/>
                  </a:moveTo>
                  <a:lnTo>
                    <a:pt x="116681" y="83344"/>
                  </a:lnTo>
                  <a:lnTo>
                    <a:pt x="233362" y="33338"/>
                  </a:lnTo>
                  <a:lnTo>
                    <a:pt x="233362" y="0"/>
                  </a:lnTo>
                  <a:lnTo>
                    <a:pt x="116681" y="50006"/>
                  </a:lnTo>
                  <a:lnTo>
                    <a:pt x="0" y="0"/>
                  </a:lnTo>
                  <a:lnTo>
                    <a:pt x="0" y="333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4869180" y="1321118"/>
            <a:ext cx="1196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多模态 &amp; 交互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562475" y="1905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979FF">
              <a:alpha val="10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674432" y="1985010"/>
            <a:ext cx="808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979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966335" y="1985010"/>
            <a:ext cx="11310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图片/语音消息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968240" y="224885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多模态输入扩展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562475" y="2667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979FF">
              <a:alpha val="1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653429" y="27470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979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66335" y="27470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实时协作编辑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968240" y="301085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WebSocket 双向通信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562475" y="3429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979FF">
              <a:alpha val="10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653429" y="35090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979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966335" y="35090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移动端响应式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968240" y="3772852"/>
            <a:ext cx="12238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手机/平板多端适配</a:t>
            </a:r>
          </a:p>
        </p:txBody>
      </p:sp>
      <p:sp>
        <p:nvSpPr>
          <p:cNvPr id="52" name="Rectangle 52"/>
          <p:cNvSpPr/>
          <p:nvPr/>
        </p:nvSpPr>
        <p:spPr>
          <a:xfrm>
            <a:off x="4562475" y="4191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979FF">
              <a:alpha val="10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4653429" y="42710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979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966335" y="4271010"/>
            <a:ext cx="10638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PWA 离线能力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968240" y="453485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Service Worker 缓存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096250" y="1143000"/>
            <a:ext cx="3524250" cy="5048250"/>
          </a:xfrm>
          <a:prstGeom prst="roundRect">
            <a:avLst>
              <a:gd name="adj" fmla="val 4324"/>
            </a:avLst>
          </a:prstGeom>
          <a:solidFill>
            <a:srgbClr val="E0F2F1">
              <a:alpha val="30000"/>
            </a:srgbClr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8096250" y="1143000"/>
            <a:ext cx="3524250" cy="495300"/>
          </a:xfrm>
          <a:prstGeom prst="roundRect">
            <a:avLst>
              <a:gd name="adj" fmla="val 30769"/>
            </a:avLst>
          </a:prstGeom>
          <a:solidFill>
            <a:srgbClr val="03DAC6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8096250" y="1485900"/>
            <a:ext cx="3524250" cy="152400"/>
          </a:xfrm>
          <a:prstGeom prst="rect">
            <a:avLst/>
          </a:prstGeom>
          <a:solidFill>
            <a:srgbClr val="03DAC6"/>
          </a:solidFill>
          <a:ln>
            <a:noFill/>
          </a:ln>
        </p:spPr>
      </p:sp>
      <p:grpSp>
        <p:nvGrpSpPr>
          <p:cNvPr id="61" name="Group 61"/>
          <p:cNvGrpSpPr/>
          <p:nvPr/>
        </p:nvGrpSpPr>
        <p:grpSpPr>
          <a:xfrm>
            <a:off x="8286750" y="1257300"/>
            <a:ext cx="266700" cy="266700"/>
            <a:chOff x="8286750" y="1257300"/>
            <a:chExt cx="266700" cy="266700"/>
          </a:xfrm>
        </p:grpSpPr>
        <p:sp>
          <p:nvSpPr>
            <p:cNvPr id="59" name="Freeform 59"/>
            <p:cNvSpPr/>
            <p:nvPr/>
          </p:nvSpPr>
          <p:spPr>
            <a:xfrm>
              <a:off x="8286750" y="12573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66688" y="266700"/>
                  </a:moveTo>
                  <a:lnTo>
                    <a:pt x="200025" y="233362"/>
                  </a:lnTo>
                  <a:lnTo>
                    <a:pt x="200025" y="166688"/>
                  </a:lnTo>
                  <a:lnTo>
                    <a:pt x="227643" y="139070"/>
                  </a:lnTo>
                  <a:cubicBezTo>
                    <a:pt x="252650" y="114062"/>
                    <a:pt x="266700" y="80144"/>
                    <a:pt x="266700" y="44777"/>
                  </a:cubicBezTo>
                  <a:lnTo>
                    <a:pt x="266700" y="0"/>
                  </a:lnTo>
                  <a:lnTo>
                    <a:pt x="221923" y="0"/>
                  </a:lnTo>
                  <a:cubicBezTo>
                    <a:pt x="186557" y="0"/>
                    <a:pt x="152638" y="14049"/>
                    <a:pt x="127630" y="39057"/>
                  </a:cubicBezTo>
                  <a:lnTo>
                    <a:pt x="100012" y="66675"/>
                  </a:lnTo>
                  <a:lnTo>
                    <a:pt x="33338" y="66675"/>
                  </a:lnTo>
                  <a:lnTo>
                    <a:pt x="0" y="100012"/>
                  </a:lnTo>
                  <a:lnTo>
                    <a:pt x="166688" y="266700"/>
                  </a:lnTo>
                  <a:close/>
                  <a:moveTo>
                    <a:pt x="175022" y="116681"/>
                  </a:moveTo>
                  <a:cubicBezTo>
                    <a:pt x="188830" y="116681"/>
                    <a:pt x="200025" y="105487"/>
                    <a:pt x="200025" y="91678"/>
                  </a:cubicBezTo>
                  <a:cubicBezTo>
                    <a:pt x="200025" y="77869"/>
                    <a:pt x="188830" y="66675"/>
                    <a:pt x="175022" y="66675"/>
                  </a:cubicBezTo>
                  <a:cubicBezTo>
                    <a:pt x="161213" y="66675"/>
                    <a:pt x="150019" y="77869"/>
                    <a:pt x="150019" y="91678"/>
                  </a:cubicBezTo>
                  <a:cubicBezTo>
                    <a:pt x="150019" y="105487"/>
                    <a:pt x="161213" y="116681"/>
                    <a:pt x="175022" y="1166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8286750" y="1441866"/>
              <a:ext cx="82134" cy="82134"/>
            </a:xfrm>
            <a:custGeom>
              <a:avLst/>
              <a:gdLst/>
              <a:ahLst/>
              <a:cxnLst/>
              <a:rect l="l" t="t" r="r" b="b"/>
              <a:pathLst>
                <a:path w="82134" h="82134">
                  <a:moveTo>
                    <a:pt x="82134" y="44726"/>
                  </a:moveTo>
                  <a:lnTo>
                    <a:pt x="37409" y="0"/>
                  </a:lnTo>
                  <a:lnTo>
                    <a:pt x="0" y="65465"/>
                  </a:lnTo>
                  <a:lnTo>
                    <a:pt x="16669" y="82134"/>
                  </a:lnTo>
                  <a:lnTo>
                    <a:pt x="82134" y="447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8631555" y="13211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平台化演进</a:t>
            </a:r>
          </a:p>
        </p:txBody>
      </p:sp>
      <p:sp>
        <p:nvSpPr>
          <p:cNvPr id="63" name="Rectangle 63"/>
          <p:cNvSpPr/>
          <p:nvPr/>
        </p:nvSpPr>
        <p:spPr>
          <a:xfrm>
            <a:off x="8324850" y="1905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3DAC6">
              <a:alpha val="12000"/>
            </a:srgbClr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436807" y="1985010"/>
            <a:ext cx="808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728710" y="19850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插件系统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730615" y="2248852"/>
            <a:ext cx="13008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搜索/代码/文档集成</a:t>
            </a:r>
          </a:p>
        </p:txBody>
      </p:sp>
      <p:sp>
        <p:nvSpPr>
          <p:cNvPr id="67" name="Rectangle 67"/>
          <p:cNvSpPr/>
          <p:nvPr/>
        </p:nvSpPr>
        <p:spPr>
          <a:xfrm>
            <a:off x="8324850" y="2667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3DAC6">
              <a:alpha val="12000"/>
            </a:srgbClr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415804" y="27470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728710" y="2747010"/>
            <a:ext cx="8621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RAG 知识库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730615" y="301085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企业知识库问答</a:t>
            </a:r>
          </a:p>
        </p:txBody>
      </p:sp>
      <p:sp>
        <p:nvSpPr>
          <p:cNvPr id="71" name="Rectangle 71"/>
          <p:cNvSpPr/>
          <p:nvPr/>
        </p:nvSpPr>
        <p:spPr>
          <a:xfrm>
            <a:off x="8324850" y="3429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3DAC6">
              <a:alpha val="12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8415804" y="35090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728710" y="3509010"/>
            <a:ext cx="8789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Agent 能力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730615" y="3772852"/>
            <a:ext cx="1447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多步编排 · 工具调用链</a:t>
            </a:r>
          </a:p>
        </p:txBody>
      </p:sp>
      <p:sp>
        <p:nvSpPr>
          <p:cNvPr id="75" name="Rectangle 75"/>
          <p:cNvSpPr/>
          <p:nvPr/>
        </p:nvSpPr>
        <p:spPr>
          <a:xfrm>
            <a:off x="8324850" y="41910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3DAC6">
              <a:alpha val="12000"/>
            </a:srgbClr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8415804" y="42710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897B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728710" y="42710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多租户权限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730615" y="453485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组织级角色体系</a:t>
            </a:r>
          </a:p>
        </p:txBody>
      </p:sp>
      <p:sp>
        <p:nvSpPr>
          <p:cNvPr id="79" name="Rectangle 79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200EE">
              <a:alpha val="4000"/>
            </a:srgbClr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11733562" y="64941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6200EE">
              <a:alpha val="2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191000" y="1524000"/>
            <a:ext cx="3810000" cy="3810000"/>
          </a:xfrm>
          <a:prstGeom prst="ellipse">
            <a:avLst/>
          </a:prstGeom>
          <a:solidFill>
            <a:srgbClr val="03DAC6">
              <a:alpha val="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866513" y="2213610"/>
            <a:ext cx="24589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0" y="2952750"/>
            <a:ext cx="1905000" cy="5715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416742" y="3362325"/>
            <a:ext cx="33585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757575"/>
                </a:solidFill>
                <a:latin typeface="Arial"/>
                <a:ea typeface="Microsoft YaHei"/>
                <a:cs typeface="Arial"/>
              </a:rPr>
              <a:t>LLM + 永久记忆聊天系统 — CHAT A.I+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400050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6200E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709135" y="4116705"/>
            <a:ext cx="77373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Q &amp; A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200EE">
              <a:alpha val="4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