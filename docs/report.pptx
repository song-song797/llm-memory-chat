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5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560320"/>
            <a:ext cx="109728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LLM + 永久记忆聊天系统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CHAT A.I+  —  跨会话智能记忆对话系统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汇报目录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痛点分析、核心目标、项目定位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86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整体架构、技术栈选型、分层设计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核心功能：记忆系统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三级作用域、提取流水线、候选生命周期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记忆系统进阶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上下文注入、语义检索、记忆压缩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企业级特性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57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版本追踪、审计合规、向量检索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数据模型设计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12 张数据表、实体关系、索引策略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API 设计与前端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572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RESTful API、React SPA、API Explorer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关键技术决策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029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选型理由、架构权衡、容错设计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864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486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项目成果总结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486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功能交付、代码规模、技术亮点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943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943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演进方向、优化计划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  项目背景与目标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核心痛点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传统 LLM 聊天应用无状态，每次对话从零开始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用户反复提供相同背景信息，体验割裂低效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无法积累用户偏好、项目上下文、技术决策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跨会话知识无法沉淀，AI 无法真正「了解」用户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项目目标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构建具备跨会话永久记忆能力的 LLM 对话系统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跨对话记住用户偏好和习惯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按项目组织对话和记忆，隔离不同工作上下文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自动识别值得记住的信息，经用户确认后持久化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51560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7C4DFF"/>
                </a:solidFill>
                <a:latin typeface="Microsoft YaHei"/>
              </a:defRPr>
            </a:pPr>
            <a:r>
              <a:t>项目定位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面向个人开发者和小型技术团队的知识型对话助手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适用场景：长期项目上下文维护、技术决策记录、个人偏好管理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支持多模型接入（Qwen / Kimi / MiniMax / GLM），适配不同推理需求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  系统架构设计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前端层 (SPA)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React 19 + TypeScript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Vite 8 构建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Ant Design 6 UI 组件库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react-router-dom 7 路由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react-markdown + KaTeX 渲染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shiki 代码高亮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后端层 (API Server)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Python 3.13 + FastAPI 0.115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uvicorn 0.30 ASGI 服务器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SQLAlchemy 2.0 ORM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Alembic 数据库迁移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pydantic-settings 配置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OpenAI 兼容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7C4DFF"/>
                </a:solidFill>
                <a:latin typeface="Microsoft YaHei"/>
              </a:defRPr>
            </a:pPr>
            <a:r>
              <a:t>数据层 (Storage)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SQLite (开发环境)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PostgreSQL + pgvector (生产)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1536 维向量嵌入存储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余弦相似度语义检索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12 张数据表 ORM 映射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内容哈希变更检测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51560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52757" y="4137660"/>
            <a:ext cx="8814816" cy="502920"/>
          </a:xfrm>
          <a:prstGeom prst="roundRect">
            <a:avLst/>
          </a:prstGeom>
          <a:solidFill>
            <a:srgbClr val="00D2FF">
              <a:lumMod val="30000"/>
            </a:srgbClr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React SPA  —  登录注册 | 聊天主界面 | API Explorer | 设置中心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5940" y="4709160"/>
            <a:ext cx="8458200" cy="502920"/>
          </a:xfrm>
          <a:prstGeom prst="roundRect">
            <a:avLst/>
          </a:prstGeom>
          <a:solidFill>
            <a:srgbClr val="00E696">
              <a:lumMod val="30000"/>
            </a:srgbClr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API 路由层  —  auth | chat | chat_v1 | conversations | memories | candidates | projects |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9373" y="5303520"/>
            <a:ext cx="8101584" cy="502920"/>
          </a:xfrm>
          <a:prstGeom prst="roundRect">
            <a:avLst/>
          </a:prstGeom>
          <a:solidFill>
            <a:srgbClr val="7C4DFF">
              <a:lumMod val="30000"/>
            </a:srgbClr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Microsoft YaHei"/>
              </a:rPr>
              <a:t>业务服务层</a:t>
            </a:r>
            <a:r>
              <a:rPr sz="1100" b="1" dirty="0">
                <a:solidFill>
                  <a:srgbClr val="FFFFFF"/>
                </a:solidFill>
                <a:latin typeface="Microsoft YaHei"/>
              </a:rPr>
              <a:t>  —  </a:t>
            </a:r>
            <a:r>
              <a:rPr sz="1100" b="1" dirty="0" err="1">
                <a:solidFill>
                  <a:srgbClr val="FFFFFF"/>
                </a:solidFill>
                <a:latin typeface="Microsoft YaHei"/>
              </a:rPr>
              <a:t>llm_service</a:t>
            </a:r>
            <a:r>
              <a:rPr sz="1100" b="1" dirty="0">
                <a:solidFill>
                  <a:srgbClr val="FFFFFF"/>
                </a:solidFill>
                <a:latin typeface="Microsoft YaHei"/>
              </a:rPr>
              <a:t> | </a:t>
            </a:r>
            <a:r>
              <a:rPr sz="1100" b="1" dirty="0" err="1">
                <a:solidFill>
                  <a:srgbClr val="FFFFFF"/>
                </a:solidFill>
                <a:latin typeface="Microsoft YaHei"/>
              </a:rPr>
              <a:t>auth_service</a:t>
            </a:r>
            <a:r>
              <a:rPr sz="1100" b="1" dirty="0">
                <a:solidFill>
                  <a:srgbClr val="FFFFFF"/>
                </a:solidFill>
                <a:latin typeface="Microsoft YaHei"/>
              </a:rPr>
              <a:t> | </a:t>
            </a:r>
            <a:r>
              <a:rPr sz="1100" b="1" dirty="0" err="1">
                <a:solidFill>
                  <a:srgbClr val="FFFFFF"/>
                </a:solidFill>
                <a:latin typeface="Microsoft YaHei"/>
              </a:rPr>
              <a:t>memory_svc</a:t>
            </a:r>
            <a:r>
              <a:rPr sz="1100" b="1" dirty="0">
                <a:solidFill>
                  <a:srgbClr val="FFFFFF"/>
                </a:solidFill>
                <a:latin typeface="Microsoft YaHei"/>
              </a:rPr>
              <a:t> | </a:t>
            </a:r>
            <a:r>
              <a:rPr sz="1100" b="1" dirty="0" err="1">
                <a:solidFill>
                  <a:srgbClr val="FFFFFF"/>
                </a:solidFill>
                <a:latin typeface="Microsoft YaHei"/>
              </a:rPr>
              <a:t>memory_extraction</a:t>
            </a:r>
            <a:r>
              <a:rPr sz="1100" b="1" dirty="0">
                <a:solidFill>
                  <a:srgbClr val="FFFFFF"/>
                </a:solidFill>
                <a:latin typeface="Microsoft YaHei"/>
              </a:rPr>
              <a:t> | </a:t>
            </a:r>
            <a:r>
              <a:rPr sz="1100" b="1" dirty="0" err="1">
                <a:solidFill>
                  <a:srgbClr val="FFFFFF"/>
                </a:solidFill>
                <a:latin typeface="Microsoft YaHei"/>
              </a:rPr>
              <a:t>embedding_svc</a:t>
            </a:r>
            <a:r>
              <a:rPr sz="1100" b="1" dirty="0">
                <a:solidFill>
                  <a:srgbClr val="FFFFFF"/>
                </a:solidFill>
                <a:latin typeface="Microsoft YaHei"/>
              </a:rPr>
              <a:t> | </a:t>
            </a:r>
            <a:r>
              <a:rPr sz="1100" b="1" dirty="0" err="1">
                <a:solidFill>
                  <a:srgbClr val="FFFFFF"/>
                </a:solidFill>
                <a:latin typeface="Microsoft YaHei"/>
              </a:rPr>
              <a:t>vector_search</a:t>
            </a:r>
            <a:r>
              <a:rPr sz="1100" b="1" dirty="0">
                <a:solidFill>
                  <a:srgbClr val="FFFFFF"/>
                </a:solidFill>
                <a:latin typeface="Microsoft YaHei"/>
              </a:rPr>
              <a:t> | </a:t>
            </a:r>
            <a:r>
              <a:rPr sz="1100" b="1" dirty="0" err="1">
                <a:solidFill>
                  <a:srgbClr val="FFFFFF"/>
                </a:solidFill>
                <a:latin typeface="Microsoft YaHei"/>
              </a:rPr>
              <a:t>audit_svc</a:t>
            </a:r>
            <a:endParaRPr sz="11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087681" y="5897880"/>
            <a:ext cx="7744968" cy="502920"/>
          </a:xfrm>
          <a:prstGeom prst="roundRect">
            <a:avLst/>
          </a:prstGeom>
          <a:solidFill>
            <a:srgbClr val="FFA500">
              <a:lumMod val="30000"/>
            </a:srgbClr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数据访问层  —  SQLAlchemy ORM | Pydantic Schemas | Alembic Migrations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 核心功能：记忆系统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三级作用域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Global (全局) — 跨所有对话/项目, ≤4 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Project (项目) — 项目内共享, ≤6 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Conversation (会话) — 单对话, ≤6 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优先级: conversation &gt; project &gt;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7472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自动提取流水线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1. 检测显式记忆意图 ("请记住"等关键词)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2. 非显式消息 → 异步 LLM 评估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3. 返回结构化 JSON 候选 (kind/scope)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4. 敏感信息自动过滤 (密码/证件号)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5. 与已有记忆去重 (精确匹配/身份匹配)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2004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7C4DFF"/>
                </a:solidFill>
                <a:latin typeface="Microsoft YaHei"/>
              </a:defRPr>
            </a:pPr>
            <a:r>
              <a:t>候选生命周期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高置信度 (≥85) + 高重要度 (≥80)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  → 内联卡片展示 (聊天气泡旁)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普通候选 → 设置面板待审核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会话级候选可自动接受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用户操作: 接受 / 忽略 / 推迟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记忆分类体系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fact (事实) — 客观信息记录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preference (偏好) — 用户习惯和喜好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project (项目) — 项目背景和上下文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tool (工具) — 工具使用偏好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decision (决策) — 技术决策记录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每条记忆包含: content / kind / scope / confidence / importance / sensitivity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A500"/>
                </a:solidFill>
                <a:latin typeface="Microsoft YaHei"/>
              </a:defRPr>
            </a:pPr>
            <a:r>
              <a:t>上下文注入策略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记忆以系统消息形式注入 LLM 对话上下文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优先使用记忆文档 (AI 聚合 Markdown)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文档不可用时加载独立记忆条目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pgvector 可用 → 语义相似度 Top-K 检索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仅 SQLite → 按时间排序降级策略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记忆注入不阻塞聊天 SSE 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 记忆系统进阶能力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语义向量检索 (pgvector)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PostgreSQL pgvector 扩展, 1536 维向量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OpenAI 兼容 Embedding API 生成向量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余弦相似度 (cosine) 检索 Top-K 结果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内容哈希变更检测, 仅在内容变化时重新嵌入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异步后台生成嵌入, 不阻塞聊天流程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SQLite 环境自动降级为时间排序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记忆文档聚合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按 scope 自动聚合多条记忆为 Markdown 文档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AI 生成模式: LLM 组织结构化文档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降级模式: 简单列表聚合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非过期文档优先用于上下文注入 (减少 token)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支持手动触发文档刷新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7C4DFF"/>
                </a:solidFill>
                <a:latin typeface="Microsoft YaHei"/>
              </a:defRPr>
            </a:pPr>
            <a:r>
              <a:t>对话记忆压缩 (Compaction)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当会话级记忆超过配置阈值 (数量/字符长度)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调用 LLM 生成压缩摘要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原始记忆归档, 替换为单条 decision 记忆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防止记忆膨胀导致上下文溢出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可配置触发阈值和压缩策略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0292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40690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A500"/>
                </a:solidFill>
                <a:latin typeface="Microsoft YaHei"/>
              </a:defRPr>
            </a:pPr>
            <a:r>
              <a:t>多模型接入架构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统一 OpenAI 兼容接口, 可配置 base_url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支持模型: Qwen3-Coder / Kimi K2.5 / MiniMax M2.5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          Qwen3.5-Plus / Qwen3.6-Plus / GLM-5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每模型独立推理参数 (reasoning mode/tokens)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独立 MEMORY_MODEL 用于记忆提取任务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跨模型对话上下文标注来源模型信息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  企业级特性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记忆版本追踪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每次变更创建版本快照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链表结构 (parent_history_id)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version_number 递增追踪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记录变更原因和操作类型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完整回溯任意历史版本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支持 create/update/delete/archive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38328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操作审计合规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所有记忆操作记录审计日志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捕获变更前后状态 (before/after JSON)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区分操作来源: manual/api/automatic/system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记录 IP 地址和请求 ID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全局审计日志查询接口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支持时间范围和操作类型过滤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20040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认证与安全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scrypt 密码哈希 + 16B 盐值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Bearer Token (SHA256 存储)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所有查询强制 user_id 数据隔离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文件上传限制: ≤6 附件/消息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单文件 ≤ 10MB, 随机文件名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V1 端点支持可选认证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53035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7C4DFF"/>
                </a:solidFill>
                <a:latin typeface="Microsoft YaHei"/>
              </a:defRPr>
            </a:pPr>
            <a:r>
              <a:t>RESTful API 设计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13 个路由模块, 覆盖完整业务场景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/api/v1 开发者端点: 可选认证 + 可配置记忆注入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V1 支持流式(SSE)/非流式双模式切换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聊天主接口 multipart/form-data 支持文件上传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480560"/>
            <a:ext cx="502920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46177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A500"/>
                </a:solidFill>
                <a:latin typeface="Microsoft YaHei"/>
              </a:defRPr>
            </a:pPr>
            <a:r>
              <a:t>API Explorer 工具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内置 Web 端 API 调试工具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7 个子组件: 参数/消息编辑/文档/结果/历史/SDK 示例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多端点支持: /chat /chat/auto /chat/simple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自动生成 SDK 调用代码示例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  数据模型设计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用户系统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users | user_sessions |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对话系统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conversations | messages (含版本链) | attachments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7C4DFF"/>
                </a:solidFill>
                <a:latin typeface="Microsoft YaHei"/>
              </a:defRPr>
            </a:pPr>
            <a:r>
              <a:t>记忆系统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memories | memory_candidates | memory_documents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A500"/>
                </a:solidFill>
                <a:latin typeface="Microsoft YaHei"/>
              </a:defRPr>
            </a:pPr>
            <a:r>
              <a:t>记忆治理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memory_histories | memory_audit_logs | memory_embeddings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A0A0B0"/>
                </a:solidFill>
                <a:latin typeface="Microsoft YaHei"/>
              </a:defRPr>
            </a:pPr>
            <a:r>
              <a:t>调试工具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api_debug_history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715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rPr dirty="0"/>
              <a:t>共 12 </a:t>
            </a:r>
            <a:r>
              <a:rPr dirty="0" err="1"/>
              <a:t>张数据表</a:t>
            </a:r>
            <a:r>
              <a:rPr dirty="0"/>
              <a:t>, </a:t>
            </a:r>
            <a:r>
              <a:rPr dirty="0" err="1"/>
              <a:t>SQLAlchemy</a:t>
            </a:r>
            <a:r>
              <a:rPr dirty="0"/>
              <a:t> 2.0 ORM </a:t>
            </a:r>
            <a:r>
              <a:rPr dirty="0" err="1"/>
              <a:t>映射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核心实体关系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users ─1:N─▶ user_sessions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users ─1:N─▶ conversations ◀──── projects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conversations ─1:N─▶ messages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messages ─1:N─▶ attachments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messages 含版本链 (parent_message_id)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0B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memories ◀── memory_candidates (转化自)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memories ─1:N─▶ memory_embeddings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memories ──▶ memory_documents (按scope聚合)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memories ─1:N─▶ memory_histories (版本追踪)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所有操作 ──▶ memory_audit_logs (审计)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0B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记忆作用域: global | project | conversation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向量嵌入: pgvector 1536 维 (PostgreSQL)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  关键技术决策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Memory-First 架构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整个系统围绕持久化、作用域化、AI 策展的记忆构建，记忆是核心价值主张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How to apply: 所有业务流程 (聊天/项目/对话) 都围绕记忆能力设计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51560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优雅降级策略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记忆失败不中断聊天, pgvector 不可用时降级为时间排序, SQLite 无需 pgvector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How to apply: 确保在任何环境下核心功能可用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51560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7C4DFF"/>
                </a:solidFill>
                <a:latin typeface="Microsoft YaHei"/>
              </a:defRPr>
            </a:pPr>
            <a:r>
              <a:t>后台异步处理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记忆提取、嵌入生成、文档重建均通过后台任务完成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How to apply: 避免阻塞 SSE 聊天流, 保证用户体验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51560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FA500"/>
                </a:solidFill>
                <a:latin typeface="Microsoft YaHei"/>
              </a:defRPr>
            </a:pPr>
            <a:r>
              <a:t>候选审核机制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自动提取 + 人工审核 (Human-in-the-loop)，会话级可自动接受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How to apply: 平衡自动化效率与用户控制权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51560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46811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消息版本化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助手消息支持重新生成, 完整版本历史链和切换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How to apply: 允许用户对不满意回答进行迭代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08  项目成果总结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4592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371600"/>
            <a:ext cx="164592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9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路由模块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164592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4D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服务模块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164592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A500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API 端点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164592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  <a:latin typeface="Microsoft YaHei"/>
              </a:defRPr>
            </a:pPr>
            <a:r>
              <a:t>20+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前端组件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371600"/>
            <a:ext cx="164592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LLM 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834640"/>
            <a:ext cx="530352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971800"/>
            <a:ext cx="493776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rPr dirty="0" err="1"/>
              <a:t>功能交付</a:t>
            </a:r>
            <a:endParaRPr dirty="0"/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用户认证</a:t>
            </a:r>
            <a:r>
              <a:rPr dirty="0"/>
              <a:t> (</a:t>
            </a:r>
            <a:r>
              <a:rPr dirty="0" err="1"/>
              <a:t>注册</a:t>
            </a:r>
            <a:r>
              <a:rPr dirty="0"/>
              <a:t>/</a:t>
            </a:r>
            <a:r>
              <a:rPr dirty="0" err="1"/>
              <a:t>登录</a:t>
            </a:r>
            <a:r>
              <a:rPr dirty="0"/>
              <a:t>/</a:t>
            </a:r>
            <a:r>
              <a:rPr dirty="0" err="1"/>
              <a:t>登出</a:t>
            </a:r>
            <a:r>
              <a:rPr dirty="0"/>
              <a:t>/</a:t>
            </a:r>
            <a:r>
              <a:rPr dirty="0" err="1"/>
              <a:t>会话管理</a:t>
            </a:r>
            <a:r>
              <a:rPr dirty="0"/>
              <a:t>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多模型聊天</a:t>
            </a:r>
            <a:r>
              <a:rPr dirty="0"/>
              <a:t> (6 </a:t>
            </a:r>
            <a:r>
              <a:rPr dirty="0" err="1"/>
              <a:t>种模型</a:t>
            </a:r>
            <a:r>
              <a:rPr dirty="0"/>
              <a:t>, SSE </a:t>
            </a:r>
            <a:r>
              <a:rPr dirty="0" err="1"/>
              <a:t>流式响应</a:t>
            </a:r>
            <a:r>
              <a:rPr dirty="0"/>
              <a:t>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消息版本管理</a:t>
            </a:r>
            <a:r>
              <a:rPr dirty="0"/>
              <a:t> (</a:t>
            </a:r>
            <a:r>
              <a:rPr dirty="0" err="1"/>
              <a:t>重新生成</a:t>
            </a:r>
            <a:r>
              <a:rPr dirty="0"/>
              <a:t>/</a:t>
            </a:r>
            <a:r>
              <a:rPr dirty="0" err="1"/>
              <a:t>版本切换</a:t>
            </a:r>
            <a:r>
              <a:rPr dirty="0"/>
              <a:t>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文件附件上传</a:t>
            </a:r>
            <a:r>
              <a:rPr dirty="0"/>
              <a:t> (multipart/form-data)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三级记忆系统</a:t>
            </a:r>
            <a:r>
              <a:rPr dirty="0"/>
              <a:t> (</a:t>
            </a:r>
            <a:r>
              <a:rPr dirty="0" err="1"/>
              <a:t>全局</a:t>
            </a:r>
            <a:r>
              <a:rPr dirty="0"/>
              <a:t>/</a:t>
            </a:r>
            <a:r>
              <a:rPr dirty="0" err="1"/>
              <a:t>项目</a:t>
            </a:r>
            <a:r>
              <a:rPr dirty="0"/>
              <a:t>/</a:t>
            </a:r>
            <a:r>
              <a:rPr dirty="0" err="1"/>
              <a:t>会话</a:t>
            </a:r>
            <a:r>
              <a:rPr dirty="0"/>
              <a:t>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自动记忆提取</a:t>
            </a:r>
            <a:r>
              <a:rPr dirty="0"/>
              <a:t> + </a:t>
            </a:r>
            <a:r>
              <a:rPr dirty="0" err="1"/>
              <a:t>候选审核</a:t>
            </a:r>
            <a:endParaRPr dirty="0"/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语义向量检索</a:t>
            </a:r>
            <a:r>
              <a:rPr dirty="0"/>
              <a:t> (</a:t>
            </a:r>
            <a:r>
              <a:rPr dirty="0" err="1"/>
              <a:t>pgvector</a:t>
            </a:r>
            <a:r>
              <a:rPr dirty="0"/>
              <a:t>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记忆文档聚合</a:t>
            </a:r>
            <a:r>
              <a:rPr dirty="0"/>
              <a:t> + </a:t>
            </a:r>
            <a:r>
              <a:rPr dirty="0" err="1"/>
              <a:t>对话记忆压缩</a:t>
            </a:r>
            <a:endParaRPr dirty="0"/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版本追踪</a:t>
            </a:r>
            <a:r>
              <a:rPr dirty="0"/>
              <a:t> + </a:t>
            </a:r>
            <a:r>
              <a:rPr dirty="0" err="1"/>
              <a:t>审计合规日志</a:t>
            </a:r>
            <a:endParaRPr dirty="0"/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V1 </a:t>
            </a:r>
            <a:r>
              <a:rPr dirty="0" err="1"/>
              <a:t>开发者</a:t>
            </a:r>
            <a:r>
              <a:rPr dirty="0"/>
              <a:t> API (</a:t>
            </a:r>
            <a:r>
              <a:rPr dirty="0" err="1"/>
              <a:t>流式</a:t>
            </a:r>
            <a:r>
              <a:rPr dirty="0"/>
              <a:t>/</a:t>
            </a:r>
            <a:r>
              <a:rPr dirty="0" err="1"/>
              <a:t>非流式双模式</a:t>
            </a:r>
            <a:r>
              <a:rPr dirty="0"/>
              <a:t>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API Explorer </a:t>
            </a:r>
            <a:r>
              <a:rPr dirty="0" err="1"/>
              <a:t>内置调试工具</a:t>
            </a:r>
            <a:endParaRPr dirty="0"/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项目管理</a:t>
            </a:r>
            <a:r>
              <a:rPr dirty="0"/>
              <a:t> + </a:t>
            </a:r>
            <a:r>
              <a:rPr dirty="0" err="1"/>
              <a:t>对话组织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6400800" y="2834640"/>
            <a:ext cx="502920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9718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技术亮点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记忆优先架构设计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Human-in-the-loop 候选审核机制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语义向量 + 时间排序双模式检索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全链路优雅降级 (pgvector → SQLite)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SSE 流式 + 后台异步处理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完整的版本追踪和审计合规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OpenAI 兼容接口抽象, 多模型即插即用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前后端分离, 单仓库管理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RESTful API + V1 开发者友好接口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内置 API Explorer 调试工具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09  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记忆系统增强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记忆关联图谱 (知识图谱)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记忆时效性自动过期机制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跨用户记忆共享 (团队场景)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记忆质量评分与自动清洗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38328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多模态 &amp; 交互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图片/语音消息支持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实时协作编辑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移动端响应式优化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PWA 离线能力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20040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7C4DFF"/>
                </a:solidFill>
                <a:latin typeface="Microsoft YaHei"/>
              </a:defRPr>
            </a:pPr>
            <a:r>
              <a:t>工程化提升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WebSocket 双向通信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Redis 缓存层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Docker 容器化部署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CI/CD 自动化流水线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A500"/>
                </a:solidFill>
                <a:latin typeface="Microsoft YaHei"/>
              </a:defRPr>
            </a:pPr>
            <a:r>
              <a:t>平台化演进方向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插件系统: 支持第三方工具集成 (搜索引擎、代码仓库、文档系统)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RAG 增强: 企业知识库问答 (与记忆系统互补)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Agent 能力: 多步骤任务编排、工具调用链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多租户: 组织级权限管理、角色体系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37744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LLM + 永久记忆聊天系统  —  CHAT A.I+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1292</Words>
  <Application>Microsoft Office PowerPoint</Application>
  <PresentationFormat>宽屏</PresentationFormat>
  <Paragraphs>270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瑾瑜 赵</cp:lastModifiedBy>
  <cp:revision>2</cp:revision>
  <dcterms:created xsi:type="dcterms:W3CDTF">2013-01-27T09:14:16Z</dcterms:created>
  <dcterms:modified xsi:type="dcterms:W3CDTF">2026-05-23T11:47:39Z</dcterms:modified>
  <cp:category/>
</cp:coreProperties>
</file>